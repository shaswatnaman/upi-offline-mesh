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s" id="{08c924c8-51d0-3f0a-c7f5-2da50f69c8ee}">
          <p14:sldIdLst>
            <p14:sldId id="257"/>
            <p14:sldId id="258"/>
            <p14:sldId id="259"/>
            <p14:sldId id="260"/>
            <p14:sldId id="261"/>
            <p14:sldId id="262"/>
          </p14:sldIdLst>
        </p14:section>
        <p14:section name="Mechanisms" id="{858fce48-a29a-ca30-5301-9fd1ae14a2d6}">
          <p14:sldIdLst>
            <p14:sldId id="263"/>
            <p14:sldId id="264"/>
            <p14:sldId id="265"/>
            <p14:sldId id="266"/>
            <p14:sldId id="267"/>
            <p14:sldId id="268"/>
            <p14:sldId id="269"/>
            <p14:sldId id="270"/>
            <p14:sldId id="271"/>
          </p14:sldIdLst>
        </p14:section>
        <p14:section name="Java concepts" id="{6cbf16fa-cb03-bd4c-44fa-8fc77147e09c}">
          <p14:sldIdLst>
            <p14:sldId id="272"/>
            <p14:sldId id="273"/>
            <p14:sldId id="274"/>
            <p14:sldId id="275"/>
            <p14:sldId id="276"/>
            <p14:sldId id="277"/>
            <p14:sldId id="278"/>
            <p14:sldId id="279"/>
            <p14:sldId id="280"/>
            <p14:sldId id="281"/>
          </p14:sldIdLst>
        </p14:section>
        <p14:section name="Wrap-up" id="{51215368-9083-8694-45aa-89ab04767a78}">
          <p14:sldIdLst>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project lets someone pay through UPI even when they have no internet. The payment hops between nearby phones until one phone gets internet and delivers it. I will first explain the problems in simple terms, then how we solved each one, then the Java concepts we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Imagine you are in a basement with no network, and you still want to send your friend 500 rupees. Our phone locks the payment and hands it to nearby phones. They pass it along. When any one phone reaches the internet, it delivers the payment to our server, and the server settles it once. Server side is what this project builds. The mesh of phones is simulated in software so we can demo it on one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in this project comes from four simple questions. How does a payment travel without internet? How do we stop strangers from peeking or changing it? What if the same payment arrives many times? And how do we make sure the money moves correctly, exactly once? The rest of the talk is our answer to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First principle: a payment needs to reach the bank server, but there is no internet. So we need another way to carry it. Our idea is to use the phones around us as couriers. We call it gossip or flooding, because each phone tells every other phone it meets.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Once strangers carry our payment, privacy and honesty become a problem. So we lock the payment before it leaves Alice's phone. Only our server has the key. If anyone changes even one letter, the lock refuses to open and the packet is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Because gossip copies the packet to everyone, duplicates are not an accident, they are guaranteed. So the server must be safe against duplicates. We take a fingerprint of the sealed packet and let only the first copy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Finally the money itself. Settlement must be all or nothing. We also reject packets that are too old, so a captured packet cannot be replayed next month, and we keep a version number on each account so two updates cannot silently overwrite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table is the summary of the project. Each problem has one mechanism, and each mechanism lives in a specific class you can point to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Cryptography just means scrambling information so only the right person can read it. We use two kinds of locks. A padlock anyone can close, which is the public key, and a master key kept only by our server. Because the padlock is slow, we use it only to protect a small secret key, and a fast lock for the actual message. That mix is called hybrid encryption.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Alice's phone, simulated by DemoService, builds the payment: who, whom, amount, a hashed PIN, a random one-time number called a nonce, and the time. It makes a brand new secret key just for this packet, locks the message with it, then locks that secret key with the server's public key. The packet carries three parts side by side. On the server, the reverse happens. If one character changes, the final check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do not know which phone will reach internet first, so we tell everyone. Alice gives the packet to every phone near her. Each of those gives it to every phone near them, and so on. Each copy carries a counter called TTL, time to live. It goes down by one at every hop, and at zero the copy stops being passed on. That stops it spreading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the project there are five simulated phones. Only phone-bridge has internet. The gossipOnce method first takes a snapshot of what each phone holds, then every phone gives every packet to every phone that does not yet have it, with the counter reduced by one. VirtualDevice remembers packets by their id, so a phone never holds the same packet twice. Real Bluetooth is not implemented; this is a software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Idempotency is a big word for a simple idea. Doing the same thing twice gives the same result as doing it once. Pressing a lift button five times still brings the lift once. If you click Pay twice by mistake, you should be charged once. In our project the same payment reaches the server through several phones, so we need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bridge phones hold the same packet and upload at the same moment. The server takes a fingerprint of the sealed packet, a SHA-256 hash. Then it tries to put that fingerprint in a list using putIfAbsent, which is one single step that cannot be interrupted. Only one caller gets a yes. The others are told duplicate dropped. We hash the sealed packet and not the packet id, because strangers can rewrite the id but cannot forge the sealed contents. Our test starts three threads together and proves only one payment is settled.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each feature, the pattern is the same: what it is, why we needed it, what benefit it gives, and where in the code you can find it. Point to the class name when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each feature, the pattern is the same: what it is, why we needed it, what benefit it gives, and where in the code you can find it. Point to the class name when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class is a blueprint and an object is a real thing made from it. For example Account is the blueprint, and alice@demo with 5000 rupees is one object. Our project has model classes that hold data, and service classes that do the work, each with one clear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Encapsulation means keeping data private and giving only safe doors to use it. Abstraction means hiding the hard part behind a simple call. In our project the controller never does cryptography itself; it just asks the service. And repositories hide all the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domain classes are flat and mostly combine objects. But we do use inheritance: the three servlets extend HttpServlet and override doGet or doPost, and the repositories extend JpaRepository so they inherit save, find and delete. Polymorphism: Tomcat calls doGet through the HttpServlet type and our version runs, and a Map variable holds a ConcurrentHashMap.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code now does real file handling with java.nio. LedgerFileService exports the ledger to a CSV file. It writes to a temporary file first and then renames it, so nobody ever sees a half-written file. It quotes commas, blocks spreadsheet formula tricks, and refuses file names like ../pom.xml. AuditLogService appends one line for every packet the server receives. Many threads write at once, so a lock keeps the lines apart, and the log rotates after 5 MB. If writing fails we log it and carry on, because an audit problem must never stop a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exception is Java's way of saying something unexpected happened. If we ignore it the program stops. We wrap the risky steps in try and catch. For example, if the packet was tampered, decrypt throws an error, we catch it, and return INVALID with the reason decryption_failed. We also have a global handler as a safety net, so users never see a raw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collection is a container for many items. A Map is like a phone book: you look something up by its key. Our most important one is ConcurrentHashMap, which is a Map that is safe when many threads use it at the same time. We use it for the fingerprint list, for the packets each phone holds, and for the set of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Instead of one person doing five jobs one after another, five people do them at the same time. Each person is a thread. In our project this matters because several bridge phones upload together. That is exactly why idempotency must be thread safe. We use ConcurrentHashMap and putIfAbsent for safety, and the test starts three threads together to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JDBC is the standard bridge between Java and a database. We use it in two ways. Settlement writes go through Spring Data JPA, which uses JDBC underneath. And we also wrote our own JDBC class, LedgerJdbcDao, for reports and exports. It follows the classic steps: get a Connection from the DataSource, prepare a statement, run it, read the ResultSet, and close everything with try-with-resources. We always use question-mark parameters, so SQL injection cannot get in. SQLException is wrapped in our own unchecked exception. Because it only reads the tables Hibernate created, the same class works on H2 and on 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need a database because balances and the ledger must be stored safely. By default we use H2 in memory because it needs no installation, so the demo runs with one command; the data disappears when the server stops. For permanent storage we added a MySQL profile. docker compose starts MySQL, and you run Spring Boot with the mysql profile. Spring then uses the MySQL driver and a connection pool, and the tables are kept between restarts. Same code, different configuration. There are two tables: accounts has a version column for optimistic locking, and transactions has a unique packet hash. Note that the idempotency cache is still in memory, so after a restart the unique hash in the database is the safety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servlet is a Java class that receives a web request and writes a response. We now write our own. HealthServlet, LedgerExportServlet and AuditLogServlet all extend HttpServlet and override doGet or doPost. A Filter, RequestLogFilter, runs around them and adds a request ID header and logs the time taken. They are registered in ServletConfig under /servlet/*. The older API endpoints under /api still use Spring controllers, and behind them Spring's own DispatcherServlet does the routing. So both styles run on the same Tomcat server. Example: GET /servlet/export streams the ledger as a CSV download straight from JDBC.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this top to bottom. On the left is the offline world: phones gossip. The bridge phone or the dashboard sends a request. The controller receives it. The ingestion service runs the pipeline and uses three helpers: idempotency, cryptography, and settlement. Settlement talks to the database through repositories. Multithreading happens at the edge: many requests at once. Finally a response goes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Let me walk through Alice paying Bob 500 rupees. Alice's phone locks it. Phones gossip. The bridge uploads. The controller receives it. The server takes the fingerprint and checks it is new. It unlocks the packet and checks the time. Then the transaction moves the money and writes the ledger row, all as one unit. The answer SETTLED goes back. If a second copy arrives, step 5 drops it. If it was tampered, step 6 rejects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outcomes in simple terms: all four problems are solved, the system is secure, reliable, backed by H2 or MySQL with JDBC, handles concurrency, writes CSV exports and an audit log, serves them through servlets, and is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Examiners like honesty. The packet is locked but we do not yet prove who sent it, because the server's public key is public. An offline payment is only an IOU until the server settles it. The mesh is simulated, the database and keys vanish on restart, and the fingerprint list lives in one server's memory. These are our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one line: MeshPay lets a payment travel through strangers without internet, and still settle safely exactly once. Each problem has one simple mechanism, and Java, Spring and a database make them 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28232"/>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MeshPay: offline UPI payments, explained simply</a:t>
            </a:r>
            <a:endParaRPr lang="en-US" sz="10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TL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28232"/>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MeshPay: offline UPI payments, explained simply</a:t>
            </a:r>
            <a:endParaRPr lang="en-US" sz="1000" dirty="0"/>
          </a:p>
        </p:txBody>
      </p:sp>
      <p:sp>
        <p:nvSpPr>
          <p:cNvPr id="3" name="Text 1"/>
          <p:cNvSpPr/>
          <p:nvPr>
            <p:ph idx="101" type="title" hasCustomPrompt="1"/>
          </p:nvPr>
        </p:nvSpPr>
        <p:spPr>
          <a:xfrm>
            <a:off x="457200" y="274320"/>
            <a:ext cx="1124712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B3C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7589520" cy="128016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5.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3.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731520" y="1463040"/>
            <a:ext cx="7589520" cy="1280160"/>
          </a:xfrm>
          <a:prstGeom prst="rect">
            <a:avLst/>
          </a:prstGeom>
          <a:noFill/>
          <a:ln/>
        </p:spPr>
        <p:txBody>
          <a:bodyPr wrap="square" lIns="0" tIns="0" rIns="0" bIns="0" rtlCol="0" anchor="ctr"/>
          <a:lstStyle/>
          <a:p>
            <a:pPr algn="l" indent="0" marL="0">
              <a:buNone/>
            </a:pPr>
            <a:r>
              <a:rPr lang="en-US" sz="6600" b="1" dirty="0">
                <a:solidFill>
                  <a:schemeClr val="bg1"/>
                </a:solidFill>
              </a:rPr>
              <a:t>MeshPay</a:t>
            </a:r>
            <a:endParaRPr lang="en-US" sz="6600" dirty="0"/>
          </a:p>
        </p:txBody>
      </p:sp>
      <p:sp>
        <p:nvSpPr>
          <p:cNvPr id="4" name="Text 1"/>
          <p:cNvSpPr txBox="1"/>
          <p:nvPr/>
        </p:nvSpPr>
        <p:spPr>
          <a:xfrm>
            <a:off x="731520" y="2926080"/>
            <a:ext cx="7680960" cy="548640"/>
          </a:xfrm>
          <a:prstGeom prst="rect">
            <a:avLst/>
          </a:prstGeom>
          <a:noFill/>
          <a:ln/>
        </p:spPr>
        <p:txBody>
          <a:bodyPr wrap="square" lIns="0" tIns="0" rIns="0" bIns="0" rtlCol="0" anchor="t"/>
          <a:lstStyle/>
          <a:p>
            <a:pPr algn="l" indent="0" marL="0">
              <a:buNone/>
            </a:pPr>
            <a:r>
              <a:rPr lang="en-US" sz="2800" dirty="0">
                <a:solidFill>
                  <a:schemeClr val="bg2"/>
                </a:solidFill>
                <a:latin typeface="Cambria" pitchFamily="34" charset="0"/>
                <a:ea typeface="Cambria" pitchFamily="34" charset="-122"/>
                <a:cs typeface="Cambria" pitchFamily="34" charset="-120"/>
              </a:rPr>
              <a:t>Paying through UPI when there is no internet</a:t>
            </a:r>
            <a:endParaRPr lang="en-US" sz="2800" dirty="0"/>
          </a:p>
        </p:txBody>
      </p:sp>
      <p:sp>
        <p:nvSpPr>
          <p:cNvPr id="5" name="Text 2"/>
          <p:cNvSpPr txBox="1"/>
          <p:nvPr/>
        </p:nvSpPr>
        <p:spPr>
          <a:xfrm>
            <a:off x="731520" y="3611880"/>
            <a:ext cx="7680960" cy="411480"/>
          </a:xfrm>
          <a:prstGeom prst="rect">
            <a:avLst/>
          </a:prstGeom>
          <a:noFill/>
          <a:ln/>
        </p:spPr>
        <p:txBody>
          <a:bodyPr wrap="square" lIns="0" tIns="0" rIns="0" bIns="0"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The problems, our ideas, and how we built them, in simple words</a:t>
            </a:r>
            <a:endParaRPr lang="en-US" sz="1800" dirty="0"/>
          </a:p>
        </p:txBody>
      </p:sp>
      <p:sp>
        <p:nvSpPr>
          <p:cNvPr id="6" name="chip Java 17"/>
          <p:cNvSpPr/>
          <p:nvPr/>
        </p:nvSpPr>
        <p:spPr>
          <a:xfrm>
            <a:off x="731520" y="4754880"/>
            <a:ext cx="1371600" cy="365760"/>
          </a:xfrm>
          <a:prstGeom prst="roundRect">
            <a:avLst>
              <a:gd name="adj" fmla="val 50000"/>
            </a:avLst>
          </a:prstGeom>
          <a:solidFill>
            <a:schemeClr val="accent1"/>
          </a:solidFill>
          <a:ln/>
        </p:spPr>
      </p:sp>
      <p:sp>
        <p:nvSpPr>
          <p:cNvPr id="7" name="Text 4"/>
          <p:cNvSpPr txBox="1"/>
          <p:nvPr/>
        </p:nvSpPr>
        <p:spPr>
          <a:xfrm>
            <a:off x="731520" y="4754880"/>
            <a:ext cx="137160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Java 17</a:t>
            </a:r>
            <a:endParaRPr lang="en-US" sz="1400" dirty="0"/>
          </a:p>
        </p:txBody>
      </p:sp>
      <p:sp>
        <p:nvSpPr>
          <p:cNvPr id="8" name="chip Spring Boot 3.5"/>
          <p:cNvSpPr/>
          <p:nvPr/>
        </p:nvSpPr>
        <p:spPr>
          <a:xfrm>
            <a:off x="2286000" y="4754880"/>
            <a:ext cx="2011680" cy="365760"/>
          </a:xfrm>
          <a:prstGeom prst="roundRect">
            <a:avLst>
              <a:gd name="adj" fmla="val 50000"/>
            </a:avLst>
          </a:prstGeom>
          <a:solidFill>
            <a:schemeClr val="accent1"/>
          </a:solidFill>
          <a:ln/>
        </p:spPr>
      </p:sp>
      <p:sp>
        <p:nvSpPr>
          <p:cNvPr id="9" name="Text 6"/>
          <p:cNvSpPr txBox="1"/>
          <p:nvPr/>
        </p:nvSpPr>
        <p:spPr>
          <a:xfrm>
            <a:off x="2286000" y="4754880"/>
            <a:ext cx="201168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Spring Boot 3.5</a:t>
            </a:r>
            <a:endParaRPr lang="en-US" sz="1400" dirty="0"/>
          </a:p>
        </p:txBody>
      </p:sp>
      <p:sp>
        <p:nvSpPr>
          <p:cNvPr id="10" name="chip H2 / MySQL"/>
          <p:cNvSpPr/>
          <p:nvPr/>
        </p:nvSpPr>
        <p:spPr>
          <a:xfrm>
            <a:off x="4480560" y="4754880"/>
            <a:ext cx="1737360" cy="365760"/>
          </a:xfrm>
          <a:prstGeom prst="roundRect">
            <a:avLst>
              <a:gd name="adj" fmla="val 50000"/>
            </a:avLst>
          </a:prstGeom>
          <a:solidFill>
            <a:schemeClr val="accent1"/>
          </a:solidFill>
          <a:ln/>
        </p:spPr>
      </p:sp>
      <p:sp>
        <p:nvSpPr>
          <p:cNvPr id="11" name="Text 8"/>
          <p:cNvSpPr txBox="1"/>
          <p:nvPr/>
        </p:nvSpPr>
        <p:spPr>
          <a:xfrm>
            <a:off x="4480560" y="4754880"/>
            <a:ext cx="17373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H2 / MySQL</a:t>
            </a:r>
            <a:endParaRPr lang="en-US" sz="1400" dirty="0"/>
          </a:p>
        </p:txBody>
      </p:sp>
      <p:sp>
        <p:nvSpPr>
          <p:cNvPr id="12" name="chip Next.js dashboard"/>
          <p:cNvSpPr/>
          <p:nvPr/>
        </p:nvSpPr>
        <p:spPr>
          <a:xfrm>
            <a:off x="6400800" y="4754880"/>
            <a:ext cx="2194560" cy="365760"/>
          </a:xfrm>
          <a:prstGeom prst="roundRect">
            <a:avLst>
              <a:gd name="adj" fmla="val 50000"/>
            </a:avLst>
          </a:prstGeom>
          <a:solidFill>
            <a:schemeClr val="accent1"/>
          </a:solidFill>
          <a:ln/>
        </p:spPr>
      </p:sp>
      <p:sp>
        <p:nvSpPr>
          <p:cNvPr id="13" name="Text 10"/>
          <p:cNvSpPr txBox="1"/>
          <p:nvPr/>
        </p:nvSpPr>
        <p:spPr>
          <a:xfrm>
            <a:off x="6400800" y="4754880"/>
            <a:ext cx="219456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Next.js dashboard</a:t>
            </a:r>
            <a:endParaRPr lang="en-US" sz="1400" dirty="0"/>
          </a:p>
        </p:txBody>
      </p:sp>
      <p:sp>
        <p:nvSpPr>
          <p:cNvPr id="14" name="Shape 11"/>
          <p:cNvSpPr/>
          <p:nvPr/>
        </p:nvSpPr>
        <p:spPr>
          <a:xfrm>
            <a:off x="8961120" y="0"/>
            <a:ext cx="0" cy="0"/>
          </a:xfrm>
          <a:prstGeom prst="line">
            <a:avLst/>
          </a:prstGeom>
          <a:noFill/>
          <a:ln w="12700">
            <a:solidFill>
              <a:schemeClr val="accent2"/>
            </a:solidFill>
            <a:prstDash val="solid"/>
          </a:ln>
        </p:spPr>
      </p:sp>
      <p:sp>
        <p:nvSpPr>
          <p:cNvPr id="15" name="Shape 12"/>
          <p:cNvSpPr/>
          <p:nvPr/>
        </p:nvSpPr>
        <p:spPr>
          <a:xfrm>
            <a:off x="9875520" y="0"/>
            <a:ext cx="0" cy="0"/>
          </a:xfrm>
          <a:prstGeom prst="line">
            <a:avLst/>
          </a:prstGeom>
          <a:noFill/>
          <a:ln w="12700">
            <a:solidFill>
              <a:schemeClr val="accent2"/>
            </a:solidFill>
            <a:prstDash val="solid"/>
          </a:ln>
        </p:spPr>
      </p:sp>
      <p:sp>
        <p:nvSpPr>
          <p:cNvPr id="16" name="Shape 13"/>
          <p:cNvSpPr/>
          <p:nvPr/>
        </p:nvSpPr>
        <p:spPr>
          <a:xfrm>
            <a:off x="10789920" y="0"/>
            <a:ext cx="0" cy="0"/>
          </a:xfrm>
          <a:prstGeom prst="line">
            <a:avLst/>
          </a:prstGeom>
          <a:noFill/>
          <a:ln w="12700">
            <a:solidFill>
              <a:schemeClr val="accent2"/>
            </a:solidFill>
            <a:prstDash val="solid"/>
          </a:ln>
        </p:spPr>
      </p:sp>
      <p:sp>
        <p:nvSpPr>
          <p:cNvPr id="17" name="Shape 14"/>
          <p:cNvSpPr/>
          <p:nvPr/>
        </p:nvSpPr>
        <p:spPr>
          <a:xfrm>
            <a:off x="0" y="0"/>
            <a:ext cx="0" cy="0"/>
          </a:xfrm>
          <a:prstGeom prst="line">
            <a:avLst/>
          </a:prstGeom>
          <a:noFill/>
          <a:ln w="12700">
            <a:solidFill>
              <a:schemeClr val="accent2"/>
            </a:solidFill>
            <a:prstDash val="solid"/>
          </a:ln>
        </p:spPr>
      </p:sp>
      <p:sp>
        <p:nvSpPr>
          <p:cNvPr id="18" name="mesh link"/>
          <p:cNvSpPr/>
          <p:nvPr/>
        </p:nvSpPr>
        <p:spPr>
          <a:xfrm>
            <a:off x="9418320" y="1737360"/>
            <a:ext cx="1097280" cy="1005840"/>
          </a:xfrm>
          <a:prstGeom prst="line">
            <a:avLst/>
          </a:prstGeom>
          <a:noFill/>
          <a:ln w="31750">
            <a:solidFill>
              <a:schemeClr val="accent2"/>
            </a:solidFill>
            <a:prstDash val="dash"/>
          </a:ln>
        </p:spPr>
      </p:sp>
      <p:sp>
        <p:nvSpPr>
          <p:cNvPr id="19" name="mesh link"/>
          <p:cNvSpPr/>
          <p:nvPr/>
        </p:nvSpPr>
        <p:spPr>
          <a:xfrm flipH="1">
            <a:off x="9692640" y="2743200"/>
            <a:ext cx="822960" cy="1097280"/>
          </a:xfrm>
          <a:prstGeom prst="line">
            <a:avLst/>
          </a:prstGeom>
          <a:noFill/>
          <a:ln w="31750">
            <a:solidFill>
              <a:schemeClr val="accent2"/>
            </a:solidFill>
            <a:prstDash val="dash"/>
          </a:ln>
        </p:spPr>
      </p:sp>
      <p:sp>
        <p:nvSpPr>
          <p:cNvPr id="20" name="mesh link"/>
          <p:cNvSpPr/>
          <p:nvPr/>
        </p:nvSpPr>
        <p:spPr>
          <a:xfrm>
            <a:off x="9692640" y="3840480"/>
            <a:ext cx="1188720" cy="1005840"/>
          </a:xfrm>
          <a:prstGeom prst="line">
            <a:avLst/>
          </a:prstGeom>
          <a:noFill/>
          <a:ln w="31750">
            <a:solidFill>
              <a:schemeClr val="accent2"/>
            </a:solidFill>
            <a:prstDash val="dash"/>
          </a:ln>
        </p:spPr>
      </p:sp>
      <p:sp>
        <p:nvSpPr>
          <p:cNvPr id="21" name="phone node circle"/>
          <p:cNvSpPr/>
          <p:nvPr/>
        </p:nvSpPr>
        <p:spPr>
          <a:xfrm>
            <a:off x="9144000" y="1463040"/>
            <a:ext cx="731520" cy="731520"/>
          </a:xfrm>
          <a:prstGeom prst="ellipse">
            <a:avLst/>
          </a:prstGeom>
          <a:solidFill>
            <a:schemeClr val="accent1"/>
          </a:solidFill>
          <a:ln/>
        </p:spPr>
      </p:sp>
      <p:pic>
        <p:nvPicPr>
          <p:cNvPr id="22" name="Image 0" descr="phone node">    </p:cNvPr>
          <p:cNvPicPr>
            <a:picLocks noChangeAspect="1"/>
          </p:cNvPicPr>
          <p:nvPr/>
        </p:nvPicPr>
        <p:blipFill>
          <a:blip r:embed="rId1"/>
          <a:stretch>
            <a:fillRect/>
          </a:stretch>
        </p:blipFill>
        <p:spPr>
          <a:xfrm>
            <a:off x="9304934" y="1623974"/>
            <a:ext cx="409651" cy="409651"/>
          </a:xfrm>
          <a:prstGeom prst="rect">
            <a:avLst/>
          </a:prstGeom>
        </p:spPr>
      </p:pic>
      <p:sp>
        <p:nvSpPr>
          <p:cNvPr id="23" name="phone node circle"/>
          <p:cNvSpPr/>
          <p:nvPr/>
        </p:nvSpPr>
        <p:spPr>
          <a:xfrm>
            <a:off x="10241280" y="2468880"/>
            <a:ext cx="731520" cy="731520"/>
          </a:xfrm>
          <a:prstGeom prst="ellipse">
            <a:avLst/>
          </a:prstGeom>
          <a:solidFill>
            <a:schemeClr val="accent1"/>
          </a:solidFill>
          <a:ln/>
        </p:spPr>
      </p:sp>
      <p:pic>
        <p:nvPicPr>
          <p:cNvPr id="24" name="Image 1" descr="phone node">    </p:cNvPr>
          <p:cNvPicPr>
            <a:picLocks noChangeAspect="1"/>
          </p:cNvPicPr>
          <p:nvPr/>
        </p:nvPicPr>
        <p:blipFill>
          <a:blip r:embed="rId2"/>
          <a:stretch>
            <a:fillRect/>
          </a:stretch>
        </p:blipFill>
        <p:spPr>
          <a:xfrm>
            <a:off x="10402214" y="2629814"/>
            <a:ext cx="409651" cy="409651"/>
          </a:xfrm>
          <a:prstGeom prst="rect">
            <a:avLst/>
          </a:prstGeom>
        </p:spPr>
      </p:pic>
      <p:sp>
        <p:nvSpPr>
          <p:cNvPr id="25" name="phone node circle"/>
          <p:cNvSpPr/>
          <p:nvPr/>
        </p:nvSpPr>
        <p:spPr>
          <a:xfrm>
            <a:off x="9418320" y="3566160"/>
            <a:ext cx="731520" cy="731520"/>
          </a:xfrm>
          <a:prstGeom prst="ellipse">
            <a:avLst/>
          </a:prstGeom>
          <a:solidFill>
            <a:schemeClr val="accent1"/>
          </a:solidFill>
          <a:ln/>
        </p:spPr>
      </p:sp>
      <p:pic>
        <p:nvPicPr>
          <p:cNvPr id="26" name="Image 2" descr="phone node">    </p:cNvPr>
          <p:cNvPicPr>
            <a:picLocks noChangeAspect="1"/>
          </p:cNvPicPr>
          <p:nvPr/>
        </p:nvPicPr>
        <p:blipFill>
          <a:blip r:embed="rId3"/>
          <a:stretch>
            <a:fillRect/>
          </a:stretch>
        </p:blipFill>
        <p:spPr>
          <a:xfrm>
            <a:off x="9579254" y="3727094"/>
            <a:ext cx="409651" cy="409651"/>
          </a:xfrm>
          <a:prstGeom prst="rect">
            <a:avLst/>
          </a:prstGeom>
        </p:spPr>
      </p:pic>
      <p:sp>
        <p:nvSpPr>
          <p:cNvPr id="27" name="phone node circle"/>
          <p:cNvSpPr/>
          <p:nvPr/>
        </p:nvSpPr>
        <p:spPr>
          <a:xfrm>
            <a:off x="10607040" y="4572000"/>
            <a:ext cx="731520" cy="731520"/>
          </a:xfrm>
          <a:prstGeom prst="ellipse">
            <a:avLst/>
          </a:prstGeom>
          <a:solidFill>
            <a:schemeClr val="accent2"/>
          </a:solidFill>
          <a:ln/>
        </p:spPr>
      </p:sp>
      <p:pic>
        <p:nvPicPr>
          <p:cNvPr id="28" name="Image 3" descr="phone node">    </p:cNvPr>
          <p:cNvPicPr>
            <a:picLocks noChangeAspect="1"/>
          </p:cNvPicPr>
          <p:nvPr/>
        </p:nvPicPr>
        <p:blipFill>
          <a:blip r:embed="rId4"/>
          <a:stretch>
            <a:fillRect/>
          </a:stretch>
        </p:blipFill>
        <p:spPr>
          <a:xfrm>
            <a:off x="10767974" y="4732934"/>
            <a:ext cx="409651" cy="409651"/>
          </a:xfrm>
          <a:prstGeom prst="rect">
            <a:avLst/>
          </a:prstGeom>
        </p:spPr>
      </p:pic>
      <p:sp>
        <p:nvSpPr>
          <p:cNvPr id="29" name="Text 22"/>
          <p:cNvSpPr txBox="1"/>
          <p:nvPr/>
        </p:nvSpPr>
        <p:spPr>
          <a:xfrm>
            <a:off x="8869680" y="2240280"/>
            <a:ext cx="914400" cy="274320"/>
          </a:xfrm>
          <a:prstGeom prst="rect">
            <a:avLst/>
          </a:prstGeom>
          <a:noFill/>
          <a:ln/>
        </p:spPr>
        <p:txBody>
          <a:bodyPr wrap="square" lIns="0" tIns="0" rIns="0" bIns="0" rtlCol="0" anchor="t"/>
          <a:lstStyle/>
          <a:p>
            <a:pPr algn="ctr" indent="0" marL="0">
              <a:buNone/>
            </a:pPr>
            <a:r>
              <a:rPr lang="en-US" sz="1300" dirty="0">
                <a:solidFill>
                  <a:schemeClr val="bg2"/>
                </a:solidFill>
                <a:latin typeface="Calibri" pitchFamily="34" charset="0"/>
                <a:ea typeface="Calibri" pitchFamily="34" charset="-122"/>
                <a:cs typeface="Calibri" pitchFamily="34" charset="-120"/>
              </a:rPr>
              <a:t>Alice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What is MeshPay?</a:t>
            </a:r>
            <a:endParaRPr lang="en-US" sz="3400" dirty="0"/>
          </a:p>
        </p:txBody>
      </p:sp>
      <p:sp>
        <p:nvSpPr>
          <p:cNvPr id="4" name="step circle"/>
          <p:cNvSpPr/>
          <p:nvPr/>
        </p:nvSpPr>
        <p:spPr>
          <a:xfrm>
            <a:off x="457200" y="1417320"/>
            <a:ext cx="457200" cy="457200"/>
          </a:xfrm>
          <a:prstGeom prst="ellipse">
            <a:avLst/>
          </a:prstGeom>
          <a:solidFill>
            <a:schemeClr val="accent1"/>
          </a:solidFill>
          <a:ln/>
        </p:spPr>
      </p:sp>
      <p:sp>
        <p:nvSpPr>
          <p:cNvPr id="5" name="Text 2"/>
          <p:cNvSpPr txBox="1"/>
          <p:nvPr/>
        </p:nvSpPr>
        <p:spPr>
          <a:xfrm>
            <a:off x="4572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3"/>
          <p:cNvSpPr txBox="1"/>
          <p:nvPr/>
        </p:nvSpPr>
        <p:spPr>
          <a:xfrm>
            <a:off x="1097280" y="1371600"/>
            <a:ext cx="4206240" cy="594360"/>
          </a:xfrm>
          <a:prstGeom prst="rect">
            <a:avLst/>
          </a:prstGeom>
          <a:noFill/>
          <a:ln/>
        </p:spPr>
        <p:txBody>
          <a:bodyPr wrap="square" lIns="0" tIns="0" rIns="0" bIns="0" rtlCol="0" anchor="ctr"/>
          <a:lstStyle/>
          <a:p>
            <a:pPr algn="l" indent="0" marL="0">
              <a:buNone/>
            </a:pPr>
            <a:r>
              <a:rPr lang="en-US" sz="1700" dirty="0">
                <a:solidFill>
                  <a:schemeClr val="tx1"/>
                </a:solidFill>
                <a:latin typeface="Calibri" pitchFamily="34" charset="0"/>
                <a:ea typeface="Calibri" pitchFamily="34" charset="-122"/>
                <a:cs typeface="Calibri" pitchFamily="34" charset="-120"/>
              </a:rPr>
              <a:t>You are in a basement. No internet.</a:t>
            </a:r>
            <a:endParaRPr lang="en-US" sz="1700" dirty="0"/>
          </a:p>
        </p:txBody>
      </p:sp>
      <p:sp>
        <p:nvSpPr>
          <p:cNvPr id="7" name="step circle"/>
          <p:cNvSpPr/>
          <p:nvPr/>
        </p:nvSpPr>
        <p:spPr>
          <a:xfrm>
            <a:off x="457200" y="2167128"/>
            <a:ext cx="457200" cy="457200"/>
          </a:xfrm>
          <a:prstGeom prst="ellipse">
            <a:avLst/>
          </a:prstGeom>
          <a:solidFill>
            <a:schemeClr val="accent1"/>
          </a:solidFill>
          <a:ln/>
        </p:spPr>
      </p:sp>
      <p:sp>
        <p:nvSpPr>
          <p:cNvPr id="8" name="Text 5"/>
          <p:cNvSpPr txBox="1"/>
          <p:nvPr/>
        </p:nvSpPr>
        <p:spPr>
          <a:xfrm>
            <a:off x="457200" y="21671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9" name="Text 6"/>
          <p:cNvSpPr txBox="1"/>
          <p:nvPr/>
        </p:nvSpPr>
        <p:spPr>
          <a:xfrm>
            <a:off x="1097280" y="2121408"/>
            <a:ext cx="4206240" cy="594360"/>
          </a:xfrm>
          <a:prstGeom prst="rect">
            <a:avLst/>
          </a:prstGeom>
          <a:noFill/>
          <a:ln/>
        </p:spPr>
        <p:txBody>
          <a:bodyPr wrap="square" lIns="0" tIns="0" rIns="0" bIns="0" rtlCol="0" anchor="ctr"/>
          <a:lstStyle/>
          <a:p>
            <a:pPr algn="l" indent="0" marL="0">
              <a:buNone/>
            </a:pPr>
            <a:r>
              <a:rPr lang="en-US" sz="1700" dirty="0">
                <a:solidFill>
                  <a:schemeClr val="tx1"/>
                </a:solidFill>
                <a:latin typeface="Calibri" pitchFamily="34" charset="0"/>
                <a:ea typeface="Calibri" pitchFamily="34" charset="-122"/>
                <a:cs typeface="Calibri" pitchFamily="34" charset="-120"/>
              </a:rPr>
              <a:t>You still tap Pay ₹500 to a friend.</a:t>
            </a:r>
            <a:endParaRPr lang="en-US" sz="1700" dirty="0"/>
          </a:p>
        </p:txBody>
      </p:sp>
      <p:sp>
        <p:nvSpPr>
          <p:cNvPr id="10" name="step circle"/>
          <p:cNvSpPr/>
          <p:nvPr/>
        </p:nvSpPr>
        <p:spPr>
          <a:xfrm>
            <a:off x="457200" y="2916936"/>
            <a:ext cx="457200" cy="457200"/>
          </a:xfrm>
          <a:prstGeom prst="ellipse">
            <a:avLst/>
          </a:prstGeom>
          <a:solidFill>
            <a:schemeClr val="accent1"/>
          </a:solidFill>
          <a:ln/>
        </p:spPr>
      </p:sp>
      <p:sp>
        <p:nvSpPr>
          <p:cNvPr id="11" name="Text 8"/>
          <p:cNvSpPr txBox="1"/>
          <p:nvPr/>
        </p:nvSpPr>
        <p:spPr>
          <a:xfrm>
            <a:off x="457200" y="29169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2" name="Text 9"/>
          <p:cNvSpPr txBox="1"/>
          <p:nvPr/>
        </p:nvSpPr>
        <p:spPr>
          <a:xfrm>
            <a:off x="1097280" y="2871216"/>
            <a:ext cx="4206240" cy="594360"/>
          </a:xfrm>
          <a:prstGeom prst="rect">
            <a:avLst/>
          </a:prstGeom>
          <a:noFill/>
          <a:ln/>
        </p:spPr>
        <p:txBody>
          <a:bodyPr wrap="square" lIns="0" tIns="0" rIns="0" bIns="0" rtlCol="0" anchor="ctr"/>
          <a:lstStyle/>
          <a:p>
            <a:pPr algn="l" indent="0" marL="0">
              <a:buNone/>
            </a:pPr>
            <a:r>
              <a:rPr lang="en-US" sz="1700" dirty="0">
                <a:solidFill>
                  <a:schemeClr val="tx1"/>
                </a:solidFill>
                <a:latin typeface="Calibri" pitchFamily="34" charset="0"/>
                <a:ea typeface="Calibri" pitchFamily="34" charset="-122"/>
                <a:cs typeface="Calibri" pitchFamily="34" charset="-120"/>
              </a:rPr>
              <a:t>Your phone locks the payment and hands it to nearby phones.</a:t>
            </a:r>
            <a:endParaRPr lang="en-US" sz="1700" dirty="0"/>
          </a:p>
        </p:txBody>
      </p:sp>
      <p:sp>
        <p:nvSpPr>
          <p:cNvPr id="13" name="step circle"/>
          <p:cNvSpPr/>
          <p:nvPr/>
        </p:nvSpPr>
        <p:spPr>
          <a:xfrm>
            <a:off x="457200" y="3666744"/>
            <a:ext cx="457200" cy="457200"/>
          </a:xfrm>
          <a:prstGeom prst="ellipse">
            <a:avLst/>
          </a:prstGeom>
          <a:solidFill>
            <a:schemeClr val="accent1"/>
          </a:solidFill>
          <a:ln/>
        </p:spPr>
      </p:sp>
      <p:sp>
        <p:nvSpPr>
          <p:cNvPr id="14" name="Text 11"/>
          <p:cNvSpPr txBox="1"/>
          <p:nvPr/>
        </p:nvSpPr>
        <p:spPr>
          <a:xfrm>
            <a:off x="457200" y="36667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15" name="Text 12"/>
          <p:cNvSpPr txBox="1"/>
          <p:nvPr/>
        </p:nvSpPr>
        <p:spPr>
          <a:xfrm>
            <a:off x="1097280" y="3621024"/>
            <a:ext cx="4206240" cy="594360"/>
          </a:xfrm>
          <a:prstGeom prst="rect">
            <a:avLst/>
          </a:prstGeom>
          <a:noFill/>
          <a:ln/>
        </p:spPr>
        <p:txBody>
          <a:bodyPr wrap="square" lIns="0" tIns="0" rIns="0" bIns="0" rtlCol="0" anchor="ctr"/>
          <a:lstStyle/>
          <a:p>
            <a:pPr algn="l" indent="0" marL="0">
              <a:buNone/>
            </a:pPr>
            <a:r>
              <a:rPr lang="en-US" sz="1700" dirty="0">
                <a:solidFill>
                  <a:schemeClr val="tx1"/>
                </a:solidFill>
                <a:latin typeface="Calibri" pitchFamily="34" charset="0"/>
                <a:ea typeface="Calibri" pitchFamily="34" charset="-122"/>
                <a:cs typeface="Calibri" pitchFamily="34" charset="-120"/>
              </a:rPr>
              <a:t>One phone walks outside, gets signal, and delivers it to the server.</a:t>
            </a:r>
            <a:endParaRPr lang="en-US" sz="1700" dirty="0"/>
          </a:p>
        </p:txBody>
      </p:sp>
      <p:sp>
        <p:nvSpPr>
          <p:cNvPr id="16" name="step circle"/>
          <p:cNvSpPr/>
          <p:nvPr/>
        </p:nvSpPr>
        <p:spPr>
          <a:xfrm>
            <a:off x="457200" y="4416552"/>
            <a:ext cx="457200" cy="457200"/>
          </a:xfrm>
          <a:prstGeom prst="ellipse">
            <a:avLst/>
          </a:prstGeom>
          <a:solidFill>
            <a:schemeClr val="accent1"/>
          </a:solidFill>
          <a:ln/>
        </p:spPr>
      </p:sp>
      <p:sp>
        <p:nvSpPr>
          <p:cNvPr id="17" name="Text 14"/>
          <p:cNvSpPr txBox="1"/>
          <p:nvPr/>
        </p:nvSpPr>
        <p:spPr>
          <a:xfrm>
            <a:off x="457200" y="44165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18" name="Text 15"/>
          <p:cNvSpPr txBox="1"/>
          <p:nvPr/>
        </p:nvSpPr>
        <p:spPr>
          <a:xfrm>
            <a:off x="1097280" y="4370832"/>
            <a:ext cx="4206240" cy="594360"/>
          </a:xfrm>
          <a:prstGeom prst="rect">
            <a:avLst/>
          </a:prstGeom>
          <a:noFill/>
          <a:ln/>
        </p:spPr>
        <p:txBody>
          <a:bodyPr wrap="square" lIns="0" tIns="0" rIns="0" bIns="0" rtlCol="0" anchor="ctr"/>
          <a:lstStyle/>
          <a:p>
            <a:pPr algn="l" indent="0" marL="0">
              <a:buNone/>
            </a:pPr>
            <a:r>
              <a:rPr lang="en-US" sz="1700" dirty="0">
                <a:solidFill>
                  <a:schemeClr val="tx1"/>
                </a:solidFill>
                <a:latin typeface="Calibri" pitchFamily="34" charset="0"/>
                <a:ea typeface="Calibri" pitchFamily="34" charset="-122"/>
                <a:cs typeface="Calibri" pitchFamily="34" charset="-120"/>
              </a:rPr>
              <a:t>The server unlocks it, checks it, and moves the money once.</a:t>
            </a:r>
            <a:endParaRPr lang="en-US" sz="1700" dirty="0"/>
          </a:p>
        </p:txBody>
      </p:sp>
      <p:sp>
        <p:nvSpPr>
          <p:cNvPr id="19" name="diagram panel"/>
          <p:cNvSpPr/>
          <p:nvPr/>
        </p:nvSpPr>
        <p:spPr>
          <a:xfrm>
            <a:off x="5669280" y="1371600"/>
            <a:ext cx="6062472" cy="3657600"/>
          </a:xfrm>
          <a:prstGeom prst="roundRect">
            <a:avLst>
              <a:gd name="adj" fmla="val 3000"/>
            </a:avLst>
          </a:prstGeom>
          <a:solidFill>
            <a:schemeClr val="bg2"/>
          </a:solidFill>
          <a:ln/>
        </p:spPr>
      </p:sp>
      <p:sp>
        <p:nvSpPr>
          <p:cNvPr id="20" name="Alice phone circle"/>
          <p:cNvSpPr/>
          <p:nvPr/>
        </p:nvSpPr>
        <p:spPr>
          <a:xfrm>
            <a:off x="5897880" y="2743200"/>
            <a:ext cx="731520" cy="731520"/>
          </a:xfrm>
          <a:prstGeom prst="ellipse">
            <a:avLst/>
          </a:prstGeom>
          <a:solidFill>
            <a:schemeClr val="accent1"/>
          </a:solidFill>
          <a:ln/>
        </p:spPr>
      </p:sp>
      <p:pic>
        <p:nvPicPr>
          <p:cNvPr id="21" name="Image 0" descr="Alice phone">    </p:cNvPr>
          <p:cNvPicPr>
            <a:picLocks noChangeAspect="1"/>
          </p:cNvPicPr>
          <p:nvPr/>
        </p:nvPicPr>
        <p:blipFill>
          <a:blip r:embed="rId1"/>
          <a:stretch>
            <a:fillRect/>
          </a:stretch>
        </p:blipFill>
        <p:spPr>
          <a:xfrm>
            <a:off x="6058814" y="2904134"/>
            <a:ext cx="409651" cy="409651"/>
          </a:xfrm>
          <a:prstGeom prst="rect">
            <a:avLst/>
          </a:prstGeom>
        </p:spPr>
      </p:pic>
      <p:sp>
        <p:nvSpPr>
          <p:cNvPr id="22" name="Text 18"/>
          <p:cNvSpPr txBox="1"/>
          <p:nvPr/>
        </p:nvSpPr>
        <p:spPr>
          <a:xfrm>
            <a:off x="5760720" y="3520440"/>
            <a:ext cx="1005840" cy="54864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Alice</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(offline)</a:t>
            </a:r>
            <a:endParaRPr lang="en-US" sz="1300" dirty="0"/>
          </a:p>
        </p:txBody>
      </p:sp>
      <p:sp>
        <p:nvSpPr>
          <p:cNvPr id="23" name="strangers circle"/>
          <p:cNvSpPr/>
          <p:nvPr/>
        </p:nvSpPr>
        <p:spPr>
          <a:xfrm>
            <a:off x="7086600" y="2743200"/>
            <a:ext cx="731520" cy="731520"/>
          </a:xfrm>
          <a:prstGeom prst="ellipse">
            <a:avLst/>
          </a:prstGeom>
          <a:solidFill>
            <a:schemeClr val="accent5"/>
          </a:solidFill>
          <a:ln/>
        </p:spPr>
      </p:sp>
      <p:pic>
        <p:nvPicPr>
          <p:cNvPr id="24" name="Image 1" descr="strangers">    </p:cNvPr>
          <p:cNvPicPr>
            <a:picLocks noChangeAspect="1"/>
          </p:cNvPicPr>
          <p:nvPr/>
        </p:nvPicPr>
        <p:blipFill>
          <a:blip r:embed="rId2"/>
          <a:stretch>
            <a:fillRect/>
          </a:stretch>
        </p:blipFill>
        <p:spPr>
          <a:xfrm>
            <a:off x="7247534" y="2904134"/>
            <a:ext cx="409651" cy="409651"/>
          </a:xfrm>
          <a:prstGeom prst="rect">
            <a:avLst/>
          </a:prstGeom>
        </p:spPr>
      </p:pic>
      <p:sp>
        <p:nvSpPr>
          <p:cNvPr id="25" name="Text 20"/>
          <p:cNvSpPr txBox="1"/>
          <p:nvPr/>
        </p:nvSpPr>
        <p:spPr>
          <a:xfrm>
            <a:off x="6949440" y="3520440"/>
            <a:ext cx="1005840" cy="54864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Strangers'</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phones</a:t>
            </a:r>
            <a:endParaRPr lang="en-US" sz="1300" dirty="0"/>
          </a:p>
        </p:txBody>
      </p:sp>
      <p:sp>
        <p:nvSpPr>
          <p:cNvPr id="26" name="bridge phone circle"/>
          <p:cNvSpPr/>
          <p:nvPr/>
        </p:nvSpPr>
        <p:spPr>
          <a:xfrm>
            <a:off x="8275320" y="2743200"/>
            <a:ext cx="731520" cy="731520"/>
          </a:xfrm>
          <a:prstGeom prst="ellipse">
            <a:avLst/>
          </a:prstGeom>
          <a:solidFill>
            <a:schemeClr val="accent2"/>
          </a:solidFill>
          <a:ln/>
        </p:spPr>
      </p:sp>
      <p:pic>
        <p:nvPicPr>
          <p:cNvPr id="27" name="Image 2" descr="bridge phone">    </p:cNvPr>
          <p:cNvPicPr>
            <a:picLocks noChangeAspect="1"/>
          </p:cNvPicPr>
          <p:nvPr/>
        </p:nvPicPr>
        <p:blipFill>
          <a:blip r:embed="rId3"/>
          <a:stretch>
            <a:fillRect/>
          </a:stretch>
        </p:blipFill>
        <p:spPr>
          <a:xfrm>
            <a:off x="8436254" y="2904134"/>
            <a:ext cx="409651" cy="409651"/>
          </a:xfrm>
          <a:prstGeom prst="rect">
            <a:avLst/>
          </a:prstGeom>
        </p:spPr>
      </p:pic>
      <p:sp>
        <p:nvSpPr>
          <p:cNvPr id="28" name="Text 22"/>
          <p:cNvSpPr txBox="1"/>
          <p:nvPr/>
        </p:nvSpPr>
        <p:spPr>
          <a:xfrm>
            <a:off x="8046720" y="3520440"/>
            <a:ext cx="1188720" cy="54864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Bridge phone</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(has internet)</a:t>
            </a:r>
            <a:endParaRPr lang="en-US" sz="1300" dirty="0"/>
          </a:p>
        </p:txBody>
      </p:sp>
      <p:sp>
        <p:nvSpPr>
          <p:cNvPr id="29" name="server circle"/>
          <p:cNvSpPr/>
          <p:nvPr/>
        </p:nvSpPr>
        <p:spPr>
          <a:xfrm>
            <a:off x="9646920" y="2743200"/>
            <a:ext cx="731520" cy="731520"/>
          </a:xfrm>
          <a:prstGeom prst="ellipse">
            <a:avLst/>
          </a:prstGeom>
          <a:solidFill>
            <a:schemeClr val="accent4"/>
          </a:solidFill>
          <a:ln/>
        </p:spPr>
      </p:sp>
      <p:pic>
        <p:nvPicPr>
          <p:cNvPr id="30" name="Image 3" descr="server">    </p:cNvPr>
          <p:cNvPicPr>
            <a:picLocks noChangeAspect="1"/>
          </p:cNvPicPr>
          <p:nvPr/>
        </p:nvPicPr>
        <p:blipFill>
          <a:blip r:embed="rId4"/>
          <a:stretch>
            <a:fillRect/>
          </a:stretch>
        </p:blipFill>
        <p:spPr>
          <a:xfrm>
            <a:off x="9807854" y="2904134"/>
            <a:ext cx="409651" cy="409651"/>
          </a:xfrm>
          <a:prstGeom prst="rect">
            <a:avLst/>
          </a:prstGeom>
        </p:spPr>
      </p:pic>
      <p:sp>
        <p:nvSpPr>
          <p:cNvPr id="31" name="Text 24"/>
          <p:cNvSpPr txBox="1"/>
          <p:nvPr/>
        </p:nvSpPr>
        <p:spPr>
          <a:xfrm>
            <a:off x="9418320" y="3520440"/>
            <a:ext cx="1188720" cy="32004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Our server</a:t>
            </a:r>
            <a:endParaRPr lang="en-US" sz="1300" dirty="0"/>
          </a:p>
        </p:txBody>
      </p:sp>
      <p:sp>
        <p:nvSpPr>
          <p:cNvPr id="32" name="Bob paid circle"/>
          <p:cNvSpPr/>
          <p:nvPr/>
        </p:nvSpPr>
        <p:spPr>
          <a:xfrm>
            <a:off x="10927080" y="2743200"/>
            <a:ext cx="731520" cy="731520"/>
          </a:xfrm>
          <a:prstGeom prst="ellipse">
            <a:avLst/>
          </a:prstGeom>
          <a:solidFill>
            <a:schemeClr val="accent6"/>
          </a:solidFill>
          <a:ln/>
        </p:spPr>
      </p:sp>
      <p:pic>
        <p:nvPicPr>
          <p:cNvPr id="33" name="Image 4" descr="Bob paid">    </p:cNvPr>
          <p:cNvPicPr>
            <a:picLocks noChangeAspect="1"/>
          </p:cNvPicPr>
          <p:nvPr/>
        </p:nvPicPr>
        <p:blipFill>
          <a:blip r:embed="rId5"/>
          <a:stretch>
            <a:fillRect/>
          </a:stretch>
        </p:blipFill>
        <p:spPr>
          <a:xfrm>
            <a:off x="11088014" y="2904134"/>
            <a:ext cx="409651" cy="409651"/>
          </a:xfrm>
          <a:prstGeom prst="rect">
            <a:avLst/>
          </a:prstGeom>
        </p:spPr>
      </p:pic>
      <p:sp>
        <p:nvSpPr>
          <p:cNvPr id="34" name="Text 26"/>
          <p:cNvSpPr txBox="1"/>
          <p:nvPr/>
        </p:nvSpPr>
        <p:spPr>
          <a:xfrm>
            <a:off x="10744200" y="3520440"/>
            <a:ext cx="1097280" cy="54864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Bob gets</a:t>
            </a:r>
            <a:endParaRPr lang="en-US" sz="1300" dirty="0"/>
          </a:p>
          <a:p>
            <a:pPr algn="ctr" indent="0" marL="0">
              <a:buNone/>
            </a:pPr>
            <a:r>
              <a:rPr lang="en-US" sz="1300" dirty="0">
                <a:solidFill>
                  <a:schemeClr val="tx1"/>
                </a:solidFill>
                <a:latin typeface="Calibri" pitchFamily="34" charset="0"/>
                <a:ea typeface="Calibri" pitchFamily="34" charset="-122"/>
                <a:cs typeface="Calibri" pitchFamily="34" charset="-120"/>
              </a:rPr>
              <a:t>paid</a:t>
            </a:r>
            <a:endParaRPr lang="en-US" sz="1300" dirty="0"/>
          </a:p>
        </p:txBody>
      </p:sp>
      <p:sp>
        <p:nvSpPr>
          <p:cNvPr id="35" name="arrow"/>
          <p:cNvSpPr/>
          <p:nvPr/>
        </p:nvSpPr>
        <p:spPr>
          <a:xfrm>
            <a:off x="6720840" y="3108960"/>
            <a:ext cx="320040" cy="0"/>
          </a:xfrm>
          <a:prstGeom prst="line">
            <a:avLst/>
          </a:prstGeom>
          <a:noFill/>
          <a:ln w="28575">
            <a:solidFill>
              <a:schemeClr val="accent5"/>
            </a:solidFill>
            <a:prstDash val="solid"/>
            <a:tailEnd type="triangle"/>
          </a:ln>
        </p:spPr>
      </p:sp>
      <p:sp>
        <p:nvSpPr>
          <p:cNvPr id="36" name="arrow"/>
          <p:cNvSpPr/>
          <p:nvPr/>
        </p:nvSpPr>
        <p:spPr>
          <a:xfrm>
            <a:off x="7909560" y="3108960"/>
            <a:ext cx="320040" cy="0"/>
          </a:xfrm>
          <a:prstGeom prst="line">
            <a:avLst/>
          </a:prstGeom>
          <a:noFill/>
          <a:ln w="28575">
            <a:solidFill>
              <a:schemeClr val="accent5"/>
            </a:solidFill>
            <a:prstDash val="solid"/>
            <a:tailEnd type="triangle"/>
          </a:ln>
        </p:spPr>
      </p:sp>
      <p:sp>
        <p:nvSpPr>
          <p:cNvPr id="37" name="arrow"/>
          <p:cNvSpPr/>
          <p:nvPr/>
        </p:nvSpPr>
        <p:spPr>
          <a:xfrm>
            <a:off x="9098280" y="3108960"/>
            <a:ext cx="457200" cy="0"/>
          </a:xfrm>
          <a:prstGeom prst="line">
            <a:avLst/>
          </a:prstGeom>
          <a:noFill/>
          <a:ln w="28575">
            <a:solidFill>
              <a:schemeClr val="accent5"/>
            </a:solidFill>
            <a:prstDash val="solid"/>
            <a:tailEnd type="triangle"/>
          </a:ln>
        </p:spPr>
      </p:sp>
      <p:sp>
        <p:nvSpPr>
          <p:cNvPr id="38" name="arrow"/>
          <p:cNvSpPr/>
          <p:nvPr/>
        </p:nvSpPr>
        <p:spPr>
          <a:xfrm>
            <a:off x="10469880" y="3108960"/>
            <a:ext cx="411480" cy="0"/>
          </a:xfrm>
          <a:prstGeom prst="line">
            <a:avLst/>
          </a:prstGeom>
          <a:noFill/>
          <a:ln w="28575">
            <a:solidFill>
              <a:schemeClr val="accent5"/>
            </a:solidFill>
            <a:prstDash val="solid"/>
            <a:tailEnd type="triangle"/>
          </a:ln>
        </p:spPr>
      </p:sp>
      <p:sp>
        <p:nvSpPr>
          <p:cNvPr id="39" name="Text 31"/>
          <p:cNvSpPr txBox="1"/>
          <p:nvPr/>
        </p:nvSpPr>
        <p:spPr>
          <a:xfrm>
            <a:off x="5852160" y="1874520"/>
            <a:ext cx="3108960" cy="64008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OFFLINE: phones pass the payment along</a:t>
            </a:r>
            <a:endParaRPr lang="en-US" sz="1400" dirty="0"/>
          </a:p>
        </p:txBody>
      </p:sp>
      <p:sp>
        <p:nvSpPr>
          <p:cNvPr id="40" name="Text 32"/>
          <p:cNvSpPr txBox="1"/>
          <p:nvPr/>
        </p:nvSpPr>
        <p:spPr>
          <a:xfrm>
            <a:off x="9144000" y="1874520"/>
            <a:ext cx="2468880" cy="640080"/>
          </a:xfrm>
          <a:prstGeom prst="rect">
            <a:avLst/>
          </a:prstGeom>
          <a:noFill/>
          <a:ln/>
        </p:spPr>
        <p:txBody>
          <a:bodyPr wrap="square" lIns="0" tIns="0" rIns="0" bIns="0" rtlCol="0" anchor="t"/>
          <a:lstStyle/>
          <a:p>
            <a:pPr algn="l" indent="0" marL="0">
              <a:buNone/>
            </a:pPr>
            <a:r>
              <a:rPr lang="en-US" sz="1400" b="1" dirty="0">
                <a:solidFill>
                  <a:schemeClr val="accent4"/>
                </a:solidFill>
                <a:latin typeface="Calibri" pitchFamily="34" charset="0"/>
                <a:ea typeface="Calibri" pitchFamily="34" charset="-122"/>
                <a:cs typeface="Calibri" pitchFamily="34" charset="-120"/>
              </a:rPr>
              <a:t>ONLINE: server settles</a:t>
            </a:r>
            <a:endParaRPr lang="en-US" sz="1400" dirty="0"/>
          </a:p>
        </p:txBody>
      </p:sp>
      <p:sp>
        <p:nvSpPr>
          <p:cNvPr id="41" name="Text 33"/>
          <p:cNvSpPr txBox="1"/>
          <p:nvPr/>
        </p:nvSpPr>
        <p:spPr>
          <a:xfrm>
            <a:off x="5897880" y="4297680"/>
            <a:ext cx="5577840" cy="548640"/>
          </a:xfrm>
          <a:prstGeom prst="rect">
            <a:avLst/>
          </a:prstGeom>
          <a:noFill/>
          <a:ln/>
        </p:spPr>
        <p:txBody>
          <a:bodyPr wrap="square" lIns="0" tIns="0" rIns="0" bIns="0" rtlCol="0" anchor="t"/>
          <a:lstStyle/>
          <a:p>
            <a:pPr algn="l" indent="0" marL="0">
              <a:buNone/>
            </a:pPr>
            <a:r>
              <a:rPr lang="en-US" sz="1400" i="1" dirty="0">
                <a:solidFill>
                  <a:schemeClr val="accent5"/>
                </a:solidFill>
                <a:latin typeface="Calibri" pitchFamily="34" charset="0"/>
                <a:ea typeface="Calibri" pitchFamily="34" charset="-122"/>
                <a:cs typeface="Calibri" pitchFamily="34" charset="-120"/>
              </a:rPr>
              <a:t>The phone mesh is simulated in software, so the whole flow runs on one laptop.</a:t>
            </a:r>
            <a:endParaRPr lang="en-US" sz="1400" dirty="0"/>
          </a:p>
        </p:txBody>
      </p:sp>
      <p:sp>
        <p:nvSpPr>
          <p:cNvPr id="42" name="chip Spring Boot backend"/>
          <p:cNvSpPr/>
          <p:nvPr/>
        </p:nvSpPr>
        <p:spPr>
          <a:xfrm>
            <a:off x="457200" y="5349240"/>
            <a:ext cx="2286000" cy="365760"/>
          </a:xfrm>
          <a:prstGeom prst="roundRect">
            <a:avLst>
              <a:gd name="adj" fmla="val 50000"/>
            </a:avLst>
          </a:prstGeom>
          <a:solidFill>
            <a:schemeClr val="tx2"/>
          </a:solidFill>
          <a:ln/>
        </p:spPr>
      </p:sp>
      <p:sp>
        <p:nvSpPr>
          <p:cNvPr id="43" name="Text 35"/>
          <p:cNvSpPr txBox="1"/>
          <p:nvPr/>
        </p:nvSpPr>
        <p:spPr>
          <a:xfrm>
            <a:off x="457200" y="5349240"/>
            <a:ext cx="228600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Spring Boot backend</a:t>
            </a:r>
            <a:endParaRPr lang="en-US" sz="1400" dirty="0"/>
          </a:p>
        </p:txBody>
      </p:sp>
      <p:sp>
        <p:nvSpPr>
          <p:cNvPr id="44" name="chip Mesh simulator"/>
          <p:cNvSpPr/>
          <p:nvPr/>
        </p:nvSpPr>
        <p:spPr>
          <a:xfrm>
            <a:off x="2880360" y="5349240"/>
            <a:ext cx="1828800" cy="365760"/>
          </a:xfrm>
          <a:prstGeom prst="roundRect">
            <a:avLst>
              <a:gd name="adj" fmla="val 50000"/>
            </a:avLst>
          </a:prstGeom>
          <a:solidFill>
            <a:schemeClr val="tx2"/>
          </a:solidFill>
          <a:ln/>
        </p:spPr>
      </p:sp>
      <p:sp>
        <p:nvSpPr>
          <p:cNvPr id="45" name="Text 37"/>
          <p:cNvSpPr txBox="1"/>
          <p:nvPr/>
        </p:nvSpPr>
        <p:spPr>
          <a:xfrm>
            <a:off x="2880360" y="5349240"/>
            <a:ext cx="182880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Mesh simulator</a:t>
            </a:r>
            <a:endParaRPr lang="en-US" sz="1400" dirty="0"/>
          </a:p>
        </p:txBody>
      </p:sp>
      <p:sp>
        <p:nvSpPr>
          <p:cNvPr id="46" name="chip H2 / MySQL"/>
          <p:cNvSpPr/>
          <p:nvPr/>
        </p:nvSpPr>
        <p:spPr>
          <a:xfrm>
            <a:off x="4846320" y="5349240"/>
            <a:ext cx="1645920" cy="365760"/>
          </a:xfrm>
          <a:prstGeom prst="roundRect">
            <a:avLst>
              <a:gd name="adj" fmla="val 50000"/>
            </a:avLst>
          </a:prstGeom>
          <a:solidFill>
            <a:schemeClr val="tx2"/>
          </a:solidFill>
          <a:ln/>
        </p:spPr>
      </p:sp>
      <p:sp>
        <p:nvSpPr>
          <p:cNvPr id="47" name="Text 39"/>
          <p:cNvSpPr txBox="1"/>
          <p:nvPr/>
        </p:nvSpPr>
        <p:spPr>
          <a:xfrm>
            <a:off x="4846320" y="5349240"/>
            <a:ext cx="16459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H2 / MySQL</a:t>
            </a:r>
            <a:endParaRPr lang="en-US" sz="1400" dirty="0"/>
          </a:p>
        </p:txBody>
      </p:sp>
      <p:sp>
        <p:nvSpPr>
          <p:cNvPr id="48" name="chip Dashboard"/>
          <p:cNvSpPr/>
          <p:nvPr/>
        </p:nvSpPr>
        <p:spPr>
          <a:xfrm>
            <a:off x="6629400" y="5349240"/>
            <a:ext cx="1463040" cy="365760"/>
          </a:xfrm>
          <a:prstGeom prst="roundRect">
            <a:avLst>
              <a:gd name="adj" fmla="val 50000"/>
            </a:avLst>
          </a:prstGeom>
          <a:solidFill>
            <a:schemeClr val="tx2"/>
          </a:solidFill>
          <a:ln/>
        </p:spPr>
      </p:sp>
      <p:sp>
        <p:nvSpPr>
          <p:cNvPr id="49" name="Text 41"/>
          <p:cNvSpPr txBox="1"/>
          <p:nvPr/>
        </p:nvSpPr>
        <p:spPr>
          <a:xfrm>
            <a:off x="6629400" y="5349240"/>
            <a:ext cx="146304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Dashboard</a:t>
            </a:r>
            <a:endParaRPr lang="en-US" sz="1400" dirty="0"/>
          </a:p>
        </p:txBody>
      </p:sp>
      <p:sp>
        <p:nvSpPr>
          <p:cNvPr id="50" name="chip 18 automated tests"/>
          <p:cNvSpPr/>
          <p:nvPr/>
        </p:nvSpPr>
        <p:spPr>
          <a:xfrm>
            <a:off x="8229600" y="5349240"/>
            <a:ext cx="2103120" cy="365760"/>
          </a:xfrm>
          <a:prstGeom prst="roundRect">
            <a:avLst>
              <a:gd name="adj" fmla="val 50000"/>
            </a:avLst>
          </a:prstGeom>
          <a:solidFill>
            <a:schemeClr val="tx2"/>
          </a:solidFill>
          <a:ln/>
        </p:spPr>
      </p:sp>
      <p:sp>
        <p:nvSpPr>
          <p:cNvPr id="51" name="Text 43"/>
          <p:cNvSpPr txBox="1"/>
          <p:nvPr/>
        </p:nvSpPr>
        <p:spPr>
          <a:xfrm>
            <a:off x="8229600" y="5349240"/>
            <a:ext cx="2103120" cy="3657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18 automated tests</a:t>
            </a:r>
            <a:endParaRPr lang="en-US" sz="14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Four problems we had to solve</a:t>
            </a:r>
            <a:endParaRPr lang="en-US" sz="3400" dirty="0"/>
          </a:p>
        </p:txBody>
      </p:sp>
      <p:sp>
        <p:nvSpPr>
          <p:cNvPr id="4" name="problem card 1"/>
          <p:cNvSpPr/>
          <p:nvPr/>
        </p:nvSpPr>
        <p:spPr>
          <a:xfrm>
            <a:off x="457200" y="1463040"/>
            <a:ext cx="2606040" cy="3017520"/>
          </a:xfrm>
          <a:prstGeom prst="roundRect">
            <a:avLst>
              <a:gd name="adj" fmla="val 4211"/>
            </a:avLst>
          </a:prstGeom>
          <a:solidFill>
            <a:srgbClr val="FBEBE3"/>
          </a:solidFill>
          <a:ln/>
        </p:spPr>
      </p:sp>
      <p:sp>
        <p:nvSpPr>
          <p:cNvPr id="5" name="problem 1 circle"/>
          <p:cNvSpPr/>
          <p:nvPr/>
        </p:nvSpPr>
        <p:spPr>
          <a:xfrm>
            <a:off x="640080" y="1691640"/>
            <a:ext cx="777240" cy="777240"/>
          </a:xfrm>
          <a:prstGeom prst="ellipse">
            <a:avLst/>
          </a:prstGeom>
          <a:solidFill>
            <a:schemeClr val="accent3"/>
          </a:solidFill>
          <a:ln/>
        </p:spPr>
      </p:sp>
      <p:pic>
        <p:nvPicPr>
          <p:cNvPr id="6" name="Image 0" descr="problem 1">    </p:cNvPr>
          <p:cNvPicPr>
            <a:picLocks noChangeAspect="1"/>
          </p:cNvPicPr>
          <p:nvPr/>
        </p:nvPicPr>
        <p:blipFill>
          <a:blip r:embed="rId1"/>
          <a:stretch>
            <a:fillRect/>
          </a:stretch>
        </p:blipFill>
        <p:spPr>
          <a:xfrm>
            <a:off x="811073" y="1862633"/>
            <a:ext cx="435254" cy="435254"/>
          </a:xfrm>
          <a:prstGeom prst="rect">
            <a:avLst/>
          </a:prstGeom>
        </p:spPr>
      </p:pic>
      <p:sp>
        <p:nvSpPr>
          <p:cNvPr id="7" name="Text 3"/>
          <p:cNvSpPr txBox="1"/>
          <p:nvPr/>
        </p:nvSpPr>
        <p:spPr>
          <a:xfrm>
            <a:off x="1554480" y="1874520"/>
            <a:ext cx="1371600" cy="36576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PROBLEM 1</a:t>
            </a:r>
            <a:endParaRPr lang="en-US" sz="1400" dirty="0"/>
          </a:p>
        </p:txBody>
      </p:sp>
      <p:sp>
        <p:nvSpPr>
          <p:cNvPr id="8" name="Text 4"/>
          <p:cNvSpPr txBox="1"/>
          <p:nvPr/>
        </p:nvSpPr>
        <p:spPr>
          <a:xfrm>
            <a:off x="640080" y="2697480"/>
            <a:ext cx="2240280" cy="164592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How does a payment travel with no internet?</a:t>
            </a:r>
            <a:endParaRPr lang="en-US" sz="1800" dirty="0"/>
          </a:p>
        </p:txBody>
      </p:sp>
      <p:sp>
        <p:nvSpPr>
          <p:cNvPr id="9" name="arrow"/>
          <p:cNvSpPr/>
          <p:nvPr/>
        </p:nvSpPr>
        <p:spPr>
          <a:xfrm>
            <a:off x="1760220" y="4526280"/>
            <a:ext cx="0" cy="411480"/>
          </a:xfrm>
          <a:prstGeom prst="line">
            <a:avLst/>
          </a:prstGeom>
          <a:noFill/>
          <a:ln w="28575">
            <a:solidFill>
              <a:schemeClr val="accent5"/>
            </a:solidFill>
            <a:prstDash val="solid"/>
            <a:tailEnd type="triangle"/>
          </a:ln>
        </p:spPr>
      </p:sp>
      <p:sp>
        <p:nvSpPr>
          <p:cNvPr id="10" name="mechanism 1"/>
          <p:cNvSpPr/>
          <p:nvPr/>
        </p:nvSpPr>
        <p:spPr>
          <a:xfrm>
            <a:off x="457200" y="4983480"/>
            <a:ext cx="2606040" cy="731520"/>
          </a:xfrm>
          <a:prstGeom prst="roundRect">
            <a:avLst>
              <a:gd name="adj" fmla="val 15000"/>
            </a:avLst>
          </a:prstGeom>
          <a:solidFill>
            <a:schemeClr val="accent1"/>
          </a:solidFill>
          <a:ln/>
        </p:spPr>
      </p:sp>
      <p:sp>
        <p:nvSpPr>
          <p:cNvPr id="11" name="Text 7"/>
          <p:cNvSpPr txBox="1"/>
          <p:nvPr/>
        </p:nvSpPr>
        <p:spPr>
          <a:xfrm>
            <a:off x="548640" y="4983480"/>
            <a:ext cx="2423160" cy="73152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Gossip / flooding</a:t>
            </a:r>
            <a:endParaRPr lang="en-US" sz="1700" dirty="0"/>
          </a:p>
        </p:txBody>
      </p:sp>
      <p:sp>
        <p:nvSpPr>
          <p:cNvPr id="12" name="problem card 2"/>
          <p:cNvSpPr/>
          <p:nvPr/>
        </p:nvSpPr>
        <p:spPr>
          <a:xfrm>
            <a:off x="3337560" y="1463040"/>
            <a:ext cx="2606040" cy="3017520"/>
          </a:xfrm>
          <a:prstGeom prst="roundRect">
            <a:avLst>
              <a:gd name="adj" fmla="val 4211"/>
            </a:avLst>
          </a:prstGeom>
          <a:solidFill>
            <a:srgbClr val="FBEBE3"/>
          </a:solidFill>
          <a:ln/>
        </p:spPr>
      </p:sp>
      <p:sp>
        <p:nvSpPr>
          <p:cNvPr id="13" name="problem 2 circle"/>
          <p:cNvSpPr/>
          <p:nvPr/>
        </p:nvSpPr>
        <p:spPr>
          <a:xfrm>
            <a:off x="3520440" y="1691640"/>
            <a:ext cx="777240" cy="777240"/>
          </a:xfrm>
          <a:prstGeom prst="ellipse">
            <a:avLst/>
          </a:prstGeom>
          <a:solidFill>
            <a:schemeClr val="accent3"/>
          </a:solidFill>
          <a:ln/>
        </p:spPr>
      </p:sp>
      <p:pic>
        <p:nvPicPr>
          <p:cNvPr id="14" name="Image 1" descr="problem 2">    </p:cNvPr>
          <p:cNvPicPr>
            <a:picLocks noChangeAspect="1"/>
          </p:cNvPicPr>
          <p:nvPr/>
        </p:nvPicPr>
        <p:blipFill>
          <a:blip r:embed="rId2"/>
          <a:stretch>
            <a:fillRect/>
          </a:stretch>
        </p:blipFill>
        <p:spPr>
          <a:xfrm>
            <a:off x="3691433" y="1862633"/>
            <a:ext cx="435254" cy="435254"/>
          </a:xfrm>
          <a:prstGeom prst="rect">
            <a:avLst/>
          </a:prstGeom>
        </p:spPr>
      </p:pic>
      <p:sp>
        <p:nvSpPr>
          <p:cNvPr id="15" name="Text 10"/>
          <p:cNvSpPr txBox="1"/>
          <p:nvPr/>
        </p:nvSpPr>
        <p:spPr>
          <a:xfrm>
            <a:off x="4434840" y="1874520"/>
            <a:ext cx="1371600" cy="36576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PROBLEM 2</a:t>
            </a:r>
            <a:endParaRPr lang="en-US" sz="1400" dirty="0"/>
          </a:p>
        </p:txBody>
      </p:sp>
      <p:sp>
        <p:nvSpPr>
          <p:cNvPr id="16" name="Text 11"/>
          <p:cNvSpPr txBox="1"/>
          <p:nvPr/>
        </p:nvSpPr>
        <p:spPr>
          <a:xfrm>
            <a:off x="3520440" y="2697480"/>
            <a:ext cx="2240280" cy="164592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How do we stop strangers reading or editing it?</a:t>
            </a:r>
            <a:endParaRPr lang="en-US" sz="1800" dirty="0"/>
          </a:p>
        </p:txBody>
      </p:sp>
      <p:sp>
        <p:nvSpPr>
          <p:cNvPr id="17" name="arrow"/>
          <p:cNvSpPr/>
          <p:nvPr/>
        </p:nvSpPr>
        <p:spPr>
          <a:xfrm>
            <a:off x="4640580" y="4526280"/>
            <a:ext cx="0" cy="411480"/>
          </a:xfrm>
          <a:prstGeom prst="line">
            <a:avLst/>
          </a:prstGeom>
          <a:noFill/>
          <a:ln w="28575">
            <a:solidFill>
              <a:schemeClr val="accent5"/>
            </a:solidFill>
            <a:prstDash val="solid"/>
            <a:tailEnd type="triangle"/>
          </a:ln>
        </p:spPr>
      </p:sp>
      <p:sp>
        <p:nvSpPr>
          <p:cNvPr id="18" name="mechanism 2"/>
          <p:cNvSpPr/>
          <p:nvPr/>
        </p:nvSpPr>
        <p:spPr>
          <a:xfrm>
            <a:off x="3337560" y="4983480"/>
            <a:ext cx="2606040" cy="731520"/>
          </a:xfrm>
          <a:prstGeom prst="roundRect">
            <a:avLst>
              <a:gd name="adj" fmla="val 15000"/>
            </a:avLst>
          </a:prstGeom>
          <a:solidFill>
            <a:schemeClr val="accent1"/>
          </a:solidFill>
          <a:ln/>
        </p:spPr>
      </p:sp>
      <p:sp>
        <p:nvSpPr>
          <p:cNvPr id="19" name="Text 14"/>
          <p:cNvSpPr txBox="1"/>
          <p:nvPr/>
        </p:nvSpPr>
        <p:spPr>
          <a:xfrm>
            <a:off x="3429000" y="4983480"/>
            <a:ext cx="2423160" cy="73152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Encryption</a:t>
            </a:r>
            <a:endParaRPr lang="en-US" sz="1700" dirty="0"/>
          </a:p>
        </p:txBody>
      </p:sp>
      <p:sp>
        <p:nvSpPr>
          <p:cNvPr id="20" name="problem card 3"/>
          <p:cNvSpPr/>
          <p:nvPr/>
        </p:nvSpPr>
        <p:spPr>
          <a:xfrm>
            <a:off x="6217920" y="1463040"/>
            <a:ext cx="2606040" cy="3017520"/>
          </a:xfrm>
          <a:prstGeom prst="roundRect">
            <a:avLst>
              <a:gd name="adj" fmla="val 4211"/>
            </a:avLst>
          </a:prstGeom>
          <a:solidFill>
            <a:srgbClr val="FBEBE3"/>
          </a:solidFill>
          <a:ln/>
        </p:spPr>
      </p:sp>
      <p:sp>
        <p:nvSpPr>
          <p:cNvPr id="21" name="problem 3 circle"/>
          <p:cNvSpPr/>
          <p:nvPr/>
        </p:nvSpPr>
        <p:spPr>
          <a:xfrm>
            <a:off x="6400800" y="1691640"/>
            <a:ext cx="777240" cy="777240"/>
          </a:xfrm>
          <a:prstGeom prst="ellipse">
            <a:avLst/>
          </a:prstGeom>
          <a:solidFill>
            <a:schemeClr val="accent3"/>
          </a:solidFill>
          <a:ln/>
        </p:spPr>
      </p:sp>
      <p:pic>
        <p:nvPicPr>
          <p:cNvPr id="22" name="Image 2" descr="problem 3">    </p:cNvPr>
          <p:cNvPicPr>
            <a:picLocks noChangeAspect="1"/>
          </p:cNvPicPr>
          <p:nvPr/>
        </p:nvPicPr>
        <p:blipFill>
          <a:blip r:embed="rId3"/>
          <a:stretch>
            <a:fillRect/>
          </a:stretch>
        </p:blipFill>
        <p:spPr>
          <a:xfrm>
            <a:off x="6571793" y="1862633"/>
            <a:ext cx="435254" cy="435254"/>
          </a:xfrm>
          <a:prstGeom prst="rect">
            <a:avLst/>
          </a:prstGeom>
        </p:spPr>
      </p:pic>
      <p:sp>
        <p:nvSpPr>
          <p:cNvPr id="23" name="Text 17"/>
          <p:cNvSpPr txBox="1"/>
          <p:nvPr/>
        </p:nvSpPr>
        <p:spPr>
          <a:xfrm>
            <a:off x="7315200" y="1874520"/>
            <a:ext cx="1371600" cy="36576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PROBLEM 3</a:t>
            </a:r>
            <a:endParaRPr lang="en-US" sz="1400" dirty="0"/>
          </a:p>
        </p:txBody>
      </p:sp>
      <p:sp>
        <p:nvSpPr>
          <p:cNvPr id="24" name="Text 18"/>
          <p:cNvSpPr txBox="1"/>
          <p:nvPr/>
        </p:nvSpPr>
        <p:spPr>
          <a:xfrm>
            <a:off x="6400800" y="2697480"/>
            <a:ext cx="2240280" cy="164592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What if the same payment arrives many times?</a:t>
            </a:r>
            <a:endParaRPr lang="en-US" sz="1800" dirty="0"/>
          </a:p>
        </p:txBody>
      </p:sp>
      <p:sp>
        <p:nvSpPr>
          <p:cNvPr id="25" name="arrow"/>
          <p:cNvSpPr/>
          <p:nvPr/>
        </p:nvSpPr>
        <p:spPr>
          <a:xfrm>
            <a:off x="7520940" y="4526280"/>
            <a:ext cx="0" cy="411480"/>
          </a:xfrm>
          <a:prstGeom prst="line">
            <a:avLst/>
          </a:prstGeom>
          <a:noFill/>
          <a:ln w="28575">
            <a:solidFill>
              <a:schemeClr val="accent5"/>
            </a:solidFill>
            <a:prstDash val="solid"/>
            <a:tailEnd type="triangle"/>
          </a:ln>
        </p:spPr>
      </p:sp>
      <p:sp>
        <p:nvSpPr>
          <p:cNvPr id="26" name="mechanism 3"/>
          <p:cNvSpPr/>
          <p:nvPr/>
        </p:nvSpPr>
        <p:spPr>
          <a:xfrm>
            <a:off x="6217920" y="4983480"/>
            <a:ext cx="2606040" cy="731520"/>
          </a:xfrm>
          <a:prstGeom prst="roundRect">
            <a:avLst>
              <a:gd name="adj" fmla="val 15000"/>
            </a:avLst>
          </a:prstGeom>
          <a:solidFill>
            <a:schemeClr val="accent1"/>
          </a:solidFill>
          <a:ln/>
        </p:spPr>
      </p:sp>
      <p:sp>
        <p:nvSpPr>
          <p:cNvPr id="27" name="Text 21"/>
          <p:cNvSpPr txBox="1"/>
          <p:nvPr/>
        </p:nvSpPr>
        <p:spPr>
          <a:xfrm>
            <a:off x="6309360" y="4983480"/>
            <a:ext cx="2423160" cy="73152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Idempotency</a:t>
            </a:r>
            <a:endParaRPr lang="en-US" sz="1700" dirty="0"/>
          </a:p>
        </p:txBody>
      </p:sp>
      <p:sp>
        <p:nvSpPr>
          <p:cNvPr id="28" name="problem card 4"/>
          <p:cNvSpPr/>
          <p:nvPr/>
        </p:nvSpPr>
        <p:spPr>
          <a:xfrm>
            <a:off x="9098280" y="1463040"/>
            <a:ext cx="2606040" cy="3017520"/>
          </a:xfrm>
          <a:prstGeom prst="roundRect">
            <a:avLst>
              <a:gd name="adj" fmla="val 4211"/>
            </a:avLst>
          </a:prstGeom>
          <a:solidFill>
            <a:srgbClr val="FBEBE3"/>
          </a:solidFill>
          <a:ln/>
        </p:spPr>
      </p:sp>
      <p:sp>
        <p:nvSpPr>
          <p:cNvPr id="29" name="problem 4 circle"/>
          <p:cNvSpPr/>
          <p:nvPr/>
        </p:nvSpPr>
        <p:spPr>
          <a:xfrm>
            <a:off x="9281160" y="1691640"/>
            <a:ext cx="777240" cy="777240"/>
          </a:xfrm>
          <a:prstGeom prst="ellipse">
            <a:avLst/>
          </a:prstGeom>
          <a:solidFill>
            <a:schemeClr val="accent3"/>
          </a:solidFill>
          <a:ln/>
        </p:spPr>
      </p:sp>
      <p:pic>
        <p:nvPicPr>
          <p:cNvPr id="30" name="Image 3" descr="problem 4">    </p:cNvPr>
          <p:cNvPicPr>
            <a:picLocks noChangeAspect="1"/>
          </p:cNvPicPr>
          <p:nvPr/>
        </p:nvPicPr>
        <p:blipFill>
          <a:blip r:embed="rId4"/>
          <a:stretch>
            <a:fillRect/>
          </a:stretch>
        </p:blipFill>
        <p:spPr>
          <a:xfrm>
            <a:off x="9452153" y="1862633"/>
            <a:ext cx="435254" cy="435254"/>
          </a:xfrm>
          <a:prstGeom prst="rect">
            <a:avLst/>
          </a:prstGeom>
        </p:spPr>
      </p:pic>
      <p:sp>
        <p:nvSpPr>
          <p:cNvPr id="31" name="Text 24"/>
          <p:cNvSpPr txBox="1"/>
          <p:nvPr/>
        </p:nvSpPr>
        <p:spPr>
          <a:xfrm>
            <a:off x="10195560" y="1874520"/>
            <a:ext cx="1371600" cy="36576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PROBLEM 4</a:t>
            </a:r>
            <a:endParaRPr lang="en-US" sz="1400" dirty="0"/>
          </a:p>
        </p:txBody>
      </p:sp>
      <p:sp>
        <p:nvSpPr>
          <p:cNvPr id="32" name="Text 25"/>
          <p:cNvSpPr txBox="1"/>
          <p:nvPr/>
        </p:nvSpPr>
        <p:spPr>
          <a:xfrm>
            <a:off x="9281160" y="2697480"/>
            <a:ext cx="2240280" cy="1645920"/>
          </a:xfrm>
          <a:prstGeom prst="rect">
            <a:avLst/>
          </a:prstGeom>
          <a:noFill/>
          <a:ln/>
        </p:spPr>
        <p:txBody>
          <a:bodyPr wrap="square" lIns="0" tIns="0" rIns="0" bIns="0" rtlCol="0" anchor="t"/>
          <a:lstStyle/>
          <a:p>
            <a:pPr algn="l" indent="0" marL="0">
              <a:buNone/>
            </a:pPr>
            <a:r>
              <a:rPr lang="en-US" sz="1800" b="1" dirty="0">
                <a:solidFill>
                  <a:schemeClr val="tx1"/>
                </a:solidFill>
                <a:latin typeface="Calibri" pitchFamily="34" charset="0"/>
                <a:ea typeface="Calibri" pitchFamily="34" charset="-122"/>
                <a:cs typeface="Calibri" pitchFamily="34" charset="-120"/>
              </a:rPr>
              <a:t>How do we move the money correctly, once?</a:t>
            </a:r>
            <a:endParaRPr lang="en-US" sz="1800" dirty="0"/>
          </a:p>
        </p:txBody>
      </p:sp>
      <p:sp>
        <p:nvSpPr>
          <p:cNvPr id="33" name="arrow"/>
          <p:cNvSpPr/>
          <p:nvPr/>
        </p:nvSpPr>
        <p:spPr>
          <a:xfrm>
            <a:off x="10401300" y="4526280"/>
            <a:ext cx="0" cy="411480"/>
          </a:xfrm>
          <a:prstGeom prst="line">
            <a:avLst/>
          </a:prstGeom>
          <a:noFill/>
          <a:ln w="28575">
            <a:solidFill>
              <a:schemeClr val="accent5"/>
            </a:solidFill>
            <a:prstDash val="solid"/>
            <a:tailEnd type="triangle"/>
          </a:ln>
        </p:spPr>
      </p:sp>
      <p:sp>
        <p:nvSpPr>
          <p:cNvPr id="34" name="mechanism 4"/>
          <p:cNvSpPr/>
          <p:nvPr/>
        </p:nvSpPr>
        <p:spPr>
          <a:xfrm>
            <a:off x="9098280" y="4983480"/>
            <a:ext cx="2606040" cy="731520"/>
          </a:xfrm>
          <a:prstGeom prst="roundRect">
            <a:avLst>
              <a:gd name="adj" fmla="val 15000"/>
            </a:avLst>
          </a:prstGeom>
          <a:solidFill>
            <a:schemeClr val="accent1"/>
          </a:solidFill>
          <a:ln/>
        </p:spPr>
      </p:sp>
      <p:sp>
        <p:nvSpPr>
          <p:cNvPr id="35" name="Text 28"/>
          <p:cNvSpPr txBox="1"/>
          <p:nvPr/>
        </p:nvSpPr>
        <p:spPr>
          <a:xfrm>
            <a:off x="9189720" y="4983480"/>
            <a:ext cx="2423160" cy="73152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Safe transaction + checks</a:t>
            </a:r>
            <a:endParaRPr lang="en-US" sz="1700" dirty="0"/>
          </a:p>
        </p:txBody>
      </p:sp>
      <p:sp>
        <p:nvSpPr>
          <p:cNvPr id="36" name="Text 29"/>
          <p:cNvSpPr txBox="1"/>
          <p:nvPr/>
        </p:nvSpPr>
        <p:spPr>
          <a:xfrm>
            <a:off x="457200" y="5943600"/>
            <a:ext cx="7315200" cy="320040"/>
          </a:xfrm>
          <a:prstGeom prst="rect">
            <a:avLst/>
          </a:prstGeom>
          <a:noFill/>
          <a:ln/>
        </p:spPr>
        <p:txBody>
          <a:bodyPr wrap="square" lIns="0" tIns="0" rIns="0" bIns="0" rtlCol="0" anchor="t"/>
          <a:lstStyle/>
          <a:p>
            <a:pPr algn="l" indent="0" marL="0">
              <a:buNone/>
            </a:pPr>
            <a:r>
              <a:rPr lang="en-US" sz="1400" i="1" dirty="0">
                <a:solidFill>
                  <a:schemeClr val="accent5"/>
                </a:solidFill>
                <a:latin typeface="Calibri" pitchFamily="34" charset="0"/>
                <a:ea typeface="Calibri" pitchFamily="34" charset="-122"/>
                <a:cs typeface="Calibri" pitchFamily="34" charset="-120"/>
              </a:rPr>
              <a:t>Orange = the problem.  Teal = our mechanism.</a:t>
            </a:r>
            <a:endParaRPr lang="en-US" sz="14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Problem 1: There is no internet</a:t>
            </a:r>
            <a:endParaRPr lang="en-US" sz="3400" dirty="0"/>
          </a:p>
        </p:txBody>
      </p:sp>
      <p:sp>
        <p:nvSpPr>
          <p:cNvPr id="4" name="card THE PROBLEM"/>
          <p:cNvSpPr/>
          <p:nvPr/>
        </p:nvSpPr>
        <p:spPr>
          <a:xfrm>
            <a:off x="457200" y="1371600"/>
            <a:ext cx="2606040" cy="3154680"/>
          </a:xfrm>
          <a:prstGeom prst="roundRect">
            <a:avLst>
              <a:gd name="adj" fmla="val 4211"/>
            </a:avLst>
          </a:prstGeom>
          <a:solidFill>
            <a:srgbClr val="FBEBE3"/>
          </a:solidFill>
          <a:ln/>
        </p:spPr>
      </p:sp>
      <p:sp>
        <p:nvSpPr>
          <p:cNvPr id="5" name="Text 2"/>
          <p:cNvSpPr txBox="1"/>
          <p:nvPr/>
        </p:nvSpPr>
        <p:spPr>
          <a:xfrm>
            <a:off x="640080" y="1554480"/>
            <a:ext cx="224028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THE PROBLEM</a:t>
            </a:r>
            <a:endParaRPr lang="en-US" sz="1400" dirty="0"/>
          </a:p>
        </p:txBody>
      </p:sp>
      <p:sp>
        <p:nvSpPr>
          <p:cNvPr id="6" name="Text 3"/>
          <p:cNvSpPr txBox="1"/>
          <p:nvPr/>
        </p:nvSpPr>
        <p:spPr>
          <a:xfrm>
            <a:off x="64008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Alice taps Pay in a basement. Her phone cannot reach the server.</a:t>
            </a:r>
            <a:endParaRPr lang="en-US" sz="1800" dirty="0"/>
          </a:p>
        </p:txBody>
      </p:sp>
      <p:sp>
        <p:nvSpPr>
          <p:cNvPr id="7" name="flow arrow"/>
          <p:cNvSpPr/>
          <p:nvPr/>
        </p:nvSpPr>
        <p:spPr>
          <a:xfrm>
            <a:off x="3081528" y="2788920"/>
            <a:ext cx="237744" cy="310896"/>
          </a:xfrm>
          <a:prstGeom prst="rightArrow">
            <a:avLst/>
          </a:prstGeom>
          <a:solidFill>
            <a:schemeClr val="accent5"/>
          </a:solidFill>
          <a:ln/>
        </p:spPr>
      </p:sp>
      <p:sp>
        <p:nvSpPr>
          <p:cNvPr id="8" name="card WHY IT MATTERS"/>
          <p:cNvSpPr/>
          <p:nvPr/>
        </p:nvSpPr>
        <p:spPr>
          <a:xfrm>
            <a:off x="3337560" y="1371600"/>
            <a:ext cx="2606040" cy="3154680"/>
          </a:xfrm>
          <a:prstGeom prst="roundRect">
            <a:avLst>
              <a:gd name="adj" fmla="val 4211"/>
            </a:avLst>
          </a:prstGeom>
          <a:solidFill>
            <a:srgbClr val="FBEBE3"/>
          </a:solidFill>
          <a:ln/>
        </p:spPr>
      </p:sp>
      <p:sp>
        <p:nvSpPr>
          <p:cNvPr id="9" name="Text 6"/>
          <p:cNvSpPr txBox="1"/>
          <p:nvPr/>
        </p:nvSpPr>
        <p:spPr>
          <a:xfrm>
            <a:off x="3520440" y="1554480"/>
            <a:ext cx="224028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WHY IT MATTERS</a:t>
            </a:r>
            <a:endParaRPr lang="en-US" sz="1400" dirty="0"/>
          </a:p>
        </p:txBody>
      </p:sp>
      <p:sp>
        <p:nvSpPr>
          <p:cNvPr id="10" name="Text 7"/>
          <p:cNvSpPr txBox="1"/>
          <p:nvPr/>
        </p:nvSpPr>
        <p:spPr>
          <a:xfrm>
            <a:off x="352044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With no internet the payment is stuck on her phone, and Bob is never paid.</a:t>
            </a:r>
            <a:endParaRPr lang="en-US" sz="1800" dirty="0"/>
          </a:p>
        </p:txBody>
      </p:sp>
      <p:sp>
        <p:nvSpPr>
          <p:cNvPr id="11" name="flow arrow"/>
          <p:cNvSpPr/>
          <p:nvPr/>
        </p:nvSpPr>
        <p:spPr>
          <a:xfrm>
            <a:off x="5961888" y="2788920"/>
            <a:ext cx="237744" cy="310896"/>
          </a:xfrm>
          <a:prstGeom prst="rightArrow">
            <a:avLst/>
          </a:prstGeom>
          <a:solidFill>
            <a:schemeClr val="accent5"/>
          </a:solidFill>
          <a:ln/>
        </p:spPr>
      </p:sp>
      <p:sp>
        <p:nvSpPr>
          <p:cNvPr id="12" name="card OUR IDEA"/>
          <p:cNvSpPr/>
          <p:nvPr/>
        </p:nvSpPr>
        <p:spPr>
          <a:xfrm>
            <a:off x="6217920" y="1371600"/>
            <a:ext cx="2606040" cy="3154680"/>
          </a:xfrm>
          <a:prstGeom prst="roundRect">
            <a:avLst>
              <a:gd name="adj" fmla="val 4211"/>
            </a:avLst>
          </a:prstGeom>
          <a:solidFill>
            <a:schemeClr val="bg2"/>
          </a:solidFill>
          <a:ln/>
        </p:spPr>
      </p:sp>
      <p:sp>
        <p:nvSpPr>
          <p:cNvPr id="13" name="Text 10"/>
          <p:cNvSpPr txBox="1"/>
          <p:nvPr/>
        </p:nvSpPr>
        <p:spPr>
          <a:xfrm>
            <a:off x="6400800" y="1554480"/>
            <a:ext cx="2240280" cy="320040"/>
          </a:xfrm>
          <a:prstGeom prst="rect">
            <a:avLst/>
          </a:prstGeom>
          <a:noFill/>
          <a:ln/>
        </p:spPr>
        <p:txBody>
          <a:bodyPr wrap="square" lIns="0" tIns="0" rIns="0" bIns="0"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OUR IDEA</a:t>
            </a:r>
            <a:endParaRPr lang="en-US" sz="1400" dirty="0"/>
          </a:p>
        </p:txBody>
      </p:sp>
      <p:sp>
        <p:nvSpPr>
          <p:cNvPr id="14" name="Text 11"/>
          <p:cNvSpPr txBox="1"/>
          <p:nvPr/>
        </p:nvSpPr>
        <p:spPr>
          <a:xfrm>
            <a:off x="640080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Let nearby phones carry it, like passing a note hand to hand, until someone gets internet.</a:t>
            </a:r>
            <a:endParaRPr lang="en-US" sz="1800" dirty="0"/>
          </a:p>
        </p:txBody>
      </p:sp>
      <p:sp>
        <p:nvSpPr>
          <p:cNvPr id="15" name="flow arrow"/>
          <p:cNvSpPr/>
          <p:nvPr/>
        </p:nvSpPr>
        <p:spPr>
          <a:xfrm>
            <a:off x="8842248" y="2788920"/>
            <a:ext cx="237744" cy="310896"/>
          </a:xfrm>
          <a:prstGeom prst="rightArrow">
            <a:avLst/>
          </a:prstGeom>
          <a:solidFill>
            <a:schemeClr val="accent5"/>
          </a:solidFill>
          <a:ln/>
        </p:spPr>
      </p:sp>
      <p:sp>
        <p:nvSpPr>
          <p:cNvPr id="16" name="card IN OUR PROJECT"/>
          <p:cNvSpPr/>
          <p:nvPr/>
        </p:nvSpPr>
        <p:spPr>
          <a:xfrm>
            <a:off x="9098280" y="1371600"/>
            <a:ext cx="2606040" cy="3154680"/>
          </a:xfrm>
          <a:prstGeom prst="roundRect">
            <a:avLst>
              <a:gd name="adj" fmla="val 4211"/>
            </a:avLst>
          </a:prstGeom>
          <a:solidFill>
            <a:srgbClr val="E3EAF6"/>
          </a:solidFill>
          <a:ln/>
        </p:spPr>
      </p:sp>
      <p:sp>
        <p:nvSpPr>
          <p:cNvPr id="17" name="Text 14"/>
          <p:cNvSpPr txBox="1"/>
          <p:nvPr/>
        </p:nvSpPr>
        <p:spPr>
          <a:xfrm>
            <a:off x="9281160" y="1554480"/>
            <a:ext cx="2240280" cy="320040"/>
          </a:xfrm>
          <a:prstGeom prst="rect">
            <a:avLst/>
          </a:prstGeom>
          <a:noFill/>
          <a:ln/>
        </p:spPr>
        <p:txBody>
          <a:bodyPr wrap="square" lIns="0" tIns="0" rIns="0" bIns="0" rtlCol="0" anchor="t"/>
          <a:lstStyle/>
          <a:p>
            <a:pPr algn="l" indent="0" marL="0">
              <a:buNone/>
            </a:pPr>
            <a:r>
              <a:rPr lang="en-US" sz="1400" b="1" dirty="0">
                <a:solidFill>
                  <a:schemeClr val="accent4"/>
                </a:solidFill>
                <a:latin typeface="Calibri" pitchFamily="34" charset="0"/>
                <a:ea typeface="Calibri" pitchFamily="34" charset="-122"/>
                <a:cs typeface="Calibri" pitchFamily="34" charset="-120"/>
              </a:rPr>
              <a:t>IN OUR PROJECT</a:t>
            </a:r>
            <a:endParaRPr lang="en-US" sz="1400" dirty="0"/>
          </a:p>
        </p:txBody>
      </p:sp>
      <p:sp>
        <p:nvSpPr>
          <p:cNvPr id="18" name="Text 15"/>
          <p:cNvSpPr txBox="1"/>
          <p:nvPr/>
        </p:nvSpPr>
        <p:spPr>
          <a:xfrm>
            <a:off x="928116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Gossip / flooding: every phone copies the packet to all phones near it. A hop limit (TTL = 5) stops it spreading forever.</a:t>
            </a:r>
            <a:endParaRPr lang="en-US" sz="1800" dirty="0"/>
          </a:p>
        </p:txBody>
      </p:sp>
      <p:sp>
        <p:nvSpPr>
          <p:cNvPr id="19" name="analogy strip"/>
          <p:cNvSpPr/>
          <p:nvPr/>
        </p:nvSpPr>
        <p:spPr>
          <a:xfrm>
            <a:off x="457200" y="4754880"/>
            <a:ext cx="11274552" cy="1325880"/>
          </a:xfrm>
          <a:prstGeom prst="roundRect">
            <a:avLst>
              <a:gd name="adj" fmla="val 8276"/>
            </a:avLst>
          </a:prstGeom>
          <a:solidFill>
            <a:srgbClr val="FDF1DC"/>
          </a:solidFill>
          <a:ln/>
        </p:spPr>
      </p:sp>
      <p:sp>
        <p:nvSpPr>
          <p:cNvPr id="20" name="idea circle"/>
          <p:cNvSpPr/>
          <p:nvPr/>
        </p:nvSpPr>
        <p:spPr>
          <a:xfrm>
            <a:off x="685800" y="5029200"/>
            <a:ext cx="777240" cy="777240"/>
          </a:xfrm>
          <a:prstGeom prst="ellipse">
            <a:avLst/>
          </a:prstGeom>
          <a:solidFill>
            <a:schemeClr val="accent2"/>
          </a:solidFill>
          <a:ln/>
        </p:spPr>
      </p:sp>
      <p:pic>
        <p:nvPicPr>
          <p:cNvPr id="21" name="Image 0" descr="idea">    </p:cNvPr>
          <p:cNvPicPr>
            <a:picLocks noChangeAspect="1"/>
          </p:cNvPicPr>
          <p:nvPr/>
        </p:nvPicPr>
        <p:blipFill>
          <a:blip r:embed="rId1"/>
          <a:stretch>
            <a:fillRect/>
          </a:stretch>
        </p:blipFill>
        <p:spPr>
          <a:xfrm>
            <a:off x="856793" y="5200193"/>
            <a:ext cx="435254" cy="435254"/>
          </a:xfrm>
          <a:prstGeom prst="rect">
            <a:avLst/>
          </a:prstGeom>
        </p:spPr>
      </p:pic>
      <p:sp>
        <p:nvSpPr>
          <p:cNvPr id="22" name="Text 18"/>
          <p:cNvSpPr txBox="1"/>
          <p:nvPr/>
        </p:nvSpPr>
        <p:spPr>
          <a:xfrm>
            <a:off x="1737360" y="4937760"/>
            <a:ext cx="548640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A real-life picture</a:t>
            </a:r>
            <a:endParaRPr lang="en-US" sz="1400" dirty="0"/>
          </a:p>
        </p:txBody>
      </p:sp>
      <p:sp>
        <p:nvSpPr>
          <p:cNvPr id="23" name="Text 19"/>
          <p:cNvSpPr txBox="1"/>
          <p:nvPr/>
        </p:nvSpPr>
        <p:spPr>
          <a:xfrm>
            <a:off x="1737360" y="5303520"/>
            <a:ext cx="9784080" cy="68580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Like passing a sealed letter through a crowd until someone walks out and drops it into a post box.</a:t>
            </a:r>
            <a:endParaRPr lang="en-US" sz="18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Problem 2: Strangers carry our payment</a:t>
            </a:r>
            <a:endParaRPr lang="en-US" sz="3400" dirty="0"/>
          </a:p>
        </p:txBody>
      </p:sp>
      <p:sp>
        <p:nvSpPr>
          <p:cNvPr id="4" name="card THE PROBLEM"/>
          <p:cNvSpPr/>
          <p:nvPr/>
        </p:nvSpPr>
        <p:spPr>
          <a:xfrm>
            <a:off x="457200" y="1371600"/>
            <a:ext cx="2606040" cy="3154680"/>
          </a:xfrm>
          <a:prstGeom prst="roundRect">
            <a:avLst>
              <a:gd name="adj" fmla="val 4211"/>
            </a:avLst>
          </a:prstGeom>
          <a:solidFill>
            <a:srgbClr val="FBEBE3"/>
          </a:solidFill>
          <a:ln/>
        </p:spPr>
      </p:sp>
      <p:sp>
        <p:nvSpPr>
          <p:cNvPr id="5" name="Text 2"/>
          <p:cNvSpPr txBox="1"/>
          <p:nvPr/>
        </p:nvSpPr>
        <p:spPr>
          <a:xfrm>
            <a:off x="640080" y="1554480"/>
            <a:ext cx="224028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THE PROBLEM</a:t>
            </a:r>
            <a:endParaRPr lang="en-US" sz="1400" dirty="0"/>
          </a:p>
        </p:txBody>
      </p:sp>
      <p:sp>
        <p:nvSpPr>
          <p:cNvPr id="6" name="Text 3"/>
          <p:cNvSpPr txBox="1"/>
          <p:nvPr/>
        </p:nvSpPr>
        <p:spPr>
          <a:xfrm>
            <a:off x="64008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The phones that carry the payment belong to strangers.</a:t>
            </a:r>
            <a:endParaRPr lang="en-US" sz="1800" dirty="0"/>
          </a:p>
        </p:txBody>
      </p:sp>
      <p:sp>
        <p:nvSpPr>
          <p:cNvPr id="7" name="flow arrow"/>
          <p:cNvSpPr/>
          <p:nvPr/>
        </p:nvSpPr>
        <p:spPr>
          <a:xfrm>
            <a:off x="3081528" y="2788920"/>
            <a:ext cx="237744" cy="310896"/>
          </a:xfrm>
          <a:prstGeom prst="rightArrow">
            <a:avLst/>
          </a:prstGeom>
          <a:solidFill>
            <a:schemeClr val="accent5"/>
          </a:solidFill>
          <a:ln/>
        </p:spPr>
      </p:sp>
      <p:sp>
        <p:nvSpPr>
          <p:cNvPr id="8" name="card WHY IT MATTERS"/>
          <p:cNvSpPr/>
          <p:nvPr/>
        </p:nvSpPr>
        <p:spPr>
          <a:xfrm>
            <a:off x="3337560" y="1371600"/>
            <a:ext cx="2606040" cy="3154680"/>
          </a:xfrm>
          <a:prstGeom prst="roundRect">
            <a:avLst>
              <a:gd name="adj" fmla="val 4211"/>
            </a:avLst>
          </a:prstGeom>
          <a:solidFill>
            <a:srgbClr val="FBEBE3"/>
          </a:solidFill>
          <a:ln/>
        </p:spPr>
      </p:sp>
      <p:sp>
        <p:nvSpPr>
          <p:cNvPr id="9" name="Text 6"/>
          <p:cNvSpPr txBox="1"/>
          <p:nvPr/>
        </p:nvSpPr>
        <p:spPr>
          <a:xfrm>
            <a:off x="3520440" y="1554480"/>
            <a:ext cx="224028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WHY IT MATTERS</a:t>
            </a:r>
            <a:endParaRPr lang="en-US" sz="1400" dirty="0"/>
          </a:p>
        </p:txBody>
      </p:sp>
      <p:sp>
        <p:nvSpPr>
          <p:cNvPr id="10" name="Text 7"/>
          <p:cNvSpPr txBox="1"/>
          <p:nvPr/>
        </p:nvSpPr>
        <p:spPr>
          <a:xfrm>
            <a:off x="352044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A stranger could read the amount and names, or quietly change ₹500 into ₹5000.</a:t>
            </a:r>
            <a:endParaRPr lang="en-US" sz="1800" dirty="0"/>
          </a:p>
        </p:txBody>
      </p:sp>
      <p:sp>
        <p:nvSpPr>
          <p:cNvPr id="11" name="flow arrow"/>
          <p:cNvSpPr/>
          <p:nvPr/>
        </p:nvSpPr>
        <p:spPr>
          <a:xfrm>
            <a:off x="5961888" y="2788920"/>
            <a:ext cx="237744" cy="310896"/>
          </a:xfrm>
          <a:prstGeom prst="rightArrow">
            <a:avLst/>
          </a:prstGeom>
          <a:solidFill>
            <a:schemeClr val="accent5"/>
          </a:solidFill>
          <a:ln/>
        </p:spPr>
      </p:sp>
      <p:sp>
        <p:nvSpPr>
          <p:cNvPr id="12" name="card OUR IDEA"/>
          <p:cNvSpPr/>
          <p:nvPr/>
        </p:nvSpPr>
        <p:spPr>
          <a:xfrm>
            <a:off x="6217920" y="1371600"/>
            <a:ext cx="2606040" cy="3154680"/>
          </a:xfrm>
          <a:prstGeom prst="roundRect">
            <a:avLst>
              <a:gd name="adj" fmla="val 4211"/>
            </a:avLst>
          </a:prstGeom>
          <a:solidFill>
            <a:schemeClr val="bg2"/>
          </a:solidFill>
          <a:ln/>
        </p:spPr>
      </p:sp>
      <p:sp>
        <p:nvSpPr>
          <p:cNvPr id="13" name="Text 10"/>
          <p:cNvSpPr txBox="1"/>
          <p:nvPr/>
        </p:nvSpPr>
        <p:spPr>
          <a:xfrm>
            <a:off x="6400800" y="1554480"/>
            <a:ext cx="2240280" cy="320040"/>
          </a:xfrm>
          <a:prstGeom prst="rect">
            <a:avLst/>
          </a:prstGeom>
          <a:noFill/>
          <a:ln/>
        </p:spPr>
        <p:txBody>
          <a:bodyPr wrap="square" lIns="0" tIns="0" rIns="0" bIns="0"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OUR IDEA</a:t>
            </a:r>
            <a:endParaRPr lang="en-US" sz="1400" dirty="0"/>
          </a:p>
        </p:txBody>
      </p:sp>
      <p:sp>
        <p:nvSpPr>
          <p:cNvPr id="14" name="Text 11"/>
          <p:cNvSpPr txBox="1"/>
          <p:nvPr/>
        </p:nvSpPr>
        <p:spPr>
          <a:xfrm>
            <a:off x="640080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Seal the payment in a lock only the server can open. Any change breaks the seal.</a:t>
            </a:r>
            <a:endParaRPr lang="en-US" sz="1800" dirty="0"/>
          </a:p>
        </p:txBody>
      </p:sp>
      <p:sp>
        <p:nvSpPr>
          <p:cNvPr id="15" name="flow arrow"/>
          <p:cNvSpPr/>
          <p:nvPr/>
        </p:nvSpPr>
        <p:spPr>
          <a:xfrm>
            <a:off x="8842248" y="2788920"/>
            <a:ext cx="237744" cy="310896"/>
          </a:xfrm>
          <a:prstGeom prst="rightArrow">
            <a:avLst/>
          </a:prstGeom>
          <a:solidFill>
            <a:schemeClr val="accent5"/>
          </a:solidFill>
          <a:ln/>
        </p:spPr>
      </p:sp>
      <p:sp>
        <p:nvSpPr>
          <p:cNvPr id="16" name="card IN OUR PROJECT"/>
          <p:cNvSpPr/>
          <p:nvPr/>
        </p:nvSpPr>
        <p:spPr>
          <a:xfrm>
            <a:off x="9098280" y="1371600"/>
            <a:ext cx="2606040" cy="3154680"/>
          </a:xfrm>
          <a:prstGeom prst="roundRect">
            <a:avLst>
              <a:gd name="adj" fmla="val 4211"/>
            </a:avLst>
          </a:prstGeom>
          <a:solidFill>
            <a:srgbClr val="E3EAF6"/>
          </a:solidFill>
          <a:ln/>
        </p:spPr>
      </p:sp>
      <p:sp>
        <p:nvSpPr>
          <p:cNvPr id="17" name="Text 14"/>
          <p:cNvSpPr txBox="1"/>
          <p:nvPr/>
        </p:nvSpPr>
        <p:spPr>
          <a:xfrm>
            <a:off x="9281160" y="1554480"/>
            <a:ext cx="2240280" cy="320040"/>
          </a:xfrm>
          <a:prstGeom prst="rect">
            <a:avLst/>
          </a:prstGeom>
          <a:noFill/>
          <a:ln/>
        </p:spPr>
        <p:txBody>
          <a:bodyPr wrap="square" lIns="0" tIns="0" rIns="0" bIns="0" rtlCol="0" anchor="t"/>
          <a:lstStyle/>
          <a:p>
            <a:pPr algn="l" indent="0" marL="0">
              <a:buNone/>
            </a:pPr>
            <a:r>
              <a:rPr lang="en-US" sz="1400" b="1" dirty="0">
                <a:solidFill>
                  <a:schemeClr val="accent4"/>
                </a:solidFill>
                <a:latin typeface="Calibri" pitchFamily="34" charset="0"/>
                <a:ea typeface="Calibri" pitchFamily="34" charset="-122"/>
                <a:cs typeface="Calibri" pitchFamily="34" charset="-120"/>
              </a:rPr>
              <a:t>IN OUR PROJECT</a:t>
            </a:r>
            <a:endParaRPr lang="en-US" sz="1400" dirty="0"/>
          </a:p>
        </p:txBody>
      </p:sp>
      <p:sp>
        <p:nvSpPr>
          <p:cNvPr id="18" name="Text 15"/>
          <p:cNvSpPr txBox="1"/>
          <p:nvPr/>
        </p:nvSpPr>
        <p:spPr>
          <a:xfrm>
            <a:off x="928116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Hybrid encryption (RSA + AES-GCM). A tampered packet simply fails to open.</a:t>
            </a:r>
            <a:endParaRPr lang="en-US" sz="1800" dirty="0"/>
          </a:p>
        </p:txBody>
      </p:sp>
      <p:sp>
        <p:nvSpPr>
          <p:cNvPr id="19" name="analogy strip"/>
          <p:cNvSpPr/>
          <p:nvPr/>
        </p:nvSpPr>
        <p:spPr>
          <a:xfrm>
            <a:off x="457200" y="4754880"/>
            <a:ext cx="11274552" cy="1325880"/>
          </a:xfrm>
          <a:prstGeom prst="roundRect">
            <a:avLst>
              <a:gd name="adj" fmla="val 8276"/>
            </a:avLst>
          </a:prstGeom>
          <a:solidFill>
            <a:srgbClr val="FDF1DC"/>
          </a:solidFill>
          <a:ln/>
        </p:spPr>
      </p:sp>
      <p:sp>
        <p:nvSpPr>
          <p:cNvPr id="20" name="idea circle"/>
          <p:cNvSpPr/>
          <p:nvPr/>
        </p:nvSpPr>
        <p:spPr>
          <a:xfrm>
            <a:off x="685800" y="5029200"/>
            <a:ext cx="777240" cy="777240"/>
          </a:xfrm>
          <a:prstGeom prst="ellipse">
            <a:avLst/>
          </a:prstGeom>
          <a:solidFill>
            <a:schemeClr val="accent2"/>
          </a:solidFill>
          <a:ln/>
        </p:spPr>
      </p:sp>
      <p:pic>
        <p:nvPicPr>
          <p:cNvPr id="21" name="Image 0" descr="idea">    </p:cNvPr>
          <p:cNvPicPr>
            <a:picLocks noChangeAspect="1"/>
          </p:cNvPicPr>
          <p:nvPr/>
        </p:nvPicPr>
        <p:blipFill>
          <a:blip r:embed="rId1"/>
          <a:stretch>
            <a:fillRect/>
          </a:stretch>
        </p:blipFill>
        <p:spPr>
          <a:xfrm>
            <a:off x="856793" y="5200193"/>
            <a:ext cx="435254" cy="435254"/>
          </a:xfrm>
          <a:prstGeom prst="rect">
            <a:avLst/>
          </a:prstGeom>
        </p:spPr>
      </p:pic>
      <p:sp>
        <p:nvSpPr>
          <p:cNvPr id="22" name="Text 18"/>
          <p:cNvSpPr txBox="1"/>
          <p:nvPr/>
        </p:nvSpPr>
        <p:spPr>
          <a:xfrm>
            <a:off x="1737360" y="4937760"/>
            <a:ext cx="548640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A real-life picture</a:t>
            </a:r>
            <a:endParaRPr lang="en-US" sz="1400" dirty="0"/>
          </a:p>
        </p:txBody>
      </p:sp>
      <p:sp>
        <p:nvSpPr>
          <p:cNvPr id="23" name="Text 19"/>
          <p:cNvSpPr txBox="1"/>
          <p:nvPr/>
        </p:nvSpPr>
        <p:spPr>
          <a:xfrm>
            <a:off x="1737360" y="5303520"/>
            <a:ext cx="9784080" cy="68580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A padlock anyone can snap shut, but only the bank holds the key to open it. Tamper with the box and the seal shows it.</a:t>
            </a:r>
            <a:endParaRPr lang="en-US" sz="18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Problem 3: The same payment arrives many times</a:t>
            </a:r>
            <a:endParaRPr lang="en-US" sz="3400" dirty="0"/>
          </a:p>
        </p:txBody>
      </p:sp>
      <p:sp>
        <p:nvSpPr>
          <p:cNvPr id="4" name="card THE PROBLEM"/>
          <p:cNvSpPr/>
          <p:nvPr/>
        </p:nvSpPr>
        <p:spPr>
          <a:xfrm>
            <a:off x="457200" y="1371600"/>
            <a:ext cx="2606040" cy="3154680"/>
          </a:xfrm>
          <a:prstGeom prst="roundRect">
            <a:avLst>
              <a:gd name="adj" fmla="val 4211"/>
            </a:avLst>
          </a:prstGeom>
          <a:solidFill>
            <a:srgbClr val="FBEBE3"/>
          </a:solidFill>
          <a:ln/>
        </p:spPr>
      </p:sp>
      <p:sp>
        <p:nvSpPr>
          <p:cNvPr id="5" name="Text 2"/>
          <p:cNvSpPr txBox="1"/>
          <p:nvPr/>
        </p:nvSpPr>
        <p:spPr>
          <a:xfrm>
            <a:off x="640080" y="1554480"/>
            <a:ext cx="224028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THE PROBLEM</a:t>
            </a:r>
            <a:endParaRPr lang="en-US" sz="1400" dirty="0"/>
          </a:p>
        </p:txBody>
      </p:sp>
      <p:sp>
        <p:nvSpPr>
          <p:cNvPr id="6" name="Text 3"/>
          <p:cNvSpPr txBox="1"/>
          <p:nvPr/>
        </p:nvSpPr>
        <p:spPr>
          <a:xfrm>
            <a:off x="64008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Many phones hold copies of the same payment. Several may reach internet at the same moment.</a:t>
            </a:r>
            <a:endParaRPr lang="en-US" sz="1800" dirty="0"/>
          </a:p>
        </p:txBody>
      </p:sp>
      <p:sp>
        <p:nvSpPr>
          <p:cNvPr id="7" name="flow arrow"/>
          <p:cNvSpPr/>
          <p:nvPr/>
        </p:nvSpPr>
        <p:spPr>
          <a:xfrm>
            <a:off x="3081528" y="2788920"/>
            <a:ext cx="237744" cy="310896"/>
          </a:xfrm>
          <a:prstGeom prst="rightArrow">
            <a:avLst/>
          </a:prstGeom>
          <a:solidFill>
            <a:schemeClr val="accent5"/>
          </a:solidFill>
          <a:ln/>
        </p:spPr>
      </p:sp>
      <p:sp>
        <p:nvSpPr>
          <p:cNvPr id="8" name="card WHY IT MATTERS"/>
          <p:cNvSpPr/>
          <p:nvPr/>
        </p:nvSpPr>
        <p:spPr>
          <a:xfrm>
            <a:off x="3337560" y="1371600"/>
            <a:ext cx="2606040" cy="3154680"/>
          </a:xfrm>
          <a:prstGeom prst="roundRect">
            <a:avLst>
              <a:gd name="adj" fmla="val 4211"/>
            </a:avLst>
          </a:prstGeom>
          <a:solidFill>
            <a:srgbClr val="FBEBE3"/>
          </a:solidFill>
          <a:ln/>
        </p:spPr>
      </p:sp>
      <p:sp>
        <p:nvSpPr>
          <p:cNvPr id="9" name="Text 6"/>
          <p:cNvSpPr txBox="1"/>
          <p:nvPr/>
        </p:nvSpPr>
        <p:spPr>
          <a:xfrm>
            <a:off x="3520440" y="1554480"/>
            <a:ext cx="224028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WHY IT MATTERS</a:t>
            </a:r>
            <a:endParaRPr lang="en-US" sz="1400" dirty="0"/>
          </a:p>
        </p:txBody>
      </p:sp>
      <p:sp>
        <p:nvSpPr>
          <p:cNvPr id="10" name="Text 7"/>
          <p:cNvSpPr txBox="1"/>
          <p:nvPr/>
        </p:nvSpPr>
        <p:spPr>
          <a:xfrm>
            <a:off x="352044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Without a guard, Alice could be charged ₹100 three times instead of once.</a:t>
            </a:r>
            <a:endParaRPr lang="en-US" sz="1800" dirty="0"/>
          </a:p>
        </p:txBody>
      </p:sp>
      <p:sp>
        <p:nvSpPr>
          <p:cNvPr id="11" name="flow arrow"/>
          <p:cNvSpPr/>
          <p:nvPr/>
        </p:nvSpPr>
        <p:spPr>
          <a:xfrm>
            <a:off x="5961888" y="2788920"/>
            <a:ext cx="237744" cy="310896"/>
          </a:xfrm>
          <a:prstGeom prst="rightArrow">
            <a:avLst/>
          </a:prstGeom>
          <a:solidFill>
            <a:schemeClr val="accent5"/>
          </a:solidFill>
          <a:ln/>
        </p:spPr>
      </p:sp>
      <p:sp>
        <p:nvSpPr>
          <p:cNvPr id="12" name="card OUR IDEA"/>
          <p:cNvSpPr/>
          <p:nvPr/>
        </p:nvSpPr>
        <p:spPr>
          <a:xfrm>
            <a:off x="6217920" y="1371600"/>
            <a:ext cx="2606040" cy="3154680"/>
          </a:xfrm>
          <a:prstGeom prst="roundRect">
            <a:avLst>
              <a:gd name="adj" fmla="val 4211"/>
            </a:avLst>
          </a:prstGeom>
          <a:solidFill>
            <a:schemeClr val="bg2"/>
          </a:solidFill>
          <a:ln/>
        </p:spPr>
      </p:sp>
      <p:sp>
        <p:nvSpPr>
          <p:cNvPr id="13" name="Text 10"/>
          <p:cNvSpPr txBox="1"/>
          <p:nvPr/>
        </p:nvSpPr>
        <p:spPr>
          <a:xfrm>
            <a:off x="6400800" y="1554480"/>
            <a:ext cx="2240280" cy="320040"/>
          </a:xfrm>
          <a:prstGeom prst="rect">
            <a:avLst/>
          </a:prstGeom>
          <a:noFill/>
          <a:ln/>
        </p:spPr>
        <p:txBody>
          <a:bodyPr wrap="square" lIns="0" tIns="0" rIns="0" bIns="0"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OUR IDEA</a:t>
            </a:r>
            <a:endParaRPr lang="en-US" sz="1400" dirty="0"/>
          </a:p>
        </p:txBody>
      </p:sp>
      <p:sp>
        <p:nvSpPr>
          <p:cNvPr id="14" name="Text 11"/>
          <p:cNvSpPr txBox="1"/>
          <p:nvPr/>
        </p:nvSpPr>
        <p:spPr>
          <a:xfrm>
            <a:off x="640080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Give each payment a fingerprint. The first copy wins; later copies are turned away.</a:t>
            </a:r>
            <a:endParaRPr lang="en-US" sz="1800" dirty="0"/>
          </a:p>
        </p:txBody>
      </p:sp>
      <p:sp>
        <p:nvSpPr>
          <p:cNvPr id="15" name="flow arrow"/>
          <p:cNvSpPr/>
          <p:nvPr/>
        </p:nvSpPr>
        <p:spPr>
          <a:xfrm>
            <a:off x="8842248" y="2788920"/>
            <a:ext cx="237744" cy="310896"/>
          </a:xfrm>
          <a:prstGeom prst="rightArrow">
            <a:avLst/>
          </a:prstGeom>
          <a:solidFill>
            <a:schemeClr val="accent5"/>
          </a:solidFill>
          <a:ln/>
        </p:spPr>
      </p:sp>
      <p:sp>
        <p:nvSpPr>
          <p:cNvPr id="16" name="card IN OUR PROJECT"/>
          <p:cNvSpPr/>
          <p:nvPr/>
        </p:nvSpPr>
        <p:spPr>
          <a:xfrm>
            <a:off x="9098280" y="1371600"/>
            <a:ext cx="2606040" cy="3154680"/>
          </a:xfrm>
          <a:prstGeom prst="roundRect">
            <a:avLst>
              <a:gd name="adj" fmla="val 4211"/>
            </a:avLst>
          </a:prstGeom>
          <a:solidFill>
            <a:srgbClr val="E3EAF6"/>
          </a:solidFill>
          <a:ln/>
        </p:spPr>
      </p:sp>
      <p:sp>
        <p:nvSpPr>
          <p:cNvPr id="17" name="Text 14"/>
          <p:cNvSpPr txBox="1"/>
          <p:nvPr/>
        </p:nvSpPr>
        <p:spPr>
          <a:xfrm>
            <a:off x="9281160" y="1554480"/>
            <a:ext cx="2240280" cy="320040"/>
          </a:xfrm>
          <a:prstGeom prst="rect">
            <a:avLst/>
          </a:prstGeom>
          <a:noFill/>
          <a:ln/>
        </p:spPr>
        <p:txBody>
          <a:bodyPr wrap="square" lIns="0" tIns="0" rIns="0" bIns="0" rtlCol="0" anchor="t"/>
          <a:lstStyle/>
          <a:p>
            <a:pPr algn="l" indent="0" marL="0">
              <a:buNone/>
            </a:pPr>
            <a:r>
              <a:rPr lang="en-US" sz="1400" b="1" dirty="0">
                <a:solidFill>
                  <a:schemeClr val="accent4"/>
                </a:solidFill>
                <a:latin typeface="Calibri" pitchFamily="34" charset="0"/>
                <a:ea typeface="Calibri" pitchFamily="34" charset="-122"/>
                <a:cs typeface="Calibri" pitchFamily="34" charset="-120"/>
              </a:rPr>
              <a:t>IN OUR PROJECT</a:t>
            </a:r>
            <a:endParaRPr lang="en-US" sz="1400" dirty="0"/>
          </a:p>
        </p:txBody>
      </p:sp>
      <p:sp>
        <p:nvSpPr>
          <p:cNvPr id="18" name="Text 15"/>
          <p:cNvSpPr txBox="1"/>
          <p:nvPr/>
        </p:nvSpPr>
        <p:spPr>
          <a:xfrm>
            <a:off x="928116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Idempotency: the packet's SHA-256 fingerprint is claimed in one atomic step (putIfAbsent).</a:t>
            </a:r>
            <a:endParaRPr lang="en-US" sz="1800" dirty="0"/>
          </a:p>
        </p:txBody>
      </p:sp>
      <p:sp>
        <p:nvSpPr>
          <p:cNvPr id="19" name="analogy strip"/>
          <p:cNvSpPr/>
          <p:nvPr/>
        </p:nvSpPr>
        <p:spPr>
          <a:xfrm>
            <a:off x="457200" y="4754880"/>
            <a:ext cx="11274552" cy="1325880"/>
          </a:xfrm>
          <a:prstGeom prst="roundRect">
            <a:avLst>
              <a:gd name="adj" fmla="val 8276"/>
            </a:avLst>
          </a:prstGeom>
          <a:solidFill>
            <a:srgbClr val="FDF1DC"/>
          </a:solidFill>
          <a:ln/>
        </p:spPr>
      </p:sp>
      <p:sp>
        <p:nvSpPr>
          <p:cNvPr id="20" name="idea circle"/>
          <p:cNvSpPr/>
          <p:nvPr/>
        </p:nvSpPr>
        <p:spPr>
          <a:xfrm>
            <a:off x="685800" y="5029200"/>
            <a:ext cx="777240" cy="777240"/>
          </a:xfrm>
          <a:prstGeom prst="ellipse">
            <a:avLst/>
          </a:prstGeom>
          <a:solidFill>
            <a:schemeClr val="accent2"/>
          </a:solidFill>
          <a:ln/>
        </p:spPr>
      </p:sp>
      <p:pic>
        <p:nvPicPr>
          <p:cNvPr id="21" name="Image 0" descr="idea">    </p:cNvPr>
          <p:cNvPicPr>
            <a:picLocks noChangeAspect="1"/>
          </p:cNvPicPr>
          <p:nvPr/>
        </p:nvPicPr>
        <p:blipFill>
          <a:blip r:embed="rId1"/>
          <a:stretch>
            <a:fillRect/>
          </a:stretch>
        </p:blipFill>
        <p:spPr>
          <a:xfrm>
            <a:off x="856793" y="5200193"/>
            <a:ext cx="435254" cy="435254"/>
          </a:xfrm>
          <a:prstGeom prst="rect">
            <a:avLst/>
          </a:prstGeom>
        </p:spPr>
      </p:pic>
      <p:sp>
        <p:nvSpPr>
          <p:cNvPr id="22" name="Text 18"/>
          <p:cNvSpPr txBox="1"/>
          <p:nvPr/>
        </p:nvSpPr>
        <p:spPr>
          <a:xfrm>
            <a:off x="1737360" y="4937760"/>
            <a:ext cx="548640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A real-life picture</a:t>
            </a:r>
            <a:endParaRPr lang="en-US" sz="1400" dirty="0"/>
          </a:p>
        </p:txBody>
      </p:sp>
      <p:sp>
        <p:nvSpPr>
          <p:cNvPr id="23" name="Text 19"/>
          <p:cNvSpPr txBox="1"/>
          <p:nvPr/>
        </p:nvSpPr>
        <p:spPr>
          <a:xfrm>
            <a:off x="1737360" y="5303520"/>
            <a:ext cx="9784080" cy="68580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A cinema ticket has one serial number. Once it is scanned, a photocopy of it is refused at the door.</a:t>
            </a:r>
            <a:endParaRPr lang="en-US" sz="18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Problem 4: Money must move correctly</a:t>
            </a:r>
            <a:endParaRPr lang="en-US" sz="3400" dirty="0"/>
          </a:p>
        </p:txBody>
      </p:sp>
      <p:sp>
        <p:nvSpPr>
          <p:cNvPr id="4" name="card THE PROBLEM"/>
          <p:cNvSpPr/>
          <p:nvPr/>
        </p:nvSpPr>
        <p:spPr>
          <a:xfrm>
            <a:off x="457200" y="1371600"/>
            <a:ext cx="2606040" cy="3154680"/>
          </a:xfrm>
          <a:prstGeom prst="roundRect">
            <a:avLst>
              <a:gd name="adj" fmla="val 4211"/>
            </a:avLst>
          </a:prstGeom>
          <a:solidFill>
            <a:srgbClr val="FBEBE3"/>
          </a:solidFill>
          <a:ln/>
        </p:spPr>
      </p:sp>
      <p:sp>
        <p:nvSpPr>
          <p:cNvPr id="5" name="Text 2"/>
          <p:cNvSpPr txBox="1"/>
          <p:nvPr/>
        </p:nvSpPr>
        <p:spPr>
          <a:xfrm>
            <a:off x="640080" y="1554480"/>
            <a:ext cx="224028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THE PROBLEM</a:t>
            </a:r>
            <a:endParaRPr lang="en-US" sz="1400" dirty="0"/>
          </a:p>
        </p:txBody>
      </p:sp>
      <p:sp>
        <p:nvSpPr>
          <p:cNvPr id="6" name="Text 3"/>
          <p:cNvSpPr txBox="1"/>
          <p:nvPr/>
        </p:nvSpPr>
        <p:spPr>
          <a:xfrm>
            <a:off x="64008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Paying means taking money from Alice and giving it to Bob.</a:t>
            </a:r>
            <a:endParaRPr lang="en-US" sz="1800" dirty="0"/>
          </a:p>
        </p:txBody>
      </p:sp>
      <p:sp>
        <p:nvSpPr>
          <p:cNvPr id="7" name="flow arrow"/>
          <p:cNvSpPr/>
          <p:nvPr/>
        </p:nvSpPr>
        <p:spPr>
          <a:xfrm>
            <a:off x="3081528" y="2788920"/>
            <a:ext cx="237744" cy="310896"/>
          </a:xfrm>
          <a:prstGeom prst="rightArrow">
            <a:avLst/>
          </a:prstGeom>
          <a:solidFill>
            <a:schemeClr val="accent5"/>
          </a:solidFill>
          <a:ln/>
        </p:spPr>
      </p:sp>
      <p:sp>
        <p:nvSpPr>
          <p:cNvPr id="8" name="card WHY IT MATTERS"/>
          <p:cNvSpPr/>
          <p:nvPr/>
        </p:nvSpPr>
        <p:spPr>
          <a:xfrm>
            <a:off x="3337560" y="1371600"/>
            <a:ext cx="2606040" cy="3154680"/>
          </a:xfrm>
          <a:prstGeom prst="roundRect">
            <a:avLst>
              <a:gd name="adj" fmla="val 4211"/>
            </a:avLst>
          </a:prstGeom>
          <a:solidFill>
            <a:srgbClr val="FBEBE3"/>
          </a:solidFill>
          <a:ln/>
        </p:spPr>
      </p:sp>
      <p:sp>
        <p:nvSpPr>
          <p:cNvPr id="9" name="Text 6"/>
          <p:cNvSpPr txBox="1"/>
          <p:nvPr/>
        </p:nvSpPr>
        <p:spPr>
          <a:xfrm>
            <a:off x="3520440" y="1554480"/>
            <a:ext cx="224028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WHY IT MATTERS</a:t>
            </a:r>
            <a:endParaRPr lang="en-US" sz="1400" dirty="0"/>
          </a:p>
        </p:txBody>
      </p:sp>
      <p:sp>
        <p:nvSpPr>
          <p:cNvPr id="10" name="Text 7"/>
          <p:cNvSpPr txBox="1"/>
          <p:nvPr/>
        </p:nvSpPr>
        <p:spPr>
          <a:xfrm>
            <a:off x="352044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A crash halfway loses money. An old copied packet could be replayed. Two updates could overwrite each other.</a:t>
            </a:r>
            <a:endParaRPr lang="en-US" sz="1800" dirty="0"/>
          </a:p>
        </p:txBody>
      </p:sp>
      <p:sp>
        <p:nvSpPr>
          <p:cNvPr id="11" name="flow arrow"/>
          <p:cNvSpPr/>
          <p:nvPr/>
        </p:nvSpPr>
        <p:spPr>
          <a:xfrm>
            <a:off x="5961888" y="2788920"/>
            <a:ext cx="237744" cy="310896"/>
          </a:xfrm>
          <a:prstGeom prst="rightArrow">
            <a:avLst/>
          </a:prstGeom>
          <a:solidFill>
            <a:schemeClr val="accent5"/>
          </a:solidFill>
          <a:ln/>
        </p:spPr>
      </p:sp>
      <p:sp>
        <p:nvSpPr>
          <p:cNvPr id="12" name="card OUR IDEA"/>
          <p:cNvSpPr/>
          <p:nvPr/>
        </p:nvSpPr>
        <p:spPr>
          <a:xfrm>
            <a:off x="6217920" y="1371600"/>
            <a:ext cx="2606040" cy="3154680"/>
          </a:xfrm>
          <a:prstGeom prst="roundRect">
            <a:avLst>
              <a:gd name="adj" fmla="val 4211"/>
            </a:avLst>
          </a:prstGeom>
          <a:solidFill>
            <a:schemeClr val="bg2"/>
          </a:solidFill>
          <a:ln/>
        </p:spPr>
      </p:sp>
      <p:sp>
        <p:nvSpPr>
          <p:cNvPr id="13" name="Text 10"/>
          <p:cNvSpPr txBox="1"/>
          <p:nvPr/>
        </p:nvSpPr>
        <p:spPr>
          <a:xfrm>
            <a:off x="6400800" y="1554480"/>
            <a:ext cx="2240280" cy="320040"/>
          </a:xfrm>
          <a:prstGeom prst="rect">
            <a:avLst/>
          </a:prstGeom>
          <a:noFill/>
          <a:ln/>
        </p:spPr>
        <p:txBody>
          <a:bodyPr wrap="square" lIns="0" tIns="0" rIns="0" bIns="0"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OUR IDEA</a:t>
            </a:r>
            <a:endParaRPr lang="en-US" sz="1400" dirty="0"/>
          </a:p>
        </p:txBody>
      </p:sp>
      <p:sp>
        <p:nvSpPr>
          <p:cNvPr id="14" name="Text 11"/>
          <p:cNvSpPr txBox="1"/>
          <p:nvPr/>
        </p:nvSpPr>
        <p:spPr>
          <a:xfrm>
            <a:off x="640080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Do both steps as one unit, check the packet is recent, and use a version number to catch clashes.</a:t>
            </a:r>
            <a:endParaRPr lang="en-US" sz="1800" dirty="0"/>
          </a:p>
        </p:txBody>
      </p:sp>
      <p:sp>
        <p:nvSpPr>
          <p:cNvPr id="15" name="flow arrow"/>
          <p:cNvSpPr/>
          <p:nvPr/>
        </p:nvSpPr>
        <p:spPr>
          <a:xfrm>
            <a:off x="8842248" y="2788920"/>
            <a:ext cx="237744" cy="310896"/>
          </a:xfrm>
          <a:prstGeom prst="rightArrow">
            <a:avLst/>
          </a:prstGeom>
          <a:solidFill>
            <a:schemeClr val="accent5"/>
          </a:solidFill>
          <a:ln/>
        </p:spPr>
      </p:sp>
      <p:sp>
        <p:nvSpPr>
          <p:cNvPr id="16" name="card IN OUR PROJECT"/>
          <p:cNvSpPr/>
          <p:nvPr/>
        </p:nvSpPr>
        <p:spPr>
          <a:xfrm>
            <a:off x="9098280" y="1371600"/>
            <a:ext cx="2606040" cy="3154680"/>
          </a:xfrm>
          <a:prstGeom prst="roundRect">
            <a:avLst>
              <a:gd name="adj" fmla="val 4211"/>
            </a:avLst>
          </a:prstGeom>
          <a:solidFill>
            <a:srgbClr val="E3EAF6"/>
          </a:solidFill>
          <a:ln/>
        </p:spPr>
      </p:sp>
      <p:sp>
        <p:nvSpPr>
          <p:cNvPr id="17" name="Text 14"/>
          <p:cNvSpPr txBox="1"/>
          <p:nvPr/>
        </p:nvSpPr>
        <p:spPr>
          <a:xfrm>
            <a:off x="9281160" y="1554480"/>
            <a:ext cx="2240280" cy="320040"/>
          </a:xfrm>
          <a:prstGeom prst="rect">
            <a:avLst/>
          </a:prstGeom>
          <a:noFill/>
          <a:ln/>
        </p:spPr>
        <p:txBody>
          <a:bodyPr wrap="square" lIns="0" tIns="0" rIns="0" bIns="0" rtlCol="0" anchor="t"/>
          <a:lstStyle/>
          <a:p>
            <a:pPr algn="l" indent="0" marL="0">
              <a:buNone/>
            </a:pPr>
            <a:r>
              <a:rPr lang="en-US" sz="1400" b="1" dirty="0">
                <a:solidFill>
                  <a:schemeClr val="accent4"/>
                </a:solidFill>
                <a:latin typeface="Calibri" pitchFamily="34" charset="0"/>
                <a:ea typeface="Calibri" pitchFamily="34" charset="-122"/>
                <a:cs typeface="Calibri" pitchFamily="34" charset="-120"/>
              </a:rPr>
              <a:t>IN OUR PROJECT</a:t>
            </a:r>
            <a:endParaRPr lang="en-US" sz="1400" dirty="0"/>
          </a:p>
        </p:txBody>
      </p:sp>
      <p:sp>
        <p:nvSpPr>
          <p:cNvPr id="18" name="Text 15"/>
          <p:cNvSpPr txBox="1"/>
          <p:nvPr/>
        </p:nvSpPr>
        <p:spPr>
          <a:xfrm>
            <a:off x="9281160" y="1965960"/>
            <a:ext cx="2240280" cy="246888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@Transactional settlement, 24-hour freshness check, @Version on Account, balance check.</a:t>
            </a:r>
            <a:endParaRPr lang="en-US" sz="1800" dirty="0"/>
          </a:p>
        </p:txBody>
      </p:sp>
      <p:sp>
        <p:nvSpPr>
          <p:cNvPr id="19" name="analogy strip"/>
          <p:cNvSpPr/>
          <p:nvPr/>
        </p:nvSpPr>
        <p:spPr>
          <a:xfrm>
            <a:off x="457200" y="4754880"/>
            <a:ext cx="11274552" cy="1325880"/>
          </a:xfrm>
          <a:prstGeom prst="roundRect">
            <a:avLst>
              <a:gd name="adj" fmla="val 8276"/>
            </a:avLst>
          </a:prstGeom>
          <a:solidFill>
            <a:srgbClr val="FDF1DC"/>
          </a:solidFill>
          <a:ln/>
        </p:spPr>
      </p:sp>
      <p:sp>
        <p:nvSpPr>
          <p:cNvPr id="20" name="idea circle"/>
          <p:cNvSpPr/>
          <p:nvPr/>
        </p:nvSpPr>
        <p:spPr>
          <a:xfrm>
            <a:off x="685800" y="5029200"/>
            <a:ext cx="777240" cy="777240"/>
          </a:xfrm>
          <a:prstGeom prst="ellipse">
            <a:avLst/>
          </a:prstGeom>
          <a:solidFill>
            <a:schemeClr val="accent2"/>
          </a:solidFill>
          <a:ln/>
        </p:spPr>
      </p:sp>
      <p:pic>
        <p:nvPicPr>
          <p:cNvPr id="21" name="Image 0" descr="idea">    </p:cNvPr>
          <p:cNvPicPr>
            <a:picLocks noChangeAspect="1"/>
          </p:cNvPicPr>
          <p:nvPr/>
        </p:nvPicPr>
        <p:blipFill>
          <a:blip r:embed="rId1"/>
          <a:stretch>
            <a:fillRect/>
          </a:stretch>
        </p:blipFill>
        <p:spPr>
          <a:xfrm>
            <a:off x="856793" y="5200193"/>
            <a:ext cx="435254" cy="435254"/>
          </a:xfrm>
          <a:prstGeom prst="rect">
            <a:avLst/>
          </a:prstGeom>
        </p:spPr>
      </p:pic>
      <p:sp>
        <p:nvSpPr>
          <p:cNvPr id="22" name="Text 18"/>
          <p:cNvSpPr txBox="1"/>
          <p:nvPr/>
        </p:nvSpPr>
        <p:spPr>
          <a:xfrm>
            <a:off x="1737360" y="4937760"/>
            <a:ext cx="548640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A real-life picture</a:t>
            </a:r>
            <a:endParaRPr lang="en-US" sz="1400" dirty="0"/>
          </a:p>
        </p:txBody>
      </p:sp>
      <p:sp>
        <p:nvSpPr>
          <p:cNvPr id="23" name="Text 19"/>
          <p:cNvSpPr txBox="1"/>
          <p:nvPr/>
        </p:nvSpPr>
        <p:spPr>
          <a:xfrm>
            <a:off x="1737360" y="5303520"/>
            <a:ext cx="9784080" cy="685800"/>
          </a:xfrm>
          <a:prstGeom prst="rect">
            <a:avLst/>
          </a:prstGeom>
          <a:noFill/>
          <a:ln/>
        </p:spPr>
        <p:txBody>
          <a:bodyPr wrap="square" lIns="0" tIns="0" rIns="0" bIns="0" rtlCol="0" anchor="t"/>
          <a:lstStyle/>
          <a:p>
            <a:pPr algn="l" indent="0" marL="0">
              <a:buNone/>
            </a:pPr>
            <a:r>
              <a:rPr lang="en-US" sz="1800" dirty="0">
                <a:solidFill>
                  <a:schemeClr val="tx1"/>
                </a:solidFill>
                <a:latin typeface="Calibri" pitchFamily="34" charset="0"/>
                <a:ea typeface="Calibri" pitchFamily="34" charset="-122"/>
                <a:cs typeface="Calibri" pitchFamily="34" charset="-120"/>
              </a:rPr>
              <a:t>Moving cash between two lockers: both moves happen, or neither. A cheque dated last month? Rejected.</a:t>
            </a:r>
            <a:endParaRPr lang="en-US" sz="18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Our approach: one tool for each problem</a:t>
            </a:r>
            <a:endParaRPr lang="en-US" sz="3400" dirty="0"/>
          </a:p>
        </p:txBody>
      </p:sp>
      <p:sp>
        <p:nvSpPr>
          <p:cNvPr id="4" name="Text 1"/>
          <p:cNvSpPr txBox="1"/>
          <p:nvPr/>
        </p:nvSpPr>
        <p:spPr>
          <a:xfrm>
            <a:off x="1463040" y="1280160"/>
            <a:ext cx="256032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PROBLEM</a:t>
            </a:r>
            <a:endParaRPr lang="en-US" sz="1400" dirty="0"/>
          </a:p>
        </p:txBody>
      </p:sp>
      <p:sp>
        <p:nvSpPr>
          <p:cNvPr id="5" name="Text 2"/>
          <p:cNvSpPr txBox="1"/>
          <p:nvPr/>
        </p:nvSpPr>
        <p:spPr>
          <a:xfrm>
            <a:off x="4572000" y="1280160"/>
            <a:ext cx="3200400" cy="320040"/>
          </a:xfrm>
          <a:prstGeom prst="rect">
            <a:avLst/>
          </a:prstGeom>
          <a:noFill/>
          <a:ln/>
        </p:spPr>
        <p:txBody>
          <a:bodyPr wrap="square" lIns="0" tIns="0" rIns="0" bIns="0"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OUR MECHANISM</a:t>
            </a:r>
            <a:endParaRPr lang="en-US" sz="1400" dirty="0"/>
          </a:p>
        </p:txBody>
      </p:sp>
      <p:sp>
        <p:nvSpPr>
          <p:cNvPr id="6" name="Text 3"/>
          <p:cNvSpPr txBox="1"/>
          <p:nvPr/>
        </p:nvSpPr>
        <p:spPr>
          <a:xfrm>
            <a:off x="8412480" y="1280160"/>
            <a:ext cx="3200400" cy="320040"/>
          </a:xfrm>
          <a:prstGeom prst="rect">
            <a:avLst/>
          </a:prstGeom>
          <a:noFill/>
          <a:ln/>
        </p:spPr>
        <p:txBody>
          <a:bodyPr wrap="square" lIns="0" tIns="0" rIns="0" bIns="0" rtlCol="0" anchor="t"/>
          <a:lstStyle/>
          <a:p>
            <a:pPr algn="l" indent="0" marL="0">
              <a:buNone/>
            </a:pPr>
            <a:r>
              <a:rPr lang="en-US" sz="1400" b="1" dirty="0">
                <a:solidFill>
                  <a:schemeClr val="accent4"/>
                </a:solidFill>
                <a:latin typeface="Calibri" pitchFamily="34" charset="0"/>
                <a:ea typeface="Calibri" pitchFamily="34" charset="-122"/>
                <a:cs typeface="Calibri" pitchFamily="34" charset="-120"/>
              </a:rPr>
              <a:t>WHERE IN THE CODE</a:t>
            </a:r>
            <a:endParaRPr lang="en-US" sz="1400" dirty="0"/>
          </a:p>
        </p:txBody>
      </p:sp>
      <p:sp>
        <p:nvSpPr>
          <p:cNvPr id="7" name="row 0"/>
          <p:cNvSpPr/>
          <p:nvPr/>
        </p:nvSpPr>
        <p:spPr>
          <a:xfrm>
            <a:off x="457200" y="1691640"/>
            <a:ext cx="11274552" cy="896112"/>
          </a:xfrm>
          <a:prstGeom prst="roundRect">
            <a:avLst>
              <a:gd name="adj" fmla="val 12245"/>
            </a:avLst>
          </a:prstGeom>
          <a:solidFill>
            <a:srgbClr val="F4F8F7"/>
          </a:solidFill>
          <a:ln/>
        </p:spPr>
      </p:sp>
      <p:sp>
        <p:nvSpPr>
          <p:cNvPr id="8" name="No internet circle"/>
          <p:cNvSpPr/>
          <p:nvPr/>
        </p:nvSpPr>
        <p:spPr>
          <a:xfrm>
            <a:off x="594360" y="1810512"/>
            <a:ext cx="676656" cy="676656"/>
          </a:xfrm>
          <a:prstGeom prst="ellipse">
            <a:avLst/>
          </a:prstGeom>
          <a:solidFill>
            <a:schemeClr val="accent3"/>
          </a:solidFill>
          <a:ln/>
        </p:spPr>
      </p:sp>
      <p:pic>
        <p:nvPicPr>
          <p:cNvPr id="9" name="Image 0" descr="No internet">    </p:cNvPr>
          <p:cNvPicPr>
            <a:picLocks noChangeAspect="1"/>
          </p:cNvPicPr>
          <p:nvPr/>
        </p:nvPicPr>
        <p:blipFill>
          <a:blip r:embed="rId1"/>
          <a:stretch>
            <a:fillRect/>
          </a:stretch>
        </p:blipFill>
        <p:spPr>
          <a:xfrm>
            <a:off x="743224" y="1959376"/>
            <a:ext cx="378927" cy="378927"/>
          </a:xfrm>
          <a:prstGeom prst="rect">
            <a:avLst/>
          </a:prstGeom>
        </p:spPr>
      </p:pic>
      <p:sp>
        <p:nvSpPr>
          <p:cNvPr id="10" name="Text 6"/>
          <p:cNvSpPr txBox="1"/>
          <p:nvPr/>
        </p:nvSpPr>
        <p:spPr>
          <a:xfrm>
            <a:off x="1463040" y="1691640"/>
            <a:ext cx="2651760" cy="914400"/>
          </a:xfrm>
          <a:prstGeom prst="rect">
            <a:avLst/>
          </a:prstGeom>
          <a:noFill/>
          <a:ln/>
        </p:spPr>
        <p:txBody>
          <a:bodyPr wrap="square" lIns="0" tIns="0" rIns="0" bIns="0" rtlCol="0" anchor="ctr"/>
          <a:lstStyle/>
          <a:p>
            <a:pPr algn="l" indent="0" marL="0">
              <a:buNone/>
            </a:pPr>
            <a:r>
              <a:rPr lang="en-US" sz="1800" b="1" dirty="0">
                <a:solidFill>
                  <a:schemeClr val="tx1"/>
                </a:solidFill>
                <a:latin typeface="Calibri" pitchFamily="34" charset="0"/>
                <a:ea typeface="Calibri" pitchFamily="34" charset="-122"/>
                <a:cs typeface="Calibri" pitchFamily="34" charset="-120"/>
              </a:rPr>
              <a:t>No internet</a:t>
            </a:r>
            <a:endParaRPr lang="en-US" sz="1800" dirty="0"/>
          </a:p>
        </p:txBody>
      </p:sp>
      <p:sp>
        <p:nvSpPr>
          <p:cNvPr id="11" name="arrow"/>
          <p:cNvSpPr/>
          <p:nvPr/>
        </p:nvSpPr>
        <p:spPr>
          <a:xfrm>
            <a:off x="4069080" y="2148840"/>
            <a:ext cx="411480" cy="0"/>
          </a:xfrm>
          <a:prstGeom prst="line">
            <a:avLst/>
          </a:prstGeom>
          <a:noFill/>
          <a:ln w="28575">
            <a:solidFill>
              <a:schemeClr val="accent5"/>
            </a:solidFill>
            <a:prstDash val="solid"/>
            <a:tailEnd type="triangle"/>
          </a:ln>
        </p:spPr>
      </p:sp>
      <p:sp>
        <p:nvSpPr>
          <p:cNvPr id="12" name="Text 8"/>
          <p:cNvSpPr txBox="1"/>
          <p:nvPr/>
        </p:nvSpPr>
        <p:spPr>
          <a:xfrm>
            <a:off x="4572000" y="1691640"/>
            <a:ext cx="3566160" cy="91440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Gossip / flooding with TTL</a:t>
            </a:r>
            <a:endParaRPr lang="en-US" sz="1700" dirty="0"/>
          </a:p>
        </p:txBody>
      </p:sp>
      <p:sp>
        <p:nvSpPr>
          <p:cNvPr id="13" name="Text 9"/>
          <p:cNvSpPr txBox="1"/>
          <p:nvPr/>
        </p:nvSpPr>
        <p:spPr>
          <a:xfrm>
            <a:off x="8412480" y="1691640"/>
            <a:ext cx="3200400" cy="91440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MeshSimulatorService, VirtualDevice</a:t>
            </a:r>
            <a:endParaRPr lang="en-US" sz="1400" dirty="0"/>
          </a:p>
        </p:txBody>
      </p:sp>
      <p:sp>
        <p:nvSpPr>
          <p:cNvPr id="14" name="row 1"/>
          <p:cNvSpPr/>
          <p:nvPr/>
        </p:nvSpPr>
        <p:spPr>
          <a:xfrm>
            <a:off x="457200" y="2697480"/>
            <a:ext cx="11274552" cy="896112"/>
          </a:xfrm>
          <a:prstGeom prst="roundRect">
            <a:avLst>
              <a:gd name="adj" fmla="val 12245"/>
            </a:avLst>
          </a:prstGeom>
          <a:solidFill>
            <a:schemeClr val="bg2"/>
          </a:solidFill>
          <a:ln/>
        </p:spPr>
      </p:sp>
      <p:sp>
        <p:nvSpPr>
          <p:cNvPr id="15" name="Strangers carry it circle"/>
          <p:cNvSpPr/>
          <p:nvPr/>
        </p:nvSpPr>
        <p:spPr>
          <a:xfrm>
            <a:off x="594360" y="2816352"/>
            <a:ext cx="676656" cy="676656"/>
          </a:xfrm>
          <a:prstGeom prst="ellipse">
            <a:avLst/>
          </a:prstGeom>
          <a:solidFill>
            <a:schemeClr val="accent3"/>
          </a:solidFill>
          <a:ln/>
        </p:spPr>
      </p:sp>
      <p:pic>
        <p:nvPicPr>
          <p:cNvPr id="16" name="Image 1" descr="Strangers carry it">    </p:cNvPr>
          <p:cNvPicPr>
            <a:picLocks noChangeAspect="1"/>
          </p:cNvPicPr>
          <p:nvPr/>
        </p:nvPicPr>
        <p:blipFill>
          <a:blip r:embed="rId2"/>
          <a:stretch>
            <a:fillRect/>
          </a:stretch>
        </p:blipFill>
        <p:spPr>
          <a:xfrm>
            <a:off x="743224" y="2965216"/>
            <a:ext cx="378927" cy="378927"/>
          </a:xfrm>
          <a:prstGeom prst="rect">
            <a:avLst/>
          </a:prstGeom>
        </p:spPr>
      </p:pic>
      <p:sp>
        <p:nvSpPr>
          <p:cNvPr id="17" name="Text 12"/>
          <p:cNvSpPr txBox="1"/>
          <p:nvPr/>
        </p:nvSpPr>
        <p:spPr>
          <a:xfrm>
            <a:off x="1463040" y="2697480"/>
            <a:ext cx="2651760" cy="914400"/>
          </a:xfrm>
          <a:prstGeom prst="rect">
            <a:avLst/>
          </a:prstGeom>
          <a:noFill/>
          <a:ln/>
        </p:spPr>
        <p:txBody>
          <a:bodyPr wrap="square" lIns="0" tIns="0" rIns="0" bIns="0" rtlCol="0" anchor="ctr"/>
          <a:lstStyle/>
          <a:p>
            <a:pPr algn="l" indent="0" marL="0">
              <a:buNone/>
            </a:pPr>
            <a:r>
              <a:rPr lang="en-US" sz="1800" b="1" dirty="0">
                <a:solidFill>
                  <a:schemeClr val="tx1"/>
                </a:solidFill>
                <a:latin typeface="Calibri" pitchFamily="34" charset="0"/>
                <a:ea typeface="Calibri" pitchFamily="34" charset="-122"/>
                <a:cs typeface="Calibri" pitchFamily="34" charset="-120"/>
              </a:rPr>
              <a:t>Strangers carry it</a:t>
            </a:r>
            <a:endParaRPr lang="en-US" sz="1800" dirty="0"/>
          </a:p>
        </p:txBody>
      </p:sp>
      <p:sp>
        <p:nvSpPr>
          <p:cNvPr id="18" name="arrow"/>
          <p:cNvSpPr/>
          <p:nvPr/>
        </p:nvSpPr>
        <p:spPr>
          <a:xfrm>
            <a:off x="4069080" y="3154680"/>
            <a:ext cx="411480" cy="0"/>
          </a:xfrm>
          <a:prstGeom prst="line">
            <a:avLst/>
          </a:prstGeom>
          <a:noFill/>
          <a:ln w="28575">
            <a:solidFill>
              <a:schemeClr val="accent5"/>
            </a:solidFill>
            <a:prstDash val="solid"/>
            <a:tailEnd type="triangle"/>
          </a:ln>
        </p:spPr>
      </p:sp>
      <p:sp>
        <p:nvSpPr>
          <p:cNvPr id="19" name="Text 14"/>
          <p:cNvSpPr txBox="1"/>
          <p:nvPr/>
        </p:nvSpPr>
        <p:spPr>
          <a:xfrm>
            <a:off x="4572000" y="2697480"/>
            <a:ext cx="3566160" cy="91440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Hybrid encryption</a:t>
            </a:r>
            <a:endParaRPr lang="en-US" sz="1700" dirty="0"/>
          </a:p>
        </p:txBody>
      </p:sp>
      <p:sp>
        <p:nvSpPr>
          <p:cNvPr id="20" name="Text 15"/>
          <p:cNvSpPr txBox="1"/>
          <p:nvPr/>
        </p:nvSpPr>
        <p:spPr>
          <a:xfrm>
            <a:off x="8412480" y="2697480"/>
            <a:ext cx="3200400" cy="91440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HybridCryptoService, ServerKeyHolder</a:t>
            </a:r>
            <a:endParaRPr lang="en-US" sz="1400" dirty="0"/>
          </a:p>
        </p:txBody>
      </p:sp>
      <p:sp>
        <p:nvSpPr>
          <p:cNvPr id="21" name="row 2"/>
          <p:cNvSpPr/>
          <p:nvPr/>
        </p:nvSpPr>
        <p:spPr>
          <a:xfrm>
            <a:off x="457200" y="3703320"/>
            <a:ext cx="11274552" cy="896112"/>
          </a:xfrm>
          <a:prstGeom prst="roundRect">
            <a:avLst>
              <a:gd name="adj" fmla="val 12245"/>
            </a:avLst>
          </a:prstGeom>
          <a:solidFill>
            <a:srgbClr val="F4F8F7"/>
          </a:solidFill>
          <a:ln/>
        </p:spPr>
      </p:sp>
      <p:sp>
        <p:nvSpPr>
          <p:cNvPr id="22" name="Duplicates circle"/>
          <p:cNvSpPr/>
          <p:nvPr/>
        </p:nvSpPr>
        <p:spPr>
          <a:xfrm>
            <a:off x="594360" y="3822192"/>
            <a:ext cx="676656" cy="676656"/>
          </a:xfrm>
          <a:prstGeom prst="ellipse">
            <a:avLst/>
          </a:prstGeom>
          <a:solidFill>
            <a:schemeClr val="accent3"/>
          </a:solidFill>
          <a:ln/>
        </p:spPr>
      </p:sp>
      <p:pic>
        <p:nvPicPr>
          <p:cNvPr id="23" name="Image 2" descr="Duplicates">    </p:cNvPr>
          <p:cNvPicPr>
            <a:picLocks noChangeAspect="1"/>
          </p:cNvPicPr>
          <p:nvPr/>
        </p:nvPicPr>
        <p:blipFill>
          <a:blip r:embed="rId3"/>
          <a:stretch>
            <a:fillRect/>
          </a:stretch>
        </p:blipFill>
        <p:spPr>
          <a:xfrm>
            <a:off x="743224" y="3971056"/>
            <a:ext cx="378927" cy="378927"/>
          </a:xfrm>
          <a:prstGeom prst="rect">
            <a:avLst/>
          </a:prstGeom>
        </p:spPr>
      </p:pic>
      <p:sp>
        <p:nvSpPr>
          <p:cNvPr id="24" name="Text 18"/>
          <p:cNvSpPr txBox="1"/>
          <p:nvPr/>
        </p:nvSpPr>
        <p:spPr>
          <a:xfrm>
            <a:off x="1463040" y="3703320"/>
            <a:ext cx="2651760" cy="914400"/>
          </a:xfrm>
          <a:prstGeom prst="rect">
            <a:avLst/>
          </a:prstGeom>
          <a:noFill/>
          <a:ln/>
        </p:spPr>
        <p:txBody>
          <a:bodyPr wrap="square" lIns="0" tIns="0" rIns="0" bIns="0" rtlCol="0" anchor="ctr"/>
          <a:lstStyle/>
          <a:p>
            <a:pPr algn="l" indent="0" marL="0">
              <a:buNone/>
            </a:pPr>
            <a:r>
              <a:rPr lang="en-US" sz="1800" b="1" dirty="0">
                <a:solidFill>
                  <a:schemeClr val="tx1"/>
                </a:solidFill>
                <a:latin typeface="Calibri" pitchFamily="34" charset="0"/>
                <a:ea typeface="Calibri" pitchFamily="34" charset="-122"/>
                <a:cs typeface="Calibri" pitchFamily="34" charset="-120"/>
              </a:rPr>
              <a:t>Duplicates</a:t>
            </a:r>
            <a:endParaRPr lang="en-US" sz="1800" dirty="0"/>
          </a:p>
        </p:txBody>
      </p:sp>
      <p:sp>
        <p:nvSpPr>
          <p:cNvPr id="25" name="arrow"/>
          <p:cNvSpPr/>
          <p:nvPr/>
        </p:nvSpPr>
        <p:spPr>
          <a:xfrm>
            <a:off x="4069080" y="4160520"/>
            <a:ext cx="411480" cy="0"/>
          </a:xfrm>
          <a:prstGeom prst="line">
            <a:avLst/>
          </a:prstGeom>
          <a:noFill/>
          <a:ln w="28575">
            <a:solidFill>
              <a:schemeClr val="accent5"/>
            </a:solidFill>
            <a:prstDash val="solid"/>
            <a:tailEnd type="triangle"/>
          </a:ln>
        </p:spPr>
      </p:sp>
      <p:sp>
        <p:nvSpPr>
          <p:cNvPr id="26" name="Text 20"/>
          <p:cNvSpPr txBox="1"/>
          <p:nvPr/>
        </p:nvSpPr>
        <p:spPr>
          <a:xfrm>
            <a:off x="4572000" y="3703320"/>
            <a:ext cx="3566160" cy="91440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Idempotency (fingerprint claim)</a:t>
            </a:r>
            <a:endParaRPr lang="en-US" sz="1700" dirty="0"/>
          </a:p>
        </p:txBody>
      </p:sp>
      <p:sp>
        <p:nvSpPr>
          <p:cNvPr id="27" name="Text 21"/>
          <p:cNvSpPr txBox="1"/>
          <p:nvPr/>
        </p:nvSpPr>
        <p:spPr>
          <a:xfrm>
            <a:off x="8412480" y="3703320"/>
            <a:ext cx="3200400" cy="91440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IdempotencyService</a:t>
            </a:r>
            <a:endParaRPr lang="en-US" sz="1400" dirty="0"/>
          </a:p>
        </p:txBody>
      </p:sp>
      <p:sp>
        <p:nvSpPr>
          <p:cNvPr id="28" name="row 3"/>
          <p:cNvSpPr/>
          <p:nvPr/>
        </p:nvSpPr>
        <p:spPr>
          <a:xfrm>
            <a:off x="457200" y="4709160"/>
            <a:ext cx="11274552" cy="896112"/>
          </a:xfrm>
          <a:prstGeom prst="roundRect">
            <a:avLst>
              <a:gd name="adj" fmla="val 12245"/>
            </a:avLst>
          </a:prstGeom>
          <a:solidFill>
            <a:schemeClr val="bg2"/>
          </a:solidFill>
          <a:ln/>
        </p:spPr>
      </p:sp>
      <p:sp>
        <p:nvSpPr>
          <p:cNvPr id="29" name="Money must move right circle"/>
          <p:cNvSpPr/>
          <p:nvPr/>
        </p:nvSpPr>
        <p:spPr>
          <a:xfrm>
            <a:off x="594360" y="4828032"/>
            <a:ext cx="676656" cy="676656"/>
          </a:xfrm>
          <a:prstGeom prst="ellipse">
            <a:avLst/>
          </a:prstGeom>
          <a:solidFill>
            <a:schemeClr val="accent3"/>
          </a:solidFill>
          <a:ln/>
        </p:spPr>
      </p:sp>
      <p:pic>
        <p:nvPicPr>
          <p:cNvPr id="30" name="Image 3" descr="Money must move right">    </p:cNvPr>
          <p:cNvPicPr>
            <a:picLocks noChangeAspect="1"/>
          </p:cNvPicPr>
          <p:nvPr/>
        </p:nvPicPr>
        <p:blipFill>
          <a:blip r:embed="rId4"/>
          <a:stretch>
            <a:fillRect/>
          </a:stretch>
        </p:blipFill>
        <p:spPr>
          <a:xfrm>
            <a:off x="743224" y="4976896"/>
            <a:ext cx="378927" cy="378927"/>
          </a:xfrm>
          <a:prstGeom prst="rect">
            <a:avLst/>
          </a:prstGeom>
        </p:spPr>
      </p:pic>
      <p:sp>
        <p:nvSpPr>
          <p:cNvPr id="31" name="Text 24"/>
          <p:cNvSpPr txBox="1"/>
          <p:nvPr/>
        </p:nvSpPr>
        <p:spPr>
          <a:xfrm>
            <a:off x="1463040" y="4709160"/>
            <a:ext cx="2651760" cy="914400"/>
          </a:xfrm>
          <a:prstGeom prst="rect">
            <a:avLst/>
          </a:prstGeom>
          <a:noFill/>
          <a:ln/>
        </p:spPr>
        <p:txBody>
          <a:bodyPr wrap="square" lIns="0" tIns="0" rIns="0" bIns="0" rtlCol="0" anchor="ctr"/>
          <a:lstStyle/>
          <a:p>
            <a:pPr algn="l" indent="0" marL="0">
              <a:buNone/>
            </a:pPr>
            <a:r>
              <a:rPr lang="en-US" sz="1800" b="1" dirty="0">
                <a:solidFill>
                  <a:schemeClr val="tx1"/>
                </a:solidFill>
                <a:latin typeface="Calibri" pitchFamily="34" charset="0"/>
                <a:ea typeface="Calibri" pitchFamily="34" charset="-122"/>
                <a:cs typeface="Calibri" pitchFamily="34" charset="-120"/>
              </a:rPr>
              <a:t>Money must move right</a:t>
            </a:r>
            <a:endParaRPr lang="en-US" sz="1800" dirty="0"/>
          </a:p>
        </p:txBody>
      </p:sp>
      <p:sp>
        <p:nvSpPr>
          <p:cNvPr id="32" name="arrow"/>
          <p:cNvSpPr/>
          <p:nvPr/>
        </p:nvSpPr>
        <p:spPr>
          <a:xfrm>
            <a:off x="4069080" y="5166360"/>
            <a:ext cx="411480" cy="0"/>
          </a:xfrm>
          <a:prstGeom prst="line">
            <a:avLst/>
          </a:prstGeom>
          <a:noFill/>
          <a:ln w="28575">
            <a:solidFill>
              <a:schemeClr val="accent5"/>
            </a:solidFill>
            <a:prstDash val="solid"/>
            <a:tailEnd type="triangle"/>
          </a:ln>
        </p:spPr>
      </p:sp>
      <p:sp>
        <p:nvSpPr>
          <p:cNvPr id="33" name="Text 26"/>
          <p:cNvSpPr txBox="1"/>
          <p:nvPr/>
        </p:nvSpPr>
        <p:spPr>
          <a:xfrm>
            <a:off x="4572000" y="4709160"/>
            <a:ext cx="3566160" cy="91440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Transaction + freshness check + version number</a:t>
            </a:r>
            <a:endParaRPr lang="en-US" sz="1700" dirty="0"/>
          </a:p>
        </p:txBody>
      </p:sp>
      <p:sp>
        <p:nvSpPr>
          <p:cNvPr id="34" name="Text 27"/>
          <p:cNvSpPr txBox="1"/>
          <p:nvPr/>
        </p:nvSpPr>
        <p:spPr>
          <a:xfrm>
            <a:off x="8412480" y="4709160"/>
            <a:ext cx="3200400" cy="914400"/>
          </a:xfrm>
          <a:prstGeom prst="rect">
            <a:avLst/>
          </a:prstGeom>
          <a:noFill/>
          <a:ln/>
        </p:spPr>
        <p:txBody>
          <a:bodyPr wrap="square" lIns="0" tIns="0" rIns="0" bIns="0" rtlCol="0" anchor="ctr"/>
          <a:lstStyle/>
          <a:p>
            <a:pPr algn="l" indent="0" marL="0">
              <a:buNone/>
            </a:pPr>
            <a:r>
              <a:rPr lang="en-US" sz="1400" dirty="0">
                <a:solidFill>
                  <a:schemeClr val="accent4"/>
                </a:solidFill>
                <a:latin typeface="Courier New" pitchFamily="34" charset="0"/>
                <a:ea typeface="Courier New" pitchFamily="34" charset="-122"/>
                <a:cs typeface="Courier New" pitchFamily="34" charset="-120"/>
              </a:rPr>
              <a:t>SettlementService, BridgeIngestionService, Account</a:t>
            </a:r>
            <a:endParaRPr lang="en-US" sz="1400" dirty="0"/>
          </a:p>
        </p:txBody>
      </p:sp>
      <p:sp>
        <p:nvSpPr>
          <p:cNvPr id="35" name="takeaway"/>
          <p:cNvSpPr/>
          <p:nvPr/>
        </p:nvSpPr>
        <p:spPr>
          <a:xfrm>
            <a:off x="457200" y="5852160"/>
            <a:ext cx="11274552" cy="502920"/>
          </a:xfrm>
          <a:prstGeom prst="roundRect">
            <a:avLst>
              <a:gd name="adj" fmla="val 21818"/>
            </a:avLst>
          </a:prstGeom>
          <a:solidFill>
            <a:srgbClr val="FDF1DC"/>
          </a:solidFill>
          <a:ln/>
        </p:spPr>
      </p:sp>
      <p:sp>
        <p:nvSpPr>
          <p:cNvPr id="36" name="Text 29"/>
          <p:cNvSpPr txBox="1"/>
          <p:nvPr/>
        </p:nvSpPr>
        <p:spPr>
          <a:xfrm>
            <a:off x="640080" y="5852160"/>
            <a:ext cx="10881360" cy="50292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Story: problem → why it hurts → our idea → mechanism → code.</a:t>
            </a:r>
            <a:endParaRPr lang="en-US" sz="16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Cryptography: locking the payment</a:t>
            </a:r>
            <a:endParaRPr lang="en-US" sz="3400" dirty="0"/>
          </a:p>
        </p:txBody>
      </p:sp>
      <p:sp>
        <p:nvSpPr>
          <p:cNvPr id="4" name="node Payment details (who, whom, how much)"/>
          <p:cNvSpPr/>
          <p:nvPr/>
        </p:nvSpPr>
        <p:spPr>
          <a:xfrm>
            <a:off x="457200" y="1417320"/>
            <a:ext cx="2103120" cy="1005840"/>
          </a:xfrm>
          <a:prstGeom prst="roundRect">
            <a:avLst>
              <a:gd name="adj" fmla="val 9091"/>
            </a:avLst>
          </a:prstGeom>
          <a:solidFill>
            <a:schemeClr val="bg2"/>
          </a:solidFill>
          <a:ln/>
        </p:spPr>
      </p:sp>
      <p:sp>
        <p:nvSpPr>
          <p:cNvPr id="5" name="Text 2"/>
          <p:cNvSpPr txBox="1"/>
          <p:nvPr/>
        </p:nvSpPr>
        <p:spPr>
          <a:xfrm>
            <a:off x="530352" y="1417320"/>
            <a:ext cx="1956816" cy="1005840"/>
          </a:xfrm>
          <a:prstGeom prst="rect">
            <a:avLst/>
          </a:prstGeom>
          <a:noFill/>
          <a:ln/>
        </p:spPr>
        <p:txBody>
          <a:bodyPr wrap="square" lIns="0" tIns="0" rIns="0" bIns="0" rtlCol="0" anchor="ctr"/>
          <a:lstStyle/>
          <a:p>
            <a:pPr algn="ctr" indent="0" marL="0">
              <a:buNone/>
            </a:pPr>
            <a:r>
              <a:rPr lang="en-US" sz="1500" b="1" dirty="0">
                <a:solidFill>
                  <a:schemeClr val="tx2"/>
                </a:solidFill>
                <a:latin typeface="Calibri" pitchFamily="34" charset="0"/>
                <a:ea typeface="Calibri" pitchFamily="34" charset="-122"/>
                <a:cs typeface="Calibri" pitchFamily="34" charset="-120"/>
              </a:rPr>
              <a:t>Payment details</a:t>
            </a:r>
            <a:endParaRPr lang="en-US" sz="1500" dirty="0"/>
          </a:p>
          <a:p>
            <a:pPr algn="ctr" indent="0" marL="0">
              <a:buNone/>
            </a:pPr>
            <a:r>
              <a:rPr lang="en-US" sz="1500" b="1" dirty="0">
                <a:solidFill>
                  <a:schemeClr val="tx2"/>
                </a:solidFill>
                <a:latin typeface="Calibri" pitchFamily="34" charset="0"/>
                <a:ea typeface="Calibri" pitchFamily="34" charset="-122"/>
                <a:cs typeface="Calibri" pitchFamily="34" charset="-120"/>
              </a:rPr>
              <a:t>(who, whom, how much)</a:t>
            </a:r>
            <a:endParaRPr lang="en-US" sz="1500" dirty="0"/>
          </a:p>
        </p:txBody>
      </p:sp>
      <p:sp>
        <p:nvSpPr>
          <p:cNvPr id="6" name="arrow"/>
          <p:cNvSpPr/>
          <p:nvPr/>
        </p:nvSpPr>
        <p:spPr>
          <a:xfrm>
            <a:off x="2606040" y="1920240"/>
            <a:ext cx="502920" cy="0"/>
          </a:xfrm>
          <a:prstGeom prst="line">
            <a:avLst/>
          </a:prstGeom>
          <a:noFill/>
          <a:ln w="28575">
            <a:solidFill>
              <a:schemeClr val="accent5"/>
            </a:solidFill>
            <a:prstDash val="solid"/>
            <a:tailEnd type="triangle"/>
          </a:ln>
        </p:spPr>
      </p:sp>
      <p:sp>
        <p:nvSpPr>
          <p:cNvPr id="7" name="node Locked box (unreadable)"/>
          <p:cNvSpPr/>
          <p:nvPr/>
        </p:nvSpPr>
        <p:spPr>
          <a:xfrm>
            <a:off x="3154680" y="1417320"/>
            <a:ext cx="2103120" cy="1005840"/>
          </a:xfrm>
          <a:prstGeom prst="roundRect">
            <a:avLst>
              <a:gd name="adj" fmla="val 9091"/>
            </a:avLst>
          </a:prstGeom>
          <a:solidFill>
            <a:schemeClr val="accent1"/>
          </a:solidFill>
          <a:ln/>
        </p:spPr>
      </p:sp>
      <p:sp>
        <p:nvSpPr>
          <p:cNvPr id="8" name="Text 5"/>
          <p:cNvSpPr txBox="1"/>
          <p:nvPr/>
        </p:nvSpPr>
        <p:spPr>
          <a:xfrm>
            <a:off x="3227832" y="1417320"/>
            <a:ext cx="1956816" cy="10058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Locked box</a:t>
            </a: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(unreadable)</a:t>
            </a:r>
            <a:endParaRPr lang="en-US" sz="1500" dirty="0"/>
          </a:p>
        </p:txBody>
      </p:sp>
      <p:sp>
        <p:nvSpPr>
          <p:cNvPr id="9" name="arrow"/>
          <p:cNvSpPr/>
          <p:nvPr/>
        </p:nvSpPr>
        <p:spPr>
          <a:xfrm>
            <a:off x="5303520" y="1920240"/>
            <a:ext cx="502920" cy="0"/>
          </a:xfrm>
          <a:prstGeom prst="line">
            <a:avLst/>
          </a:prstGeom>
          <a:noFill/>
          <a:ln w="28575">
            <a:solidFill>
              <a:schemeClr val="accent5"/>
            </a:solidFill>
            <a:prstDash val="solid"/>
            <a:tailEnd type="triangle"/>
          </a:ln>
        </p:spPr>
      </p:sp>
      <p:sp>
        <p:nvSpPr>
          <p:cNvPr id="10" name="node Stranger phones carry it, cannot open"/>
          <p:cNvSpPr/>
          <p:nvPr/>
        </p:nvSpPr>
        <p:spPr>
          <a:xfrm>
            <a:off x="5852160" y="1417320"/>
            <a:ext cx="2286000" cy="1005840"/>
          </a:xfrm>
          <a:prstGeom prst="roundRect">
            <a:avLst>
              <a:gd name="adj" fmla="val 9091"/>
            </a:avLst>
          </a:prstGeom>
          <a:solidFill>
            <a:schemeClr val="accent5"/>
          </a:solidFill>
          <a:ln/>
        </p:spPr>
      </p:sp>
      <p:sp>
        <p:nvSpPr>
          <p:cNvPr id="11" name="Text 8"/>
          <p:cNvSpPr txBox="1"/>
          <p:nvPr/>
        </p:nvSpPr>
        <p:spPr>
          <a:xfrm>
            <a:off x="5925312" y="1417320"/>
            <a:ext cx="2139696" cy="10058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Stranger phones</a:t>
            </a: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carry it, cannot open</a:t>
            </a:r>
            <a:endParaRPr lang="en-US" sz="1500" dirty="0"/>
          </a:p>
        </p:txBody>
      </p:sp>
      <p:sp>
        <p:nvSpPr>
          <p:cNvPr id="12" name="arrow"/>
          <p:cNvSpPr/>
          <p:nvPr/>
        </p:nvSpPr>
        <p:spPr>
          <a:xfrm>
            <a:off x="8183880" y="1920240"/>
            <a:ext cx="502920" cy="0"/>
          </a:xfrm>
          <a:prstGeom prst="line">
            <a:avLst/>
          </a:prstGeom>
          <a:noFill/>
          <a:ln w="28575">
            <a:solidFill>
              <a:schemeClr val="accent5"/>
            </a:solidFill>
            <a:prstDash val="solid"/>
            <a:tailEnd type="triangle"/>
          </a:ln>
        </p:spPr>
      </p:sp>
      <p:sp>
        <p:nvSpPr>
          <p:cNvPr id="13" name="node Server opens it with its private key"/>
          <p:cNvSpPr/>
          <p:nvPr/>
        </p:nvSpPr>
        <p:spPr>
          <a:xfrm>
            <a:off x="8732520" y="1417320"/>
            <a:ext cx="2999232" cy="1005840"/>
          </a:xfrm>
          <a:prstGeom prst="roundRect">
            <a:avLst>
              <a:gd name="adj" fmla="val 9091"/>
            </a:avLst>
          </a:prstGeom>
          <a:solidFill>
            <a:schemeClr val="accent4"/>
          </a:solidFill>
          <a:ln/>
        </p:spPr>
      </p:sp>
      <p:sp>
        <p:nvSpPr>
          <p:cNvPr id="14" name="Text 11"/>
          <p:cNvSpPr txBox="1"/>
          <p:nvPr/>
        </p:nvSpPr>
        <p:spPr>
          <a:xfrm>
            <a:off x="8805672" y="1417320"/>
            <a:ext cx="2852928" cy="10058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Server opens it with its private key</a:t>
            </a:r>
            <a:endParaRPr lang="en-US" sz="1500" dirty="0"/>
          </a:p>
        </p:txBody>
      </p:sp>
      <p:sp>
        <p:nvSpPr>
          <p:cNvPr id="15" name="explainer Encryption"/>
          <p:cNvSpPr/>
          <p:nvPr/>
        </p:nvSpPr>
        <p:spPr>
          <a:xfrm>
            <a:off x="457200" y="2788920"/>
            <a:ext cx="3630168" cy="2606040"/>
          </a:xfrm>
          <a:prstGeom prst="roundRect">
            <a:avLst>
              <a:gd name="adj" fmla="val 4211"/>
            </a:avLst>
          </a:prstGeom>
          <a:solidFill>
            <a:schemeClr val="bg2"/>
          </a:solidFill>
          <a:ln/>
        </p:spPr>
      </p:sp>
      <p:sp>
        <p:nvSpPr>
          <p:cNvPr id="16" name="Encryption circle"/>
          <p:cNvSpPr/>
          <p:nvPr/>
        </p:nvSpPr>
        <p:spPr>
          <a:xfrm>
            <a:off x="640080" y="2971800"/>
            <a:ext cx="594360" cy="594360"/>
          </a:xfrm>
          <a:prstGeom prst="ellipse">
            <a:avLst/>
          </a:prstGeom>
          <a:solidFill>
            <a:schemeClr val="accent1"/>
          </a:solidFill>
          <a:ln/>
        </p:spPr>
      </p:sp>
      <p:pic>
        <p:nvPicPr>
          <p:cNvPr id="17" name="Image 0" descr="Encryption">    </p:cNvPr>
          <p:cNvPicPr>
            <a:picLocks noChangeAspect="1"/>
          </p:cNvPicPr>
          <p:nvPr/>
        </p:nvPicPr>
        <p:blipFill>
          <a:blip r:embed="rId1"/>
          <a:stretch>
            <a:fillRect/>
          </a:stretch>
        </p:blipFill>
        <p:spPr>
          <a:xfrm>
            <a:off x="770839" y="3102559"/>
            <a:ext cx="332842" cy="332842"/>
          </a:xfrm>
          <a:prstGeom prst="rect">
            <a:avLst/>
          </a:prstGeom>
        </p:spPr>
      </p:pic>
      <p:sp>
        <p:nvSpPr>
          <p:cNvPr id="18" name="Text 14"/>
          <p:cNvSpPr txBox="1"/>
          <p:nvPr/>
        </p:nvSpPr>
        <p:spPr>
          <a:xfrm>
            <a:off x="1371600" y="2971800"/>
            <a:ext cx="2560320" cy="594360"/>
          </a:xfrm>
          <a:prstGeom prst="rect">
            <a:avLst/>
          </a:prstGeom>
          <a:noFill/>
          <a:ln/>
        </p:spPr>
        <p:txBody>
          <a:bodyPr wrap="square" lIns="0" tIns="0" rIns="0" bIns="0" rtlCol="0" anchor="ctr"/>
          <a:lstStyle/>
          <a:p>
            <a:pPr algn="l" indent="0" marL="0">
              <a:buNone/>
            </a:pPr>
            <a:r>
              <a:rPr lang="en-US" sz="1800" b="1" dirty="0">
                <a:solidFill>
                  <a:schemeClr val="tx2"/>
                </a:solidFill>
                <a:latin typeface="Calibri" pitchFamily="34" charset="0"/>
                <a:ea typeface="Calibri" pitchFamily="34" charset="-122"/>
                <a:cs typeface="Calibri" pitchFamily="34" charset="-120"/>
              </a:rPr>
              <a:t>Encryption</a:t>
            </a:r>
            <a:endParaRPr lang="en-US" sz="1800" dirty="0"/>
          </a:p>
        </p:txBody>
      </p:sp>
      <p:sp>
        <p:nvSpPr>
          <p:cNvPr id="19" name="Text 15"/>
          <p:cNvSpPr txBox="1"/>
          <p:nvPr/>
        </p:nvSpPr>
        <p:spPr>
          <a:xfrm>
            <a:off x="640080" y="3703320"/>
            <a:ext cx="3264408" cy="164592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Scrambling data so only the right person can read it.</a:t>
            </a:r>
            <a:endParaRPr lang="en-US" sz="1600" dirty="0"/>
          </a:p>
        </p:txBody>
      </p:sp>
      <p:sp>
        <p:nvSpPr>
          <p:cNvPr id="20" name="explainer Public and private key"/>
          <p:cNvSpPr/>
          <p:nvPr/>
        </p:nvSpPr>
        <p:spPr>
          <a:xfrm>
            <a:off x="4279392" y="2788920"/>
            <a:ext cx="3630168" cy="2606040"/>
          </a:xfrm>
          <a:prstGeom prst="roundRect">
            <a:avLst>
              <a:gd name="adj" fmla="val 4211"/>
            </a:avLst>
          </a:prstGeom>
          <a:solidFill>
            <a:schemeClr val="bg2"/>
          </a:solidFill>
          <a:ln/>
        </p:spPr>
      </p:sp>
      <p:sp>
        <p:nvSpPr>
          <p:cNvPr id="21" name="Public and private key circle"/>
          <p:cNvSpPr/>
          <p:nvPr/>
        </p:nvSpPr>
        <p:spPr>
          <a:xfrm>
            <a:off x="4462272" y="2971800"/>
            <a:ext cx="594360" cy="594360"/>
          </a:xfrm>
          <a:prstGeom prst="ellipse">
            <a:avLst/>
          </a:prstGeom>
          <a:solidFill>
            <a:schemeClr val="accent1"/>
          </a:solidFill>
          <a:ln/>
        </p:spPr>
      </p:sp>
      <p:pic>
        <p:nvPicPr>
          <p:cNvPr id="22" name="Image 1" descr="Public and private key">    </p:cNvPr>
          <p:cNvPicPr>
            <a:picLocks noChangeAspect="1"/>
          </p:cNvPicPr>
          <p:nvPr/>
        </p:nvPicPr>
        <p:blipFill>
          <a:blip r:embed="rId2"/>
          <a:stretch>
            <a:fillRect/>
          </a:stretch>
        </p:blipFill>
        <p:spPr>
          <a:xfrm>
            <a:off x="4593031" y="3102559"/>
            <a:ext cx="332842" cy="332842"/>
          </a:xfrm>
          <a:prstGeom prst="rect">
            <a:avLst/>
          </a:prstGeom>
        </p:spPr>
      </p:pic>
      <p:sp>
        <p:nvSpPr>
          <p:cNvPr id="23" name="Text 18"/>
          <p:cNvSpPr txBox="1"/>
          <p:nvPr/>
        </p:nvSpPr>
        <p:spPr>
          <a:xfrm>
            <a:off x="5193792" y="2971800"/>
            <a:ext cx="2560320" cy="594360"/>
          </a:xfrm>
          <a:prstGeom prst="rect">
            <a:avLst/>
          </a:prstGeom>
          <a:noFill/>
          <a:ln/>
        </p:spPr>
        <p:txBody>
          <a:bodyPr wrap="square" lIns="0" tIns="0" rIns="0" bIns="0" rtlCol="0" anchor="ctr"/>
          <a:lstStyle/>
          <a:p>
            <a:pPr algn="l" indent="0" marL="0">
              <a:buNone/>
            </a:pPr>
            <a:r>
              <a:rPr lang="en-US" sz="1800" b="1" dirty="0">
                <a:solidFill>
                  <a:schemeClr val="tx2"/>
                </a:solidFill>
                <a:latin typeface="Calibri" pitchFamily="34" charset="0"/>
                <a:ea typeface="Calibri" pitchFamily="34" charset="-122"/>
                <a:cs typeface="Calibri" pitchFamily="34" charset="-120"/>
              </a:rPr>
              <a:t>Public and private key</a:t>
            </a:r>
            <a:endParaRPr lang="en-US" sz="1800" dirty="0"/>
          </a:p>
        </p:txBody>
      </p:sp>
      <p:sp>
        <p:nvSpPr>
          <p:cNvPr id="24" name="Text 19"/>
          <p:cNvSpPr txBox="1"/>
          <p:nvPr/>
        </p:nvSpPr>
        <p:spPr>
          <a:xfrm>
            <a:off x="4462272" y="3703320"/>
            <a:ext cx="3264408" cy="164592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Public key = a padlock anyone can close. Private key = the only key that opens it. It stays on the server.</a:t>
            </a:r>
            <a:endParaRPr lang="en-US" sz="1600" dirty="0"/>
          </a:p>
        </p:txBody>
      </p:sp>
      <p:sp>
        <p:nvSpPr>
          <p:cNvPr id="25" name="explainer Why two locks?"/>
          <p:cNvSpPr/>
          <p:nvPr/>
        </p:nvSpPr>
        <p:spPr>
          <a:xfrm>
            <a:off x="8101584" y="2788920"/>
            <a:ext cx="3630168" cy="2606040"/>
          </a:xfrm>
          <a:prstGeom prst="roundRect">
            <a:avLst>
              <a:gd name="adj" fmla="val 4211"/>
            </a:avLst>
          </a:prstGeom>
          <a:solidFill>
            <a:schemeClr val="bg2"/>
          </a:solidFill>
          <a:ln/>
        </p:spPr>
      </p:sp>
      <p:sp>
        <p:nvSpPr>
          <p:cNvPr id="26" name="Why two locks? circle"/>
          <p:cNvSpPr/>
          <p:nvPr/>
        </p:nvSpPr>
        <p:spPr>
          <a:xfrm>
            <a:off x="8284464" y="2971800"/>
            <a:ext cx="594360" cy="594360"/>
          </a:xfrm>
          <a:prstGeom prst="ellipse">
            <a:avLst/>
          </a:prstGeom>
          <a:solidFill>
            <a:schemeClr val="accent1"/>
          </a:solidFill>
          <a:ln/>
        </p:spPr>
      </p:sp>
      <p:pic>
        <p:nvPicPr>
          <p:cNvPr id="27" name="Image 2" descr="Why two locks?">    </p:cNvPr>
          <p:cNvPicPr>
            <a:picLocks noChangeAspect="1"/>
          </p:cNvPicPr>
          <p:nvPr/>
        </p:nvPicPr>
        <p:blipFill>
          <a:blip r:embed="rId3"/>
          <a:stretch>
            <a:fillRect/>
          </a:stretch>
        </p:blipFill>
        <p:spPr>
          <a:xfrm>
            <a:off x="8415223" y="3102559"/>
            <a:ext cx="332842" cy="332842"/>
          </a:xfrm>
          <a:prstGeom prst="rect">
            <a:avLst/>
          </a:prstGeom>
        </p:spPr>
      </p:pic>
      <p:sp>
        <p:nvSpPr>
          <p:cNvPr id="28" name="Text 22"/>
          <p:cNvSpPr txBox="1"/>
          <p:nvPr/>
        </p:nvSpPr>
        <p:spPr>
          <a:xfrm>
            <a:off x="9015984" y="2971800"/>
            <a:ext cx="2560320" cy="594360"/>
          </a:xfrm>
          <a:prstGeom prst="rect">
            <a:avLst/>
          </a:prstGeom>
          <a:noFill/>
          <a:ln/>
        </p:spPr>
        <p:txBody>
          <a:bodyPr wrap="square" lIns="0" tIns="0" rIns="0" bIns="0" rtlCol="0" anchor="ctr"/>
          <a:lstStyle/>
          <a:p>
            <a:pPr algn="l" indent="0" marL="0">
              <a:buNone/>
            </a:pPr>
            <a:r>
              <a:rPr lang="en-US" sz="1800" b="1" dirty="0">
                <a:solidFill>
                  <a:schemeClr val="tx2"/>
                </a:solidFill>
                <a:latin typeface="Calibri" pitchFamily="34" charset="0"/>
                <a:ea typeface="Calibri" pitchFamily="34" charset="-122"/>
                <a:cs typeface="Calibri" pitchFamily="34" charset="-120"/>
              </a:rPr>
              <a:t>Why two locks?</a:t>
            </a:r>
            <a:endParaRPr lang="en-US" sz="1800" dirty="0"/>
          </a:p>
        </p:txBody>
      </p:sp>
      <p:sp>
        <p:nvSpPr>
          <p:cNvPr id="29" name="Text 23"/>
          <p:cNvSpPr txBox="1"/>
          <p:nvPr/>
        </p:nvSpPr>
        <p:spPr>
          <a:xfrm>
            <a:off x="8284464" y="3703320"/>
            <a:ext cx="3264408" cy="164592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The padlock (RSA) is slow and can only hold something small. So we lock a small one-time key with it, and use a fast lock (AES) for the real message.</a:t>
            </a:r>
            <a:endParaRPr lang="en-US" sz="1600" dirty="0"/>
          </a:p>
        </p:txBody>
      </p:sp>
      <p:sp>
        <p:nvSpPr>
          <p:cNvPr id="30" name="takeaway"/>
          <p:cNvSpPr/>
          <p:nvPr/>
        </p:nvSpPr>
        <p:spPr>
          <a:xfrm>
            <a:off x="457200" y="5669280"/>
            <a:ext cx="11274552" cy="502920"/>
          </a:xfrm>
          <a:prstGeom prst="roundRect">
            <a:avLst>
              <a:gd name="adj" fmla="val 21818"/>
            </a:avLst>
          </a:prstGeom>
          <a:solidFill>
            <a:srgbClr val="FDF1DC"/>
          </a:solidFill>
          <a:ln/>
        </p:spPr>
      </p:sp>
      <p:sp>
        <p:nvSpPr>
          <p:cNvPr id="31" name="Text 25"/>
          <p:cNvSpPr txBox="1"/>
          <p:nvPr/>
        </p:nvSpPr>
        <p:spPr>
          <a:xfrm>
            <a:off x="640080" y="5669280"/>
            <a:ext cx="10881360" cy="50292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A tampered packet does not open. It is rejected, never settled.</a:t>
            </a:r>
            <a:endParaRPr lang="en-US" sz="16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Cryptography in our project</a:t>
            </a:r>
            <a:endParaRPr lang="en-US" sz="3400" dirty="0"/>
          </a:p>
        </p:txBody>
      </p:sp>
      <p:sp>
        <p:nvSpPr>
          <p:cNvPr id="4" name="Text 1"/>
          <p:cNvSpPr txBox="1"/>
          <p:nvPr/>
        </p:nvSpPr>
        <p:spPr>
          <a:xfrm>
            <a:off x="457200" y="1280160"/>
            <a:ext cx="5486400" cy="365760"/>
          </a:xfrm>
          <a:prstGeom prst="rect">
            <a:avLst/>
          </a:prstGeom>
          <a:noFill/>
          <a:ln/>
        </p:spPr>
        <p:txBody>
          <a:bodyPr wrap="square" lIns="0" tIns="0" rIns="0" bIns="0" rtlCol="0" anchor="t"/>
          <a:lstStyle/>
          <a:p>
            <a:pPr algn="l" indent="0" marL="0">
              <a:buNone/>
            </a:pPr>
            <a:r>
              <a:rPr lang="en-US" sz="1800" b="1" dirty="0">
                <a:solidFill>
                  <a:schemeClr val="tx2"/>
                </a:solidFill>
                <a:latin typeface="Calibri" pitchFamily="34" charset="0"/>
                <a:ea typeface="Calibri" pitchFamily="34" charset="-122"/>
                <a:cs typeface="Calibri" pitchFamily="34" charset="-120"/>
              </a:rPr>
              <a:t>What happens to one payment</a:t>
            </a:r>
            <a:endParaRPr lang="en-US" sz="1800" dirty="0"/>
          </a:p>
        </p:txBody>
      </p:sp>
      <p:sp>
        <p:nvSpPr>
          <p:cNvPr id="5" name="num"/>
          <p:cNvSpPr/>
          <p:nvPr/>
        </p:nvSpPr>
        <p:spPr>
          <a:xfrm>
            <a:off x="457200" y="1783080"/>
            <a:ext cx="420624" cy="420624"/>
          </a:xfrm>
          <a:prstGeom prst="ellipse">
            <a:avLst/>
          </a:prstGeom>
          <a:solidFill>
            <a:schemeClr val="accent1"/>
          </a:solidFill>
          <a:ln/>
        </p:spPr>
      </p:sp>
      <p:sp>
        <p:nvSpPr>
          <p:cNvPr id="6" name="Text 3"/>
          <p:cNvSpPr txBox="1"/>
          <p:nvPr/>
        </p:nvSpPr>
        <p:spPr>
          <a:xfrm>
            <a:off x="457200" y="17830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051560" y="1737360"/>
            <a:ext cx="5029200" cy="640080"/>
          </a:xfrm>
          <a:prstGeom prst="rect">
            <a:avLst/>
          </a:prstGeom>
          <a:noFill/>
          <a:ln/>
        </p:spPr>
        <p:txBody>
          <a:bodyPr wrap="square" lIns="0" tIns="0" rIns="0" bIns="0" rtlCol="0" anchor="ctr"/>
          <a:lstStyle/>
          <a:p>
            <a:pPr algn="l" indent="0" marL="0">
              <a:buNone/>
            </a:pPr>
            <a:r>
              <a:rPr lang="en-US" sz="1500" dirty="0">
                <a:solidFill>
                  <a:schemeClr val="tx1"/>
                </a:solidFill>
                <a:latin typeface="Calibri" pitchFamily="34" charset="0"/>
                <a:ea typeface="Calibri" pitchFamily="34" charset="-122"/>
                <a:cs typeface="Calibri" pitchFamily="34" charset="-120"/>
              </a:rPr>
              <a:t>Build the payment: sender, receiver, amount, hashed PIN, random nonce, time.</a:t>
            </a:r>
            <a:endParaRPr lang="en-US" sz="1500" dirty="0"/>
          </a:p>
        </p:txBody>
      </p:sp>
      <p:sp>
        <p:nvSpPr>
          <p:cNvPr id="8" name="num"/>
          <p:cNvSpPr/>
          <p:nvPr/>
        </p:nvSpPr>
        <p:spPr>
          <a:xfrm>
            <a:off x="457200" y="2496312"/>
            <a:ext cx="420624" cy="420624"/>
          </a:xfrm>
          <a:prstGeom prst="ellipse">
            <a:avLst/>
          </a:prstGeom>
          <a:solidFill>
            <a:schemeClr val="accent1"/>
          </a:solidFill>
          <a:ln/>
        </p:spPr>
      </p:sp>
      <p:sp>
        <p:nvSpPr>
          <p:cNvPr id="9" name="Text 6"/>
          <p:cNvSpPr txBox="1"/>
          <p:nvPr/>
        </p:nvSpPr>
        <p:spPr>
          <a:xfrm>
            <a:off x="457200" y="2496312"/>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7"/>
          <p:cNvSpPr txBox="1"/>
          <p:nvPr/>
        </p:nvSpPr>
        <p:spPr>
          <a:xfrm>
            <a:off x="1051560" y="2450592"/>
            <a:ext cx="5029200" cy="640080"/>
          </a:xfrm>
          <a:prstGeom prst="rect">
            <a:avLst/>
          </a:prstGeom>
          <a:noFill/>
          <a:ln/>
        </p:spPr>
        <p:txBody>
          <a:bodyPr wrap="square" lIns="0" tIns="0" rIns="0" bIns="0" rtlCol="0" anchor="ctr"/>
          <a:lstStyle/>
          <a:p>
            <a:pPr algn="l" indent="0" marL="0">
              <a:buNone/>
            </a:pPr>
            <a:r>
              <a:rPr lang="en-US" sz="1500" dirty="0">
                <a:solidFill>
                  <a:schemeClr val="tx1"/>
                </a:solidFill>
                <a:latin typeface="Calibri" pitchFamily="34" charset="0"/>
                <a:ea typeface="Calibri" pitchFamily="34" charset="-122"/>
                <a:cs typeface="Calibri" pitchFamily="34" charset="-120"/>
              </a:rPr>
              <a:t>Make a brand-new secret key, used only for this packet.</a:t>
            </a:r>
            <a:endParaRPr lang="en-US" sz="1500" dirty="0"/>
          </a:p>
        </p:txBody>
      </p:sp>
      <p:sp>
        <p:nvSpPr>
          <p:cNvPr id="11" name="num"/>
          <p:cNvSpPr/>
          <p:nvPr/>
        </p:nvSpPr>
        <p:spPr>
          <a:xfrm>
            <a:off x="457200" y="3209544"/>
            <a:ext cx="420624" cy="420624"/>
          </a:xfrm>
          <a:prstGeom prst="ellipse">
            <a:avLst/>
          </a:prstGeom>
          <a:solidFill>
            <a:schemeClr val="accent1"/>
          </a:solidFill>
          <a:ln/>
        </p:spPr>
      </p:sp>
      <p:sp>
        <p:nvSpPr>
          <p:cNvPr id="12" name="Text 9"/>
          <p:cNvSpPr txBox="1"/>
          <p:nvPr/>
        </p:nvSpPr>
        <p:spPr>
          <a:xfrm>
            <a:off x="457200" y="3209544"/>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Text 10"/>
          <p:cNvSpPr txBox="1"/>
          <p:nvPr/>
        </p:nvSpPr>
        <p:spPr>
          <a:xfrm>
            <a:off x="1051560" y="3163824"/>
            <a:ext cx="5029200" cy="640080"/>
          </a:xfrm>
          <a:prstGeom prst="rect">
            <a:avLst/>
          </a:prstGeom>
          <a:noFill/>
          <a:ln/>
        </p:spPr>
        <p:txBody>
          <a:bodyPr wrap="square" lIns="0" tIns="0" rIns="0" bIns="0" rtlCol="0" anchor="ctr"/>
          <a:lstStyle/>
          <a:p>
            <a:pPr algn="l" indent="0" marL="0">
              <a:buNone/>
            </a:pPr>
            <a:r>
              <a:rPr lang="en-US" sz="1500" dirty="0">
                <a:solidFill>
                  <a:schemeClr val="tx1"/>
                </a:solidFill>
                <a:latin typeface="Calibri" pitchFamily="34" charset="0"/>
                <a:ea typeface="Calibri" pitchFamily="34" charset="-122"/>
                <a:cs typeface="Calibri" pitchFamily="34" charset="-120"/>
              </a:rPr>
              <a:t>Lock the payment with that secret key (AES-GCM).</a:t>
            </a:r>
            <a:endParaRPr lang="en-US" sz="1500" dirty="0"/>
          </a:p>
        </p:txBody>
      </p:sp>
      <p:sp>
        <p:nvSpPr>
          <p:cNvPr id="14" name="num"/>
          <p:cNvSpPr/>
          <p:nvPr/>
        </p:nvSpPr>
        <p:spPr>
          <a:xfrm>
            <a:off x="457200" y="3922776"/>
            <a:ext cx="420624" cy="420624"/>
          </a:xfrm>
          <a:prstGeom prst="ellipse">
            <a:avLst/>
          </a:prstGeom>
          <a:solidFill>
            <a:schemeClr val="accent1"/>
          </a:solidFill>
          <a:ln/>
        </p:spPr>
      </p:sp>
      <p:sp>
        <p:nvSpPr>
          <p:cNvPr id="15" name="Text 12"/>
          <p:cNvSpPr txBox="1"/>
          <p:nvPr/>
        </p:nvSpPr>
        <p:spPr>
          <a:xfrm>
            <a:off x="457200" y="3922776"/>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Text 13"/>
          <p:cNvSpPr txBox="1"/>
          <p:nvPr/>
        </p:nvSpPr>
        <p:spPr>
          <a:xfrm>
            <a:off x="1051560" y="3877056"/>
            <a:ext cx="5029200" cy="640080"/>
          </a:xfrm>
          <a:prstGeom prst="rect">
            <a:avLst/>
          </a:prstGeom>
          <a:noFill/>
          <a:ln/>
        </p:spPr>
        <p:txBody>
          <a:bodyPr wrap="square" lIns="0" tIns="0" rIns="0" bIns="0" rtlCol="0" anchor="ctr"/>
          <a:lstStyle/>
          <a:p>
            <a:pPr algn="l" indent="0" marL="0">
              <a:buNone/>
            </a:pPr>
            <a:r>
              <a:rPr lang="en-US" sz="1500" dirty="0">
                <a:solidFill>
                  <a:schemeClr val="tx1"/>
                </a:solidFill>
                <a:latin typeface="Calibri" pitchFamily="34" charset="0"/>
                <a:ea typeface="Calibri" pitchFamily="34" charset="-122"/>
                <a:cs typeface="Calibri" pitchFamily="34" charset="-120"/>
              </a:rPr>
              <a:t>Lock the secret key with the server's public key (RSA-OAEP).</a:t>
            </a:r>
            <a:endParaRPr lang="en-US" sz="1500" dirty="0"/>
          </a:p>
        </p:txBody>
      </p:sp>
      <p:sp>
        <p:nvSpPr>
          <p:cNvPr id="17" name="num"/>
          <p:cNvSpPr/>
          <p:nvPr/>
        </p:nvSpPr>
        <p:spPr>
          <a:xfrm>
            <a:off x="457200" y="4636008"/>
            <a:ext cx="420624" cy="420624"/>
          </a:xfrm>
          <a:prstGeom prst="ellipse">
            <a:avLst/>
          </a:prstGeom>
          <a:solidFill>
            <a:schemeClr val="accent1"/>
          </a:solidFill>
          <a:ln/>
        </p:spPr>
      </p:sp>
      <p:sp>
        <p:nvSpPr>
          <p:cNvPr id="18" name="Text 15"/>
          <p:cNvSpPr txBox="1"/>
          <p:nvPr/>
        </p:nvSpPr>
        <p:spPr>
          <a:xfrm>
            <a:off x="457200" y="4636008"/>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Text 16"/>
          <p:cNvSpPr txBox="1"/>
          <p:nvPr/>
        </p:nvSpPr>
        <p:spPr>
          <a:xfrm>
            <a:off x="1051560" y="4590288"/>
            <a:ext cx="5029200" cy="640080"/>
          </a:xfrm>
          <a:prstGeom prst="rect">
            <a:avLst/>
          </a:prstGeom>
          <a:noFill/>
          <a:ln/>
        </p:spPr>
        <p:txBody>
          <a:bodyPr wrap="square" lIns="0" tIns="0" rIns="0" bIns="0" rtlCol="0" anchor="ctr"/>
          <a:lstStyle/>
          <a:p>
            <a:pPr algn="l" indent="0" marL="0">
              <a:buNone/>
            </a:pPr>
            <a:r>
              <a:rPr lang="en-US" sz="1500" dirty="0">
                <a:solidFill>
                  <a:schemeClr val="tx1"/>
                </a:solidFill>
                <a:latin typeface="Calibri" pitchFamily="34" charset="0"/>
                <a:ea typeface="Calibri" pitchFamily="34" charset="-122"/>
                <a:cs typeface="Calibri" pitchFamily="34" charset="-120"/>
              </a:rPr>
              <a:t>Server reverses it: opens the small lock, then the big lock.</a:t>
            </a:r>
            <a:endParaRPr lang="en-US" sz="1500" dirty="0"/>
          </a:p>
        </p:txBody>
      </p:sp>
      <p:sp>
        <p:nvSpPr>
          <p:cNvPr id="20" name="packet panel"/>
          <p:cNvSpPr/>
          <p:nvPr/>
        </p:nvSpPr>
        <p:spPr>
          <a:xfrm>
            <a:off x="6400800" y="1280160"/>
            <a:ext cx="5330952" cy="3017520"/>
          </a:xfrm>
          <a:prstGeom prst="roundRect">
            <a:avLst>
              <a:gd name="adj" fmla="val 3636"/>
            </a:avLst>
          </a:prstGeom>
          <a:solidFill>
            <a:schemeClr val="bg2"/>
          </a:solidFill>
          <a:ln/>
        </p:spPr>
      </p:sp>
      <p:sp>
        <p:nvSpPr>
          <p:cNvPr id="21" name="Text 18"/>
          <p:cNvSpPr txBox="1"/>
          <p:nvPr/>
        </p:nvSpPr>
        <p:spPr>
          <a:xfrm>
            <a:off x="6629400" y="1417320"/>
            <a:ext cx="4846320" cy="365760"/>
          </a:xfrm>
          <a:prstGeom prst="rect">
            <a:avLst/>
          </a:prstGeom>
          <a:noFill/>
          <a:ln/>
        </p:spPr>
        <p:txBody>
          <a:bodyPr wrap="square" lIns="0" tIns="0" rIns="0" bIns="0" rtlCol="0" anchor="t"/>
          <a:lstStyle/>
          <a:p>
            <a:pPr algn="l" indent="0" marL="0">
              <a:buNone/>
            </a:pPr>
            <a:r>
              <a:rPr lang="en-US" sz="1800" b="1" dirty="0">
                <a:solidFill>
                  <a:schemeClr val="tx2"/>
                </a:solidFill>
                <a:latin typeface="Calibri" pitchFamily="34" charset="0"/>
                <a:ea typeface="Calibri" pitchFamily="34" charset="-122"/>
                <a:cs typeface="Calibri" pitchFamily="34" charset="-120"/>
              </a:rPr>
              <a:t>What the packet carries</a:t>
            </a:r>
            <a:endParaRPr lang="en-US" sz="1800" dirty="0"/>
          </a:p>
        </p:txBody>
      </p:sp>
      <p:sp>
        <p:nvSpPr>
          <p:cNvPr id="22" name="node 1. Secret key, locked with RSA  (256 bytes)"/>
          <p:cNvSpPr/>
          <p:nvPr/>
        </p:nvSpPr>
        <p:spPr>
          <a:xfrm>
            <a:off x="6629400" y="1920240"/>
            <a:ext cx="4873752" cy="685800"/>
          </a:xfrm>
          <a:prstGeom prst="roundRect">
            <a:avLst>
              <a:gd name="adj" fmla="val 13333"/>
            </a:avLst>
          </a:prstGeom>
          <a:solidFill>
            <a:schemeClr val="accent4"/>
          </a:solidFill>
          <a:ln/>
        </p:spPr>
      </p:sp>
      <p:sp>
        <p:nvSpPr>
          <p:cNvPr id="23" name="Text 20"/>
          <p:cNvSpPr txBox="1"/>
          <p:nvPr/>
        </p:nvSpPr>
        <p:spPr>
          <a:xfrm>
            <a:off x="6702552" y="1920240"/>
            <a:ext cx="4727448" cy="6858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 Secret key, locked with RSA  (256 bytes)</a:t>
            </a:r>
            <a:endParaRPr lang="en-US" sz="1500" dirty="0"/>
          </a:p>
        </p:txBody>
      </p:sp>
      <p:sp>
        <p:nvSpPr>
          <p:cNvPr id="24" name="node 2. Random starter number, called IV  (12 bytes)"/>
          <p:cNvSpPr/>
          <p:nvPr/>
        </p:nvSpPr>
        <p:spPr>
          <a:xfrm>
            <a:off x="6629400" y="2724912"/>
            <a:ext cx="4873752" cy="685800"/>
          </a:xfrm>
          <a:prstGeom prst="roundRect">
            <a:avLst>
              <a:gd name="adj" fmla="val 13333"/>
            </a:avLst>
          </a:prstGeom>
          <a:solidFill>
            <a:schemeClr val="accent2"/>
          </a:solidFill>
          <a:ln/>
        </p:spPr>
      </p:sp>
      <p:sp>
        <p:nvSpPr>
          <p:cNvPr id="25" name="Text 22"/>
          <p:cNvSpPr txBox="1"/>
          <p:nvPr/>
        </p:nvSpPr>
        <p:spPr>
          <a:xfrm>
            <a:off x="6702552" y="2724912"/>
            <a:ext cx="4727448" cy="68580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2. Random starter number, called IV  (12 bytes)</a:t>
            </a:r>
            <a:endParaRPr lang="en-US" sz="1500" dirty="0"/>
          </a:p>
        </p:txBody>
      </p:sp>
      <p:sp>
        <p:nvSpPr>
          <p:cNvPr id="26" name="node 3. Locked payment + tamper seal  (data + 16 bytes)"/>
          <p:cNvSpPr/>
          <p:nvPr/>
        </p:nvSpPr>
        <p:spPr>
          <a:xfrm>
            <a:off x="6629400" y="3529584"/>
            <a:ext cx="4873752" cy="594360"/>
          </a:xfrm>
          <a:prstGeom prst="roundRect">
            <a:avLst>
              <a:gd name="adj" fmla="val 15385"/>
            </a:avLst>
          </a:prstGeom>
          <a:solidFill>
            <a:schemeClr val="accent1"/>
          </a:solidFill>
          <a:ln/>
        </p:spPr>
      </p:sp>
      <p:sp>
        <p:nvSpPr>
          <p:cNvPr id="27" name="Text 24"/>
          <p:cNvSpPr txBox="1"/>
          <p:nvPr/>
        </p:nvSpPr>
        <p:spPr>
          <a:xfrm>
            <a:off x="6702552" y="3529584"/>
            <a:ext cx="4727448" cy="5943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 Locked payment + tamper seal  (data + 16 bytes)</a:t>
            </a:r>
            <a:endParaRPr lang="en-US" sz="1500" dirty="0"/>
          </a:p>
        </p:txBody>
      </p:sp>
      <p:sp>
        <p:nvSpPr>
          <p:cNvPr id="28" name="code block"/>
          <p:cNvSpPr/>
          <p:nvPr/>
        </p:nvSpPr>
        <p:spPr>
          <a:xfrm>
            <a:off x="6400800" y="4526280"/>
            <a:ext cx="5330952" cy="1143000"/>
          </a:xfrm>
          <a:prstGeom prst="roundRect">
            <a:avLst>
              <a:gd name="adj" fmla="val 8000"/>
            </a:avLst>
          </a:prstGeom>
          <a:solidFill>
            <a:schemeClr val="tx1"/>
          </a:solidFill>
          <a:ln/>
        </p:spPr>
      </p:sp>
      <p:sp>
        <p:nvSpPr>
          <p:cNvPr id="29" name="Text 26"/>
          <p:cNvSpPr txBox="1"/>
          <p:nvPr/>
        </p:nvSpPr>
        <p:spPr>
          <a:xfrm>
            <a:off x="6583680" y="4663440"/>
            <a:ext cx="4965192" cy="868680"/>
          </a:xfrm>
          <a:prstGeom prst="rect">
            <a:avLst/>
          </a:prstGeom>
          <a:noFill/>
          <a:ln/>
        </p:spPr>
        <p:txBody>
          <a:bodyPr wrap="square" lIns="0" tIns="0" rIns="0" bIns="0" rtlCol="0" anchor="ctr"/>
          <a:lstStyle/>
          <a:p>
            <a:pPr algn="l" indent="0" marL="0">
              <a:buNone/>
            </a:pPr>
            <a:r>
              <a:rPr lang="en-US" sz="1300" dirty="0">
                <a:solidFill>
                  <a:schemeClr val="bg1"/>
                </a:solidFill>
                <a:latin typeface="Courier New" pitchFamily="34" charset="0"/>
                <a:ea typeface="Courier New" pitchFamily="34" charset="-122"/>
                <a:cs typeface="Courier New" pitchFamily="34" charset="-120"/>
              </a:rPr>
              <a:t>// test: tamperedCiphertextIsRejected</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flip ONE character  →  INVALID</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reason: decryption_failed</a:t>
            </a:r>
            <a:endParaRPr lang="en-US" sz="1300" dirty="0"/>
          </a:p>
        </p:txBody>
      </p:sp>
      <p:sp>
        <p:nvSpPr>
          <p:cNvPr id="30" name="Text 27"/>
          <p:cNvSpPr txBox="1"/>
          <p:nvPr/>
        </p:nvSpPr>
        <p:spPr>
          <a:xfrm>
            <a:off x="457200" y="5486400"/>
            <a:ext cx="5943600" cy="274320"/>
          </a:xfrm>
          <a:prstGeom prst="rect">
            <a:avLst/>
          </a:prstGeom>
          <a:noFill/>
          <a:ln/>
        </p:spPr>
        <p:txBody>
          <a:bodyPr wrap="square" lIns="0" tIns="0" rIns="0" bIns="0" rtlCol="0" anchor="t"/>
          <a:lstStyle/>
          <a:p>
            <a:pPr algn="l" indent="0" marL="0">
              <a:buNone/>
            </a:pPr>
            <a:r>
              <a:rPr lang="en-US" sz="1400" b="1" dirty="0">
                <a:solidFill>
                  <a:schemeClr val="accent5"/>
                </a:solidFill>
                <a:latin typeface="Calibri" pitchFamily="34" charset="0"/>
                <a:ea typeface="Calibri" pitchFamily="34" charset="-122"/>
                <a:cs typeface="Calibri" pitchFamily="34" charset="-120"/>
              </a:rPr>
              <a:t>Where: </a:t>
            </a:r>
            <a:pPr algn="l" indent="0" marL="0">
              <a:buNone/>
            </a:pPr>
            <a:r>
              <a:rPr lang="en-US" sz="1300" dirty="0">
                <a:solidFill>
                  <a:schemeClr val="accent4"/>
                </a:solidFill>
                <a:latin typeface="Courier New" pitchFamily="34" charset="0"/>
                <a:ea typeface="Courier New" pitchFamily="34" charset="-122"/>
                <a:cs typeface="Courier New" pitchFamily="34" charset="-120"/>
              </a:rPr>
              <a:t>HybridCryptoService.encrypt() / decrypt()</a:t>
            </a:r>
            <a:endParaRPr lang="en-US" sz="1400" dirty="0"/>
          </a:p>
        </p:txBody>
      </p:sp>
      <p:sp>
        <p:nvSpPr>
          <p:cNvPr id="31" name="Text 28"/>
          <p:cNvSpPr txBox="1"/>
          <p:nvPr/>
        </p:nvSpPr>
        <p:spPr>
          <a:xfrm>
            <a:off x="457200" y="5806440"/>
            <a:ext cx="6400800" cy="274320"/>
          </a:xfrm>
          <a:prstGeom prst="rect">
            <a:avLst/>
          </a:prstGeom>
          <a:noFill/>
          <a:ln/>
        </p:spPr>
        <p:txBody>
          <a:bodyPr wrap="square" lIns="0" tIns="0" rIns="0" bIns="0" rtlCol="0" anchor="t"/>
          <a:lstStyle/>
          <a:p>
            <a:pPr algn="l" indent="0" marL="0">
              <a:buNone/>
            </a:pPr>
            <a:r>
              <a:rPr lang="en-US" sz="1400" b="1" dirty="0">
                <a:solidFill>
                  <a:schemeClr val="accent5"/>
                </a:solidFill>
                <a:latin typeface="Calibri" pitchFamily="34" charset="0"/>
                <a:ea typeface="Calibri" pitchFamily="34" charset="-122"/>
                <a:cs typeface="Calibri" pitchFamily="34" charset="-120"/>
              </a:rPr>
              <a:t>Where: </a:t>
            </a:r>
            <a:pPr algn="l" indent="0" marL="0">
              <a:buNone/>
            </a:pPr>
            <a:r>
              <a:rPr lang="en-US" sz="1300" dirty="0">
                <a:solidFill>
                  <a:schemeClr val="accent4"/>
                </a:solidFill>
                <a:latin typeface="Courier New" pitchFamily="34" charset="0"/>
                <a:ea typeface="Courier New" pitchFamily="34" charset="-122"/>
                <a:cs typeface="Courier New" pitchFamily="34" charset="-120"/>
              </a:rPr>
              <a:t>ServerKeyHolder (makes the RSA key pair at start-up)</a:t>
            </a:r>
            <a:endParaRPr lang="en-US" sz="1400" dirty="0"/>
          </a:p>
        </p:txBody>
      </p:sp>
      <p:sp>
        <p:nvSpPr>
          <p:cNvPr id="32" name="Text 29"/>
          <p:cNvSpPr txBox="1"/>
          <p:nvPr/>
        </p:nvSpPr>
        <p:spPr>
          <a:xfrm>
            <a:off x="6400800" y="5806440"/>
            <a:ext cx="5330952" cy="274320"/>
          </a:xfrm>
          <a:prstGeom prst="rect">
            <a:avLst/>
          </a:prstGeom>
          <a:noFill/>
          <a:ln/>
        </p:spPr>
        <p:txBody>
          <a:bodyPr wrap="square" lIns="0" tIns="0" rIns="0" bIns="0" rtlCol="0" anchor="t"/>
          <a:lstStyle/>
          <a:p>
            <a:pPr algn="l" indent="0" marL="0">
              <a:buNone/>
            </a:pPr>
            <a:r>
              <a:rPr lang="en-US" sz="1300" i="1" dirty="0">
                <a:solidFill>
                  <a:schemeClr val="accent5"/>
                </a:solidFill>
                <a:latin typeface="Calibri" pitchFamily="34" charset="0"/>
                <a:ea typeface="Calibri" pitchFamily="34" charset="-122"/>
                <a:cs typeface="Calibri" pitchFamily="34" charset="-120"/>
              </a:rPr>
              <a:t>PIN is hashed and recorded only; it is not verified in this demo.</a:t>
            </a:r>
            <a:endParaRPr lang="en-US" sz="13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Flooding / gossip: spreading the word</a:t>
            </a:r>
            <a:endParaRPr lang="en-US" sz="3400" dirty="0"/>
          </a:p>
        </p:txBody>
      </p:sp>
      <p:sp>
        <p:nvSpPr>
          <p:cNvPr id="4" name="gossip node"/>
          <p:cNvSpPr/>
          <p:nvPr/>
        </p:nvSpPr>
        <p:spPr>
          <a:xfrm>
            <a:off x="640080" y="1463040"/>
            <a:ext cx="1234440" cy="1234440"/>
          </a:xfrm>
          <a:prstGeom prst="ellipse">
            <a:avLst/>
          </a:prstGeom>
          <a:solidFill>
            <a:schemeClr val="accent1"/>
          </a:solidFill>
          <a:ln/>
        </p:spPr>
      </p:sp>
      <p:sp>
        <p:nvSpPr>
          <p:cNvPr id="5" name="Text 2"/>
          <p:cNvSpPr txBox="1"/>
          <p:nvPr/>
        </p:nvSpPr>
        <p:spPr>
          <a:xfrm>
            <a:off x="640080" y="1463040"/>
            <a:ext cx="1234440" cy="12344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Node A</a:t>
            </a: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Alice</a:t>
            </a:r>
            <a:endParaRPr lang="en-US" sz="1500" dirty="0"/>
          </a:p>
        </p:txBody>
      </p:sp>
      <p:sp>
        <p:nvSpPr>
          <p:cNvPr id="6" name="Text 3"/>
          <p:cNvSpPr txBox="1"/>
          <p:nvPr/>
        </p:nvSpPr>
        <p:spPr>
          <a:xfrm>
            <a:off x="640080" y="2788920"/>
            <a:ext cx="1234440" cy="320040"/>
          </a:xfrm>
          <a:prstGeom prst="rect">
            <a:avLst/>
          </a:prstGeom>
          <a:noFill/>
          <a:ln/>
        </p:spPr>
        <p:txBody>
          <a:bodyPr wrap="square" lIns="0" tIns="0" rIns="0" bIns="0" rtlCol="0" anchor="t"/>
          <a:lstStyle/>
          <a:p>
            <a:pPr algn="ctr" indent="0" marL="0">
              <a:buNone/>
            </a:pPr>
            <a:r>
              <a:rPr lang="en-US" sz="1500" b="1" dirty="0">
                <a:solidFill>
                  <a:schemeClr val="accent3"/>
                </a:solidFill>
                <a:latin typeface="Calibri" pitchFamily="34" charset="0"/>
                <a:ea typeface="Calibri" pitchFamily="34" charset="-122"/>
                <a:cs typeface="Calibri" pitchFamily="34" charset="-120"/>
              </a:rPr>
              <a:t>TTL 5</a:t>
            </a:r>
            <a:endParaRPr lang="en-US" sz="1500" dirty="0"/>
          </a:p>
        </p:txBody>
      </p:sp>
      <p:sp>
        <p:nvSpPr>
          <p:cNvPr id="7" name="arrow"/>
          <p:cNvSpPr/>
          <p:nvPr/>
        </p:nvSpPr>
        <p:spPr>
          <a:xfrm>
            <a:off x="1965960" y="2075688"/>
            <a:ext cx="914400" cy="0"/>
          </a:xfrm>
          <a:prstGeom prst="line">
            <a:avLst/>
          </a:prstGeom>
          <a:noFill/>
          <a:ln w="28575">
            <a:solidFill>
              <a:schemeClr val="accent5"/>
            </a:solidFill>
            <a:prstDash val="solid"/>
            <a:tailEnd type="triangle"/>
          </a:ln>
        </p:spPr>
      </p:sp>
      <p:sp>
        <p:nvSpPr>
          <p:cNvPr id="8" name="gossip node"/>
          <p:cNvSpPr/>
          <p:nvPr/>
        </p:nvSpPr>
        <p:spPr>
          <a:xfrm>
            <a:off x="2971800" y="1463040"/>
            <a:ext cx="1234440" cy="1234440"/>
          </a:xfrm>
          <a:prstGeom prst="ellipse">
            <a:avLst/>
          </a:prstGeom>
          <a:solidFill>
            <a:schemeClr val="accent5"/>
          </a:solidFill>
          <a:ln/>
        </p:spPr>
      </p:sp>
      <p:sp>
        <p:nvSpPr>
          <p:cNvPr id="9" name="Text 6"/>
          <p:cNvSpPr txBox="1"/>
          <p:nvPr/>
        </p:nvSpPr>
        <p:spPr>
          <a:xfrm>
            <a:off x="2971800" y="1463040"/>
            <a:ext cx="1234440" cy="12344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Node B</a:t>
            </a: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stranger</a:t>
            </a:r>
            <a:endParaRPr lang="en-US" sz="1500" dirty="0"/>
          </a:p>
        </p:txBody>
      </p:sp>
      <p:sp>
        <p:nvSpPr>
          <p:cNvPr id="10" name="Text 7"/>
          <p:cNvSpPr txBox="1"/>
          <p:nvPr/>
        </p:nvSpPr>
        <p:spPr>
          <a:xfrm>
            <a:off x="2971800" y="2788920"/>
            <a:ext cx="1234440" cy="320040"/>
          </a:xfrm>
          <a:prstGeom prst="rect">
            <a:avLst/>
          </a:prstGeom>
          <a:noFill/>
          <a:ln/>
        </p:spPr>
        <p:txBody>
          <a:bodyPr wrap="square" lIns="0" tIns="0" rIns="0" bIns="0" rtlCol="0" anchor="t"/>
          <a:lstStyle/>
          <a:p>
            <a:pPr algn="ctr" indent="0" marL="0">
              <a:buNone/>
            </a:pPr>
            <a:r>
              <a:rPr lang="en-US" sz="1500" b="1" dirty="0">
                <a:solidFill>
                  <a:schemeClr val="accent3"/>
                </a:solidFill>
                <a:latin typeface="Calibri" pitchFamily="34" charset="0"/>
                <a:ea typeface="Calibri" pitchFamily="34" charset="-122"/>
                <a:cs typeface="Calibri" pitchFamily="34" charset="-120"/>
              </a:rPr>
              <a:t>TTL 4</a:t>
            </a:r>
            <a:endParaRPr lang="en-US" sz="1500" dirty="0"/>
          </a:p>
        </p:txBody>
      </p:sp>
      <p:sp>
        <p:nvSpPr>
          <p:cNvPr id="11" name="arrow"/>
          <p:cNvSpPr/>
          <p:nvPr/>
        </p:nvSpPr>
        <p:spPr>
          <a:xfrm>
            <a:off x="4297680" y="2075688"/>
            <a:ext cx="914400" cy="0"/>
          </a:xfrm>
          <a:prstGeom prst="line">
            <a:avLst/>
          </a:prstGeom>
          <a:noFill/>
          <a:ln w="28575">
            <a:solidFill>
              <a:schemeClr val="accent5"/>
            </a:solidFill>
            <a:prstDash val="solid"/>
            <a:tailEnd type="triangle"/>
          </a:ln>
        </p:spPr>
      </p:sp>
      <p:sp>
        <p:nvSpPr>
          <p:cNvPr id="12" name="gossip node"/>
          <p:cNvSpPr/>
          <p:nvPr/>
        </p:nvSpPr>
        <p:spPr>
          <a:xfrm>
            <a:off x="5303520" y="1463040"/>
            <a:ext cx="1234440" cy="1234440"/>
          </a:xfrm>
          <a:prstGeom prst="ellipse">
            <a:avLst/>
          </a:prstGeom>
          <a:solidFill>
            <a:schemeClr val="accent5"/>
          </a:solidFill>
          <a:ln/>
        </p:spPr>
      </p:sp>
      <p:sp>
        <p:nvSpPr>
          <p:cNvPr id="13" name="Text 10"/>
          <p:cNvSpPr txBox="1"/>
          <p:nvPr/>
        </p:nvSpPr>
        <p:spPr>
          <a:xfrm>
            <a:off x="5303520" y="1463040"/>
            <a:ext cx="1234440" cy="12344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Node C</a:t>
            </a: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stranger</a:t>
            </a:r>
            <a:endParaRPr lang="en-US" sz="1500" dirty="0"/>
          </a:p>
        </p:txBody>
      </p:sp>
      <p:sp>
        <p:nvSpPr>
          <p:cNvPr id="14" name="Text 11"/>
          <p:cNvSpPr txBox="1"/>
          <p:nvPr/>
        </p:nvSpPr>
        <p:spPr>
          <a:xfrm>
            <a:off x="5303520" y="2788920"/>
            <a:ext cx="1234440" cy="320040"/>
          </a:xfrm>
          <a:prstGeom prst="rect">
            <a:avLst/>
          </a:prstGeom>
          <a:noFill/>
          <a:ln/>
        </p:spPr>
        <p:txBody>
          <a:bodyPr wrap="square" lIns="0" tIns="0" rIns="0" bIns="0" rtlCol="0" anchor="t"/>
          <a:lstStyle/>
          <a:p>
            <a:pPr algn="ctr" indent="0" marL="0">
              <a:buNone/>
            </a:pPr>
            <a:r>
              <a:rPr lang="en-US" sz="1500" b="1" dirty="0">
                <a:solidFill>
                  <a:schemeClr val="accent3"/>
                </a:solidFill>
                <a:latin typeface="Calibri" pitchFamily="34" charset="0"/>
                <a:ea typeface="Calibri" pitchFamily="34" charset="-122"/>
                <a:cs typeface="Calibri" pitchFamily="34" charset="-120"/>
              </a:rPr>
              <a:t>TTL 3</a:t>
            </a:r>
            <a:endParaRPr lang="en-US" sz="1500" dirty="0"/>
          </a:p>
        </p:txBody>
      </p:sp>
      <p:sp>
        <p:nvSpPr>
          <p:cNvPr id="15" name="arrow"/>
          <p:cNvSpPr/>
          <p:nvPr/>
        </p:nvSpPr>
        <p:spPr>
          <a:xfrm>
            <a:off x="6629400" y="2075688"/>
            <a:ext cx="914400" cy="0"/>
          </a:xfrm>
          <a:prstGeom prst="line">
            <a:avLst/>
          </a:prstGeom>
          <a:noFill/>
          <a:ln w="28575">
            <a:solidFill>
              <a:schemeClr val="accent5"/>
            </a:solidFill>
            <a:prstDash val="solid"/>
            <a:tailEnd type="triangle"/>
          </a:ln>
        </p:spPr>
      </p:sp>
      <p:sp>
        <p:nvSpPr>
          <p:cNvPr id="16" name="gossip node"/>
          <p:cNvSpPr/>
          <p:nvPr/>
        </p:nvSpPr>
        <p:spPr>
          <a:xfrm>
            <a:off x="7635240" y="1463040"/>
            <a:ext cx="1234440" cy="1234440"/>
          </a:xfrm>
          <a:prstGeom prst="ellipse">
            <a:avLst/>
          </a:prstGeom>
          <a:solidFill>
            <a:schemeClr val="accent2"/>
          </a:solidFill>
          <a:ln/>
        </p:spPr>
      </p:sp>
      <p:sp>
        <p:nvSpPr>
          <p:cNvPr id="17" name="Text 14"/>
          <p:cNvSpPr txBox="1"/>
          <p:nvPr/>
        </p:nvSpPr>
        <p:spPr>
          <a:xfrm>
            <a:off x="7635240" y="1463040"/>
            <a:ext cx="1234440" cy="123444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Node D</a:t>
            </a:r>
            <a:endParaRPr lang="en-US" sz="1500" dirty="0"/>
          </a:p>
          <a:p>
            <a:pPr algn="ctr" indent="0" marL="0">
              <a:buNone/>
            </a:pPr>
            <a:r>
              <a:rPr lang="en-US" sz="1500" b="1" dirty="0">
                <a:solidFill>
                  <a:schemeClr val="tx1"/>
                </a:solidFill>
                <a:latin typeface="Calibri" pitchFamily="34" charset="0"/>
                <a:ea typeface="Calibri" pitchFamily="34" charset="-122"/>
                <a:cs typeface="Calibri" pitchFamily="34" charset="-120"/>
              </a:rPr>
              <a:t>bridge phone</a:t>
            </a:r>
            <a:endParaRPr lang="en-US" sz="1500" dirty="0"/>
          </a:p>
        </p:txBody>
      </p:sp>
      <p:sp>
        <p:nvSpPr>
          <p:cNvPr id="18" name="Text 15"/>
          <p:cNvSpPr txBox="1"/>
          <p:nvPr/>
        </p:nvSpPr>
        <p:spPr>
          <a:xfrm>
            <a:off x="7635240" y="2788920"/>
            <a:ext cx="1234440" cy="320040"/>
          </a:xfrm>
          <a:prstGeom prst="rect">
            <a:avLst/>
          </a:prstGeom>
          <a:noFill/>
          <a:ln/>
        </p:spPr>
        <p:txBody>
          <a:bodyPr wrap="square" lIns="0" tIns="0" rIns="0" bIns="0" rtlCol="0" anchor="t"/>
          <a:lstStyle/>
          <a:p>
            <a:pPr algn="ctr" indent="0" marL="0">
              <a:buNone/>
            </a:pPr>
            <a:r>
              <a:rPr lang="en-US" sz="1500" b="1" dirty="0">
                <a:solidFill>
                  <a:schemeClr val="accent3"/>
                </a:solidFill>
                <a:latin typeface="Calibri" pitchFamily="34" charset="0"/>
                <a:ea typeface="Calibri" pitchFamily="34" charset="-122"/>
                <a:cs typeface="Calibri" pitchFamily="34" charset="-120"/>
              </a:rPr>
              <a:t>TTL 2</a:t>
            </a:r>
            <a:endParaRPr lang="en-US" sz="1500" dirty="0"/>
          </a:p>
        </p:txBody>
      </p:sp>
      <p:sp>
        <p:nvSpPr>
          <p:cNvPr id="19" name="arrow"/>
          <p:cNvSpPr/>
          <p:nvPr/>
        </p:nvSpPr>
        <p:spPr>
          <a:xfrm>
            <a:off x="9738360" y="2075688"/>
            <a:ext cx="731520" cy="0"/>
          </a:xfrm>
          <a:prstGeom prst="line">
            <a:avLst/>
          </a:prstGeom>
          <a:noFill/>
          <a:ln w="28575">
            <a:solidFill>
              <a:schemeClr val="accent5"/>
            </a:solidFill>
            <a:prstDash val="solid"/>
            <a:tailEnd type="triangle"/>
          </a:ln>
        </p:spPr>
      </p:sp>
      <p:sp>
        <p:nvSpPr>
          <p:cNvPr id="20" name="server node"/>
          <p:cNvSpPr/>
          <p:nvPr/>
        </p:nvSpPr>
        <p:spPr>
          <a:xfrm>
            <a:off x="10515600" y="1600200"/>
            <a:ext cx="960120" cy="960120"/>
          </a:xfrm>
          <a:prstGeom prst="ellipse">
            <a:avLst/>
          </a:prstGeom>
          <a:solidFill>
            <a:schemeClr val="accent4"/>
          </a:solidFill>
          <a:ln/>
        </p:spPr>
      </p:sp>
      <p:sp>
        <p:nvSpPr>
          <p:cNvPr id="21" name="Text 18"/>
          <p:cNvSpPr txBox="1"/>
          <p:nvPr/>
        </p:nvSpPr>
        <p:spPr>
          <a:xfrm>
            <a:off x="10515600" y="1600200"/>
            <a:ext cx="960120" cy="9601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Server</a:t>
            </a:r>
            <a:endParaRPr lang="en-US" sz="1400" dirty="0"/>
          </a:p>
        </p:txBody>
      </p:sp>
      <p:sp>
        <p:nvSpPr>
          <p:cNvPr id="22" name="Text 19"/>
          <p:cNvSpPr txBox="1"/>
          <p:nvPr/>
        </p:nvSpPr>
        <p:spPr>
          <a:xfrm>
            <a:off x="640080" y="3200400"/>
            <a:ext cx="10515600"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Each hop copies the packet and lowers its TTL by 1. The bridge phone then hands it to the server.</a:t>
            </a:r>
            <a:endParaRPr lang="en-US" sz="1500" dirty="0"/>
          </a:p>
        </p:txBody>
      </p:sp>
      <p:sp>
        <p:nvSpPr>
          <p:cNvPr id="23" name="gossip explainer 0"/>
          <p:cNvSpPr/>
          <p:nvPr/>
        </p:nvSpPr>
        <p:spPr>
          <a:xfrm>
            <a:off x="457200" y="3703320"/>
            <a:ext cx="3630168" cy="2011680"/>
          </a:xfrm>
          <a:prstGeom prst="roundRect">
            <a:avLst>
              <a:gd name="adj" fmla="val 5455"/>
            </a:avLst>
          </a:prstGeom>
          <a:solidFill>
            <a:schemeClr val="bg2"/>
          </a:solidFill>
          <a:ln/>
        </p:spPr>
      </p:sp>
      <p:sp>
        <p:nvSpPr>
          <p:cNvPr id="24" name="What is flooding? circle"/>
          <p:cNvSpPr/>
          <p:nvPr/>
        </p:nvSpPr>
        <p:spPr>
          <a:xfrm>
            <a:off x="640080" y="3858768"/>
            <a:ext cx="548640" cy="548640"/>
          </a:xfrm>
          <a:prstGeom prst="ellipse">
            <a:avLst/>
          </a:prstGeom>
          <a:solidFill>
            <a:schemeClr val="accent1"/>
          </a:solidFill>
          <a:ln/>
        </p:spPr>
      </p:sp>
      <p:pic>
        <p:nvPicPr>
          <p:cNvPr id="25" name="Image 0" descr="What is flooding?">    </p:cNvPr>
          <p:cNvPicPr>
            <a:picLocks noChangeAspect="1"/>
          </p:cNvPicPr>
          <p:nvPr/>
        </p:nvPicPr>
        <p:blipFill>
          <a:blip r:embed="rId1"/>
          <a:stretch>
            <a:fillRect/>
          </a:stretch>
        </p:blipFill>
        <p:spPr>
          <a:xfrm>
            <a:off x="760781" y="3979469"/>
            <a:ext cx="307238" cy="307238"/>
          </a:xfrm>
          <a:prstGeom prst="rect">
            <a:avLst/>
          </a:prstGeom>
        </p:spPr>
      </p:pic>
      <p:sp>
        <p:nvSpPr>
          <p:cNvPr id="26" name="Text 22"/>
          <p:cNvSpPr txBox="1"/>
          <p:nvPr/>
        </p:nvSpPr>
        <p:spPr>
          <a:xfrm>
            <a:off x="1325880" y="3858768"/>
            <a:ext cx="2651760" cy="548640"/>
          </a:xfrm>
          <a:prstGeom prst="rect">
            <a:avLst/>
          </a:prstGeom>
          <a:noFill/>
          <a:ln/>
        </p:spPr>
        <p:txBody>
          <a:bodyPr wrap="square" lIns="0" tIns="0" rIns="0" bIns="0" rtlCol="0" anchor="ctr"/>
          <a:lstStyle/>
          <a:p>
            <a:pPr algn="l" indent="0" marL="0">
              <a:buNone/>
            </a:pPr>
            <a:r>
              <a:rPr lang="en-US" sz="1800" b="1" dirty="0">
                <a:solidFill>
                  <a:schemeClr val="tx2"/>
                </a:solidFill>
                <a:latin typeface="Calibri" pitchFamily="34" charset="0"/>
                <a:ea typeface="Calibri" pitchFamily="34" charset="-122"/>
                <a:cs typeface="Calibri" pitchFamily="34" charset="-120"/>
              </a:rPr>
              <a:t>What is flooding?</a:t>
            </a:r>
            <a:endParaRPr lang="en-US" sz="1800" dirty="0"/>
          </a:p>
        </p:txBody>
      </p:sp>
      <p:sp>
        <p:nvSpPr>
          <p:cNvPr id="27" name="Text 23"/>
          <p:cNvSpPr txBox="1"/>
          <p:nvPr/>
        </p:nvSpPr>
        <p:spPr>
          <a:xfrm>
            <a:off x="640080" y="4526280"/>
            <a:ext cx="3264408" cy="118872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Tell everyone you meet. Whoever can reach the internet first delivers it.</a:t>
            </a:r>
            <a:endParaRPr lang="en-US" sz="1600" dirty="0"/>
          </a:p>
        </p:txBody>
      </p:sp>
      <p:sp>
        <p:nvSpPr>
          <p:cNvPr id="28" name="gossip explainer 1"/>
          <p:cNvSpPr/>
          <p:nvPr/>
        </p:nvSpPr>
        <p:spPr>
          <a:xfrm>
            <a:off x="4279392" y="3703320"/>
            <a:ext cx="3630168" cy="2011680"/>
          </a:xfrm>
          <a:prstGeom prst="roundRect">
            <a:avLst>
              <a:gd name="adj" fmla="val 5455"/>
            </a:avLst>
          </a:prstGeom>
          <a:solidFill>
            <a:schemeClr val="bg2"/>
          </a:solidFill>
          <a:ln/>
        </p:spPr>
      </p:sp>
      <p:sp>
        <p:nvSpPr>
          <p:cNvPr id="29" name="Why gossip? circle"/>
          <p:cNvSpPr/>
          <p:nvPr/>
        </p:nvSpPr>
        <p:spPr>
          <a:xfrm>
            <a:off x="4462272" y="3858768"/>
            <a:ext cx="548640" cy="548640"/>
          </a:xfrm>
          <a:prstGeom prst="ellipse">
            <a:avLst/>
          </a:prstGeom>
          <a:solidFill>
            <a:schemeClr val="accent1"/>
          </a:solidFill>
          <a:ln/>
        </p:spPr>
      </p:sp>
      <p:pic>
        <p:nvPicPr>
          <p:cNvPr id="30" name="Image 1" descr="Why gossip?">    </p:cNvPr>
          <p:cNvPicPr>
            <a:picLocks noChangeAspect="1"/>
          </p:cNvPicPr>
          <p:nvPr/>
        </p:nvPicPr>
        <p:blipFill>
          <a:blip r:embed="rId2"/>
          <a:stretch>
            <a:fillRect/>
          </a:stretch>
        </p:blipFill>
        <p:spPr>
          <a:xfrm>
            <a:off x="4582973" y="3979469"/>
            <a:ext cx="307238" cy="307238"/>
          </a:xfrm>
          <a:prstGeom prst="rect">
            <a:avLst/>
          </a:prstGeom>
        </p:spPr>
      </p:pic>
      <p:sp>
        <p:nvSpPr>
          <p:cNvPr id="31" name="Text 26"/>
          <p:cNvSpPr txBox="1"/>
          <p:nvPr/>
        </p:nvSpPr>
        <p:spPr>
          <a:xfrm>
            <a:off x="5148072" y="3858768"/>
            <a:ext cx="2651760" cy="548640"/>
          </a:xfrm>
          <a:prstGeom prst="rect">
            <a:avLst/>
          </a:prstGeom>
          <a:noFill/>
          <a:ln/>
        </p:spPr>
        <p:txBody>
          <a:bodyPr wrap="square" lIns="0" tIns="0" rIns="0" bIns="0" rtlCol="0" anchor="ctr"/>
          <a:lstStyle/>
          <a:p>
            <a:pPr algn="l" indent="0" marL="0">
              <a:buNone/>
            </a:pPr>
            <a:r>
              <a:rPr lang="en-US" sz="1800" b="1" dirty="0">
                <a:solidFill>
                  <a:schemeClr val="tx2"/>
                </a:solidFill>
                <a:latin typeface="Calibri" pitchFamily="34" charset="0"/>
                <a:ea typeface="Calibri" pitchFamily="34" charset="-122"/>
                <a:cs typeface="Calibri" pitchFamily="34" charset="-120"/>
              </a:rPr>
              <a:t>Why gossip?</a:t>
            </a:r>
            <a:endParaRPr lang="en-US" sz="1800" dirty="0"/>
          </a:p>
        </p:txBody>
      </p:sp>
      <p:sp>
        <p:nvSpPr>
          <p:cNvPr id="32" name="Text 27"/>
          <p:cNvSpPr txBox="1"/>
          <p:nvPr/>
        </p:nvSpPr>
        <p:spPr>
          <a:xfrm>
            <a:off x="4462272" y="4526280"/>
            <a:ext cx="3264408" cy="118872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Like a rumour: every person tells everyone they meet. No map of the network needed.</a:t>
            </a:r>
            <a:endParaRPr lang="en-US" sz="1600" dirty="0"/>
          </a:p>
        </p:txBody>
      </p:sp>
      <p:sp>
        <p:nvSpPr>
          <p:cNvPr id="33" name="gossip explainer 2"/>
          <p:cNvSpPr/>
          <p:nvPr/>
        </p:nvSpPr>
        <p:spPr>
          <a:xfrm>
            <a:off x="8101584" y="3703320"/>
            <a:ext cx="3630168" cy="2011680"/>
          </a:xfrm>
          <a:prstGeom prst="roundRect">
            <a:avLst>
              <a:gd name="adj" fmla="val 5455"/>
            </a:avLst>
          </a:prstGeom>
          <a:solidFill>
            <a:schemeClr val="bg2"/>
          </a:solidFill>
          <a:ln/>
        </p:spPr>
      </p:sp>
      <p:sp>
        <p:nvSpPr>
          <p:cNvPr id="34" name="What is TTL? circle"/>
          <p:cNvSpPr/>
          <p:nvPr/>
        </p:nvSpPr>
        <p:spPr>
          <a:xfrm>
            <a:off x="8284464" y="3858768"/>
            <a:ext cx="548640" cy="548640"/>
          </a:xfrm>
          <a:prstGeom prst="ellipse">
            <a:avLst/>
          </a:prstGeom>
          <a:solidFill>
            <a:schemeClr val="accent1"/>
          </a:solidFill>
          <a:ln/>
        </p:spPr>
      </p:sp>
      <p:pic>
        <p:nvPicPr>
          <p:cNvPr id="35" name="Image 2" descr="What is TTL?">    </p:cNvPr>
          <p:cNvPicPr>
            <a:picLocks noChangeAspect="1"/>
          </p:cNvPicPr>
          <p:nvPr/>
        </p:nvPicPr>
        <p:blipFill>
          <a:blip r:embed="rId3"/>
          <a:stretch>
            <a:fillRect/>
          </a:stretch>
        </p:blipFill>
        <p:spPr>
          <a:xfrm>
            <a:off x="8405165" y="3979469"/>
            <a:ext cx="307238" cy="307238"/>
          </a:xfrm>
          <a:prstGeom prst="rect">
            <a:avLst/>
          </a:prstGeom>
        </p:spPr>
      </p:pic>
      <p:sp>
        <p:nvSpPr>
          <p:cNvPr id="36" name="Text 30"/>
          <p:cNvSpPr txBox="1"/>
          <p:nvPr/>
        </p:nvSpPr>
        <p:spPr>
          <a:xfrm>
            <a:off x="8970264" y="3858768"/>
            <a:ext cx="2651760" cy="548640"/>
          </a:xfrm>
          <a:prstGeom prst="rect">
            <a:avLst/>
          </a:prstGeom>
          <a:noFill/>
          <a:ln/>
        </p:spPr>
        <p:txBody>
          <a:bodyPr wrap="square" lIns="0" tIns="0" rIns="0" bIns="0" rtlCol="0" anchor="ctr"/>
          <a:lstStyle/>
          <a:p>
            <a:pPr algn="l" indent="0" marL="0">
              <a:buNone/>
            </a:pPr>
            <a:r>
              <a:rPr lang="en-US" sz="1800" b="1" dirty="0">
                <a:solidFill>
                  <a:schemeClr val="tx2"/>
                </a:solidFill>
                <a:latin typeface="Calibri" pitchFamily="34" charset="0"/>
                <a:ea typeface="Calibri" pitchFamily="34" charset="-122"/>
                <a:cs typeface="Calibri" pitchFamily="34" charset="-120"/>
              </a:rPr>
              <a:t>What is TTL?</a:t>
            </a:r>
            <a:endParaRPr lang="en-US" sz="1800" dirty="0"/>
          </a:p>
        </p:txBody>
      </p:sp>
      <p:sp>
        <p:nvSpPr>
          <p:cNvPr id="37" name="Text 31"/>
          <p:cNvSpPr txBox="1"/>
          <p:nvPr/>
        </p:nvSpPr>
        <p:spPr>
          <a:xfrm>
            <a:off x="8284464" y="4526280"/>
            <a:ext cx="3264408" cy="118872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A counter on each copy. It drops by 1 at every hop and the copy stops at 0.</a:t>
            </a:r>
            <a:endParaRPr lang="en-US" sz="1600" dirty="0"/>
          </a:p>
        </p:txBody>
      </p:sp>
      <p:sp>
        <p:nvSpPr>
          <p:cNvPr id="38" name="takeaway"/>
          <p:cNvSpPr/>
          <p:nvPr/>
        </p:nvSpPr>
        <p:spPr>
          <a:xfrm>
            <a:off x="457200" y="5852160"/>
            <a:ext cx="11274552" cy="502920"/>
          </a:xfrm>
          <a:prstGeom prst="roundRect">
            <a:avLst>
              <a:gd name="adj" fmla="val 21818"/>
            </a:avLst>
          </a:prstGeom>
          <a:solidFill>
            <a:srgbClr val="FDF1DC"/>
          </a:solidFill>
          <a:ln/>
        </p:spPr>
      </p:sp>
      <p:sp>
        <p:nvSpPr>
          <p:cNvPr id="39" name="Text 33"/>
          <p:cNvSpPr txBox="1"/>
          <p:nvPr/>
        </p:nvSpPr>
        <p:spPr>
          <a:xfrm>
            <a:off x="640080" y="5852160"/>
            <a:ext cx="10881360" cy="50292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Cost: lots of copies. That is why we need idempotency later.</a:t>
            </a:r>
            <a:endParaRPr lang="en-US" sz="16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Gossip in our project</a:t>
            </a:r>
            <a:endParaRPr lang="en-US" sz="3400" dirty="0"/>
          </a:p>
        </p:txBody>
      </p:sp>
      <p:sp>
        <p:nvSpPr>
          <p:cNvPr id="4" name="mesh link"/>
          <p:cNvSpPr/>
          <p:nvPr/>
        </p:nvSpPr>
        <p:spPr>
          <a:xfrm flipV="1">
            <a:off x="1188720" y="1737360"/>
            <a:ext cx="1783080" cy="1051560"/>
          </a:xfrm>
          <a:prstGeom prst="line">
            <a:avLst/>
          </a:prstGeom>
          <a:noFill/>
          <a:ln w="19050">
            <a:solidFill>
              <a:schemeClr val="accent5"/>
            </a:solidFill>
            <a:prstDash val="dash"/>
          </a:ln>
        </p:spPr>
      </p:sp>
      <p:sp>
        <p:nvSpPr>
          <p:cNvPr id="5" name="mesh link"/>
          <p:cNvSpPr/>
          <p:nvPr/>
        </p:nvSpPr>
        <p:spPr>
          <a:xfrm>
            <a:off x="1188720" y="2788920"/>
            <a:ext cx="1783080" cy="1051560"/>
          </a:xfrm>
          <a:prstGeom prst="line">
            <a:avLst/>
          </a:prstGeom>
          <a:noFill/>
          <a:ln w="19050">
            <a:solidFill>
              <a:schemeClr val="accent5"/>
            </a:solidFill>
            <a:prstDash val="dash"/>
          </a:ln>
        </p:spPr>
      </p:sp>
      <p:sp>
        <p:nvSpPr>
          <p:cNvPr id="6" name="mesh link"/>
          <p:cNvSpPr/>
          <p:nvPr/>
        </p:nvSpPr>
        <p:spPr>
          <a:xfrm>
            <a:off x="2971800" y="1737360"/>
            <a:ext cx="1783080" cy="1051560"/>
          </a:xfrm>
          <a:prstGeom prst="line">
            <a:avLst/>
          </a:prstGeom>
          <a:noFill/>
          <a:ln w="19050">
            <a:solidFill>
              <a:schemeClr val="accent5"/>
            </a:solidFill>
            <a:prstDash val="dash"/>
          </a:ln>
        </p:spPr>
      </p:sp>
      <p:sp>
        <p:nvSpPr>
          <p:cNvPr id="7" name="mesh link"/>
          <p:cNvSpPr/>
          <p:nvPr/>
        </p:nvSpPr>
        <p:spPr>
          <a:xfrm flipV="1">
            <a:off x="2971800" y="2788920"/>
            <a:ext cx="1783080" cy="1051560"/>
          </a:xfrm>
          <a:prstGeom prst="line">
            <a:avLst/>
          </a:prstGeom>
          <a:noFill/>
          <a:ln w="19050">
            <a:solidFill>
              <a:schemeClr val="accent5"/>
            </a:solidFill>
            <a:prstDash val="dash"/>
          </a:ln>
        </p:spPr>
      </p:sp>
      <p:sp>
        <p:nvSpPr>
          <p:cNvPr id="8" name="mesh link"/>
          <p:cNvSpPr/>
          <p:nvPr/>
        </p:nvSpPr>
        <p:spPr>
          <a:xfrm>
            <a:off x="4754880" y="2788920"/>
            <a:ext cx="1371600" cy="0"/>
          </a:xfrm>
          <a:prstGeom prst="line">
            <a:avLst/>
          </a:prstGeom>
          <a:noFill/>
          <a:ln w="19050">
            <a:solidFill>
              <a:schemeClr val="accent5"/>
            </a:solidFill>
            <a:prstDash val="dash"/>
          </a:ln>
        </p:spPr>
      </p:sp>
      <p:sp>
        <p:nvSpPr>
          <p:cNvPr id="9" name="mesh link"/>
          <p:cNvSpPr/>
          <p:nvPr/>
        </p:nvSpPr>
        <p:spPr>
          <a:xfrm>
            <a:off x="2971800" y="1737360"/>
            <a:ext cx="0" cy="2103120"/>
          </a:xfrm>
          <a:prstGeom prst="line">
            <a:avLst/>
          </a:prstGeom>
          <a:noFill/>
          <a:ln w="19050">
            <a:solidFill>
              <a:schemeClr val="accent5"/>
            </a:solidFill>
            <a:prstDash val="dash"/>
          </a:ln>
        </p:spPr>
      </p:sp>
      <p:sp>
        <p:nvSpPr>
          <p:cNvPr id="10" name="mesh link"/>
          <p:cNvSpPr/>
          <p:nvPr/>
        </p:nvSpPr>
        <p:spPr>
          <a:xfrm>
            <a:off x="1188720" y="2788920"/>
            <a:ext cx="3566160" cy="0"/>
          </a:xfrm>
          <a:prstGeom prst="line">
            <a:avLst/>
          </a:prstGeom>
          <a:noFill/>
          <a:ln w="19050">
            <a:solidFill>
              <a:schemeClr val="accent5"/>
            </a:solidFill>
            <a:prstDash val="dash"/>
          </a:ln>
        </p:spPr>
      </p:sp>
      <p:sp>
        <p:nvSpPr>
          <p:cNvPr id="11" name="phone phone-alice"/>
          <p:cNvSpPr/>
          <p:nvPr/>
        </p:nvSpPr>
        <p:spPr>
          <a:xfrm>
            <a:off x="548640" y="2468880"/>
            <a:ext cx="1280160" cy="640080"/>
          </a:xfrm>
          <a:prstGeom prst="roundRect">
            <a:avLst>
              <a:gd name="adj" fmla="val 14286"/>
            </a:avLst>
          </a:prstGeom>
          <a:solidFill>
            <a:schemeClr val="accent1"/>
          </a:solidFill>
          <a:ln/>
        </p:spPr>
      </p:sp>
      <p:sp>
        <p:nvSpPr>
          <p:cNvPr id="12" name="Text 9"/>
          <p:cNvSpPr txBox="1"/>
          <p:nvPr/>
        </p:nvSpPr>
        <p:spPr>
          <a:xfrm>
            <a:off x="548640" y="2468880"/>
            <a:ext cx="1280160" cy="6400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alice</a:t>
            </a:r>
            <a:endParaRPr lang="en-US" sz="1400" dirty="0"/>
          </a:p>
        </p:txBody>
      </p:sp>
      <p:sp>
        <p:nvSpPr>
          <p:cNvPr id="13" name="phone phone-stranger1"/>
          <p:cNvSpPr/>
          <p:nvPr/>
        </p:nvSpPr>
        <p:spPr>
          <a:xfrm>
            <a:off x="2331720" y="1417320"/>
            <a:ext cx="1280160" cy="640080"/>
          </a:xfrm>
          <a:prstGeom prst="roundRect">
            <a:avLst>
              <a:gd name="adj" fmla="val 14286"/>
            </a:avLst>
          </a:prstGeom>
          <a:solidFill>
            <a:schemeClr val="accent5"/>
          </a:solidFill>
          <a:ln/>
        </p:spPr>
      </p:sp>
      <p:sp>
        <p:nvSpPr>
          <p:cNvPr id="14" name="Text 11"/>
          <p:cNvSpPr txBox="1"/>
          <p:nvPr/>
        </p:nvSpPr>
        <p:spPr>
          <a:xfrm>
            <a:off x="2331720" y="1417320"/>
            <a:ext cx="1280160" cy="6400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stranger1</a:t>
            </a:r>
            <a:endParaRPr lang="en-US" sz="1400" dirty="0"/>
          </a:p>
        </p:txBody>
      </p:sp>
      <p:sp>
        <p:nvSpPr>
          <p:cNvPr id="15" name="phone phone-stranger2"/>
          <p:cNvSpPr/>
          <p:nvPr/>
        </p:nvSpPr>
        <p:spPr>
          <a:xfrm>
            <a:off x="2331720" y="3520440"/>
            <a:ext cx="1280160" cy="640080"/>
          </a:xfrm>
          <a:prstGeom prst="roundRect">
            <a:avLst>
              <a:gd name="adj" fmla="val 14286"/>
            </a:avLst>
          </a:prstGeom>
          <a:solidFill>
            <a:schemeClr val="accent5"/>
          </a:solidFill>
          <a:ln/>
        </p:spPr>
      </p:sp>
      <p:sp>
        <p:nvSpPr>
          <p:cNvPr id="16" name="Text 13"/>
          <p:cNvSpPr txBox="1"/>
          <p:nvPr/>
        </p:nvSpPr>
        <p:spPr>
          <a:xfrm>
            <a:off x="2331720" y="3520440"/>
            <a:ext cx="1280160" cy="6400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stranger2</a:t>
            </a:r>
            <a:endParaRPr lang="en-US" sz="1400" dirty="0"/>
          </a:p>
        </p:txBody>
      </p:sp>
      <p:sp>
        <p:nvSpPr>
          <p:cNvPr id="17" name="phone phone-stranger3"/>
          <p:cNvSpPr/>
          <p:nvPr/>
        </p:nvSpPr>
        <p:spPr>
          <a:xfrm>
            <a:off x="4114800" y="2468880"/>
            <a:ext cx="1280160" cy="640080"/>
          </a:xfrm>
          <a:prstGeom prst="roundRect">
            <a:avLst>
              <a:gd name="adj" fmla="val 14286"/>
            </a:avLst>
          </a:prstGeom>
          <a:solidFill>
            <a:schemeClr val="accent5"/>
          </a:solidFill>
          <a:ln/>
        </p:spPr>
      </p:sp>
      <p:sp>
        <p:nvSpPr>
          <p:cNvPr id="18" name="Text 15"/>
          <p:cNvSpPr txBox="1"/>
          <p:nvPr/>
        </p:nvSpPr>
        <p:spPr>
          <a:xfrm>
            <a:off x="4114800" y="2468880"/>
            <a:ext cx="1280160" cy="6400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stranger3</a:t>
            </a:r>
            <a:endParaRPr lang="en-US" sz="1400" dirty="0"/>
          </a:p>
        </p:txBody>
      </p:sp>
      <p:sp>
        <p:nvSpPr>
          <p:cNvPr id="19" name="phone phone-bridge"/>
          <p:cNvSpPr/>
          <p:nvPr/>
        </p:nvSpPr>
        <p:spPr>
          <a:xfrm>
            <a:off x="5486400" y="2468880"/>
            <a:ext cx="1280160" cy="640080"/>
          </a:xfrm>
          <a:prstGeom prst="roundRect">
            <a:avLst>
              <a:gd name="adj" fmla="val 14286"/>
            </a:avLst>
          </a:prstGeom>
          <a:solidFill>
            <a:schemeClr val="accent2"/>
          </a:solidFill>
          <a:ln/>
        </p:spPr>
      </p:sp>
      <p:sp>
        <p:nvSpPr>
          <p:cNvPr id="20" name="Text 17"/>
          <p:cNvSpPr txBox="1"/>
          <p:nvPr/>
        </p:nvSpPr>
        <p:spPr>
          <a:xfrm>
            <a:off x="5486400" y="2468880"/>
            <a:ext cx="1280160" cy="64008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bridge</a:t>
            </a:r>
            <a:endParaRPr lang="en-US" sz="1400" dirty="0"/>
          </a:p>
        </p:txBody>
      </p:sp>
      <p:sp>
        <p:nvSpPr>
          <p:cNvPr id="21" name="Text 18"/>
          <p:cNvSpPr txBox="1"/>
          <p:nvPr/>
        </p:nvSpPr>
        <p:spPr>
          <a:xfrm>
            <a:off x="5074920" y="3246120"/>
            <a:ext cx="2194560" cy="457200"/>
          </a:xfrm>
          <a:prstGeom prst="rect">
            <a:avLst/>
          </a:prstGeom>
          <a:noFill/>
          <a:ln/>
        </p:spPr>
        <p:txBody>
          <a:bodyPr wrap="square" lIns="0" tIns="0" rIns="0" bIns="0" rtlCol="0" anchor="t"/>
          <a:lstStyle/>
          <a:p>
            <a:pPr algn="ctr" indent="0" marL="0">
              <a:buNone/>
            </a:pPr>
            <a:r>
              <a:rPr lang="en-US" sz="1300" i="1" dirty="0">
                <a:solidFill>
                  <a:schemeClr val="accent3"/>
                </a:solidFill>
                <a:latin typeface="Calibri" pitchFamily="34" charset="0"/>
                <a:ea typeface="Calibri" pitchFamily="34" charset="-122"/>
                <a:cs typeface="Calibri" pitchFamily="34" charset="-120"/>
              </a:rPr>
              <a:t>Only the bridge has internet</a:t>
            </a:r>
            <a:endParaRPr lang="en-US" sz="1300" dirty="0"/>
          </a:p>
        </p:txBody>
      </p:sp>
      <p:sp>
        <p:nvSpPr>
          <p:cNvPr id="22" name="Text 19"/>
          <p:cNvSpPr txBox="1"/>
          <p:nvPr/>
        </p:nvSpPr>
        <p:spPr>
          <a:xfrm>
            <a:off x="548640" y="4572000"/>
            <a:ext cx="6400800" cy="320040"/>
          </a:xfrm>
          <a:prstGeom prst="rect">
            <a:avLst/>
          </a:prstGeom>
          <a:noFill/>
          <a:ln/>
        </p:spPr>
        <p:txBody>
          <a:bodyPr wrap="square" lIns="0" tIns="0" rIns="0" bIns="0" rtlCol="0" anchor="t"/>
          <a:lstStyle/>
          <a:p>
            <a:pPr algn="l" indent="0" marL="0">
              <a:buNone/>
            </a:pPr>
            <a:r>
              <a:rPr lang="en-US" sz="1400" i="1" dirty="0">
                <a:solidFill>
                  <a:schemeClr val="accent5"/>
                </a:solidFill>
                <a:latin typeface="Calibri" pitchFamily="34" charset="0"/>
                <a:ea typeface="Calibri" pitchFamily="34" charset="-122"/>
                <a:cs typeface="Calibri" pitchFamily="34" charset="-120"/>
              </a:rPr>
              <a:t>5 simulated phones. Every phone is in range of every other.</a:t>
            </a:r>
            <a:endParaRPr lang="en-US" sz="1400" dirty="0"/>
          </a:p>
        </p:txBody>
      </p:sp>
      <p:sp>
        <p:nvSpPr>
          <p:cNvPr id="23" name="round panel"/>
          <p:cNvSpPr/>
          <p:nvPr/>
        </p:nvSpPr>
        <p:spPr>
          <a:xfrm>
            <a:off x="7315200" y="1280160"/>
            <a:ext cx="4416552" cy="4434840"/>
          </a:xfrm>
          <a:prstGeom prst="roundRect">
            <a:avLst>
              <a:gd name="adj" fmla="val 2484"/>
            </a:avLst>
          </a:prstGeom>
          <a:solidFill>
            <a:schemeClr val="bg2"/>
          </a:solidFill>
          <a:ln/>
        </p:spPr>
      </p:sp>
      <p:sp>
        <p:nvSpPr>
          <p:cNvPr id="24" name="Text 21"/>
          <p:cNvSpPr txBox="1"/>
          <p:nvPr/>
        </p:nvSpPr>
        <p:spPr>
          <a:xfrm>
            <a:off x="7543800" y="1417320"/>
            <a:ext cx="3931920" cy="365760"/>
          </a:xfrm>
          <a:prstGeom prst="rect">
            <a:avLst/>
          </a:prstGeom>
          <a:noFill/>
          <a:ln/>
        </p:spPr>
        <p:txBody>
          <a:bodyPr wrap="square" lIns="0" tIns="0" rIns="0" bIns="0" rtlCol="0" anchor="t"/>
          <a:lstStyle/>
          <a:p>
            <a:pPr algn="l" indent="0" marL="0">
              <a:buNone/>
            </a:pPr>
            <a:r>
              <a:rPr lang="en-US" sz="1800" b="1" dirty="0">
                <a:solidFill>
                  <a:schemeClr val="tx2"/>
                </a:solidFill>
                <a:latin typeface="Calibri" pitchFamily="34" charset="0"/>
                <a:ea typeface="Calibri" pitchFamily="34" charset="-122"/>
                <a:cs typeface="Calibri" pitchFamily="34" charset="-120"/>
              </a:rPr>
              <a:t>One gossip round</a:t>
            </a:r>
            <a:endParaRPr lang="en-US" sz="1800" dirty="0"/>
          </a:p>
        </p:txBody>
      </p:sp>
      <p:sp>
        <p:nvSpPr>
          <p:cNvPr id="25" name="Text 22"/>
          <p:cNvSpPr txBox="1"/>
          <p:nvPr/>
        </p:nvSpPr>
        <p:spPr>
          <a:xfrm>
            <a:off x="7543800" y="1874520"/>
            <a:ext cx="3977640" cy="32004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latin typeface="Calibri" pitchFamily="34" charset="0"/>
                <a:ea typeface="Calibri" pitchFamily="34" charset="-122"/>
                <a:cs typeface="Calibri" pitchFamily="34" charset="-120"/>
              </a:rPr>
              <a:t>Take a snapshot of what every phone holds.</a:t>
            </a:r>
            <a:endParaRPr lang="en-US" sz="1500" dirty="0"/>
          </a:p>
          <a:p>
            <a:pPr marL="342900" indent="-342900">
              <a:spcAft>
                <a:spcPts val="600"/>
              </a:spcAft>
              <a:buSzPct val="100000"/>
              <a:buFont typeface="+mj-lt"/>
              <a:buAutoNum type="arabicPeriod" startAt="1"/>
            </a:pPr>
            <a:r>
              <a:rPr lang="en-US" sz="1500" dirty="0">
                <a:solidFill>
                  <a:schemeClr val="tx1"/>
                </a:solidFill>
                <a:latin typeface="Calibri" pitchFamily="34" charset="0"/>
                <a:ea typeface="Calibri" pitchFamily="34" charset="-122"/>
                <a:cs typeface="Calibri" pitchFamily="34" charset="-120"/>
              </a:rPr>
              <a:t>Each phone gives each packet to every phone that does not have it.</a:t>
            </a:r>
            <a:endParaRPr lang="en-US" sz="1500" dirty="0"/>
          </a:p>
          <a:p>
            <a:pPr marL="342900" indent="-342900">
              <a:spcAft>
                <a:spcPts val="600"/>
              </a:spcAft>
              <a:buSzPct val="100000"/>
              <a:buFont typeface="+mj-lt"/>
              <a:buAutoNum type="arabicPeriod" startAt="1"/>
            </a:pPr>
            <a:r>
              <a:rPr lang="en-US" sz="1500" dirty="0">
                <a:solidFill>
                  <a:schemeClr val="tx1"/>
                </a:solidFill>
                <a:latin typeface="Calibri" pitchFamily="34" charset="0"/>
                <a:ea typeface="Calibri" pitchFamily="34" charset="-122"/>
                <a:cs typeface="Calibri" pitchFamily="34" charset="-120"/>
              </a:rPr>
              <a:t>TTL goes down by 1 on every copy.</a:t>
            </a:r>
            <a:endParaRPr lang="en-US" sz="1500" dirty="0"/>
          </a:p>
          <a:p>
            <a:pPr marL="342900" indent="-342900">
              <a:spcAft>
                <a:spcPts val="600"/>
              </a:spcAft>
              <a:buSzPct val="100000"/>
              <a:buFont typeface="+mj-lt"/>
              <a:buAutoNum type="arabicPeriod" startAt="1"/>
            </a:pPr>
            <a:r>
              <a:rPr lang="en-US" sz="1500" dirty="0">
                <a:solidFill>
                  <a:schemeClr val="tx1"/>
                </a:solidFill>
                <a:latin typeface="Calibri" pitchFamily="34" charset="0"/>
                <a:ea typeface="Calibri" pitchFamily="34" charset="-122"/>
                <a:cs typeface="Calibri" pitchFamily="34" charset="-120"/>
              </a:rPr>
              <a:t>Packets at TTL 0 are not passed on.</a:t>
            </a:r>
            <a:endParaRPr lang="en-US" sz="1500" dirty="0"/>
          </a:p>
          <a:p>
            <a:pPr marL="342900" indent="-342900">
              <a:spcAft>
                <a:spcPts val="600"/>
              </a:spcAft>
              <a:buSzPct val="100000"/>
              <a:buFont typeface="+mj-lt"/>
              <a:buAutoNum type="arabicPeriod" startAt="1"/>
            </a:pPr>
            <a:r>
              <a:rPr lang="en-US" sz="1500" dirty="0">
                <a:solidFill>
                  <a:schemeClr val="tx1"/>
                </a:solidFill>
                <a:latin typeface="Calibri" pitchFamily="34" charset="0"/>
                <a:ea typeface="Calibri" pitchFamily="34" charset="-122"/>
                <a:cs typeface="Calibri" pitchFamily="34" charset="-120"/>
              </a:rPr>
              <a:t>Then 'flush': the bridge phone uploads everything to /api/bridge/ingest.</a:t>
            </a:r>
            <a:endParaRPr lang="en-US" sz="1500" dirty="0"/>
          </a:p>
        </p:txBody>
      </p:sp>
      <p:sp>
        <p:nvSpPr>
          <p:cNvPr id="26" name="Text 23"/>
          <p:cNvSpPr txBox="1"/>
          <p:nvPr/>
        </p:nvSpPr>
        <p:spPr>
          <a:xfrm>
            <a:off x="457200" y="5257800"/>
            <a:ext cx="6766560" cy="274320"/>
          </a:xfrm>
          <a:prstGeom prst="rect">
            <a:avLst/>
          </a:prstGeom>
          <a:noFill/>
          <a:ln/>
        </p:spPr>
        <p:txBody>
          <a:bodyPr wrap="square" lIns="0" tIns="0" rIns="0" bIns="0" rtlCol="0" anchor="t"/>
          <a:lstStyle/>
          <a:p>
            <a:pPr algn="l" indent="0" marL="0">
              <a:buNone/>
            </a:pPr>
            <a:r>
              <a:rPr lang="en-US" sz="1400" b="1" dirty="0">
                <a:solidFill>
                  <a:schemeClr val="accent5"/>
                </a:solidFill>
                <a:latin typeface="Calibri" pitchFamily="34" charset="0"/>
                <a:ea typeface="Calibri" pitchFamily="34" charset="-122"/>
                <a:cs typeface="Calibri" pitchFamily="34" charset="-120"/>
              </a:rPr>
              <a:t>Where: </a:t>
            </a:r>
            <a:pPr algn="l" indent="0" marL="0">
              <a:buNone/>
            </a:pPr>
            <a:r>
              <a:rPr lang="en-US" sz="1300" dirty="0">
                <a:solidFill>
                  <a:schemeClr val="accent4"/>
                </a:solidFill>
                <a:latin typeface="Courier New" pitchFamily="34" charset="0"/>
                <a:ea typeface="Courier New" pitchFamily="34" charset="-122"/>
                <a:cs typeface="Courier New" pitchFamily="34" charset="-120"/>
              </a:rPr>
              <a:t>MeshSimulatorService.gossipOnce()</a:t>
            </a:r>
            <a:endParaRPr lang="en-US" sz="1400" dirty="0"/>
          </a:p>
        </p:txBody>
      </p:sp>
      <p:sp>
        <p:nvSpPr>
          <p:cNvPr id="27" name="Text 24"/>
          <p:cNvSpPr txBox="1"/>
          <p:nvPr/>
        </p:nvSpPr>
        <p:spPr>
          <a:xfrm>
            <a:off x="457200" y="5577840"/>
            <a:ext cx="6766560" cy="274320"/>
          </a:xfrm>
          <a:prstGeom prst="rect">
            <a:avLst/>
          </a:prstGeom>
          <a:noFill/>
          <a:ln/>
        </p:spPr>
        <p:txBody>
          <a:bodyPr wrap="square" lIns="0" tIns="0" rIns="0" bIns="0" rtlCol="0" anchor="t"/>
          <a:lstStyle/>
          <a:p>
            <a:pPr algn="l" indent="0" marL="0">
              <a:buNone/>
            </a:pPr>
            <a:r>
              <a:rPr lang="en-US" sz="1400" b="1" dirty="0">
                <a:solidFill>
                  <a:schemeClr val="accent5"/>
                </a:solidFill>
                <a:latin typeface="Calibri" pitchFamily="34" charset="0"/>
                <a:ea typeface="Calibri" pitchFamily="34" charset="-122"/>
                <a:cs typeface="Calibri" pitchFamily="34" charset="-120"/>
              </a:rPr>
              <a:t>Where: </a:t>
            </a:r>
            <a:pPr algn="l" indent="0" marL="0">
              <a:buNone/>
            </a:pPr>
            <a:r>
              <a:rPr lang="en-US" sz="1300" dirty="0">
                <a:solidFill>
                  <a:schemeClr val="accent4"/>
                </a:solidFill>
                <a:latin typeface="Courier New" pitchFamily="34" charset="0"/>
                <a:ea typeface="Courier New" pitchFamily="34" charset="-122"/>
                <a:cs typeface="Courier New" pitchFamily="34" charset="-120"/>
              </a:rPr>
              <a:t>VirtualDevice.hold() ignores a packet it already has</a:t>
            </a:r>
            <a:endParaRPr lang="en-US" sz="1400" dirty="0"/>
          </a:p>
        </p:txBody>
      </p:sp>
      <p:sp>
        <p:nvSpPr>
          <p:cNvPr id="28" name="Text 25"/>
          <p:cNvSpPr txBox="1"/>
          <p:nvPr/>
        </p:nvSpPr>
        <p:spPr>
          <a:xfrm>
            <a:off x="7315200" y="5852160"/>
            <a:ext cx="4416552" cy="365760"/>
          </a:xfrm>
          <a:prstGeom prst="rect">
            <a:avLst/>
          </a:prstGeom>
          <a:noFill/>
          <a:ln/>
        </p:spPr>
        <p:txBody>
          <a:bodyPr wrap="square" lIns="0" tIns="0" rIns="0" bIns="0" rtlCol="0" anchor="t"/>
          <a:lstStyle/>
          <a:p>
            <a:pPr algn="l" indent="0" marL="0">
              <a:buNone/>
            </a:pPr>
            <a:r>
              <a:rPr lang="en-US" sz="1300" i="1" dirty="0">
                <a:solidFill>
                  <a:schemeClr val="accent3"/>
                </a:solidFill>
                <a:latin typeface="Calibri" pitchFamily="34" charset="0"/>
                <a:ea typeface="Calibri" pitchFamily="34" charset="-122"/>
                <a:cs typeface="Calibri" pitchFamily="34" charset="-120"/>
              </a:rPr>
              <a:t>Real Bluetooth is not built: this is a software simulation.</a:t>
            </a:r>
            <a:endParaRPr lang="en-US" sz="13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Idempotency: pay twice, charged once</a:t>
            </a:r>
            <a:endParaRPr lang="en-US" sz="3400" dirty="0"/>
          </a:p>
        </p:txBody>
      </p:sp>
      <p:sp>
        <p:nvSpPr>
          <p:cNvPr id="4" name="without"/>
          <p:cNvSpPr/>
          <p:nvPr/>
        </p:nvSpPr>
        <p:spPr>
          <a:xfrm>
            <a:off x="457200" y="1325880"/>
            <a:ext cx="5440680" cy="3246120"/>
          </a:xfrm>
          <a:prstGeom prst="roundRect">
            <a:avLst>
              <a:gd name="adj" fmla="val 3380"/>
            </a:avLst>
          </a:prstGeom>
          <a:solidFill>
            <a:srgbClr val="FBEBE3"/>
          </a:solidFill>
          <a:ln/>
        </p:spPr>
      </p:sp>
      <p:sp>
        <p:nvSpPr>
          <p:cNvPr id="5" name="Text 2"/>
          <p:cNvSpPr txBox="1"/>
          <p:nvPr/>
        </p:nvSpPr>
        <p:spPr>
          <a:xfrm>
            <a:off x="685800" y="1463040"/>
            <a:ext cx="4937760" cy="365760"/>
          </a:xfrm>
          <a:prstGeom prst="rect">
            <a:avLst/>
          </a:prstGeom>
          <a:noFill/>
          <a:ln/>
        </p:spPr>
        <p:txBody>
          <a:bodyPr wrap="square" lIns="0" tIns="0" rIns="0" bIns="0" rtlCol="0" anchor="t"/>
          <a:lstStyle/>
          <a:p>
            <a:pPr algn="l" indent="0" marL="0">
              <a:buNone/>
            </a:pPr>
            <a:r>
              <a:rPr lang="en-US" sz="1600" b="1" dirty="0">
                <a:solidFill>
                  <a:schemeClr val="accent3"/>
                </a:solidFill>
                <a:latin typeface="Calibri" pitchFamily="34" charset="0"/>
                <a:ea typeface="Calibri" pitchFamily="34" charset="-122"/>
                <a:cs typeface="Calibri" pitchFamily="34" charset="-120"/>
              </a:rPr>
              <a:t>WITHOUT idempotency</a:t>
            </a:r>
            <a:endParaRPr lang="en-US" sz="1600" dirty="0"/>
          </a:p>
        </p:txBody>
      </p:sp>
      <p:sp>
        <p:nvSpPr>
          <p:cNvPr id="6" name="node Pay"/>
          <p:cNvSpPr/>
          <p:nvPr/>
        </p:nvSpPr>
        <p:spPr>
          <a:xfrm>
            <a:off x="685800" y="2011680"/>
            <a:ext cx="1371600" cy="594360"/>
          </a:xfrm>
          <a:prstGeom prst="roundRect">
            <a:avLst>
              <a:gd name="adj" fmla="val 15385"/>
            </a:avLst>
          </a:prstGeom>
          <a:solidFill>
            <a:schemeClr val="accent5"/>
          </a:solidFill>
          <a:ln/>
        </p:spPr>
      </p:sp>
      <p:sp>
        <p:nvSpPr>
          <p:cNvPr id="7" name="Text 4"/>
          <p:cNvSpPr txBox="1"/>
          <p:nvPr/>
        </p:nvSpPr>
        <p:spPr>
          <a:xfrm>
            <a:off x="758952" y="2011680"/>
            <a:ext cx="1225296" cy="5943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Pay</a:t>
            </a:r>
            <a:endParaRPr lang="en-US" sz="1600" dirty="0"/>
          </a:p>
        </p:txBody>
      </p:sp>
      <p:sp>
        <p:nvSpPr>
          <p:cNvPr id="8" name="node Pay"/>
          <p:cNvSpPr/>
          <p:nvPr/>
        </p:nvSpPr>
        <p:spPr>
          <a:xfrm>
            <a:off x="685800" y="2788920"/>
            <a:ext cx="1371600" cy="594360"/>
          </a:xfrm>
          <a:prstGeom prst="roundRect">
            <a:avLst>
              <a:gd name="adj" fmla="val 15385"/>
            </a:avLst>
          </a:prstGeom>
          <a:solidFill>
            <a:schemeClr val="accent5"/>
          </a:solidFill>
          <a:ln/>
        </p:spPr>
      </p:sp>
      <p:sp>
        <p:nvSpPr>
          <p:cNvPr id="9" name="Text 6"/>
          <p:cNvSpPr txBox="1"/>
          <p:nvPr/>
        </p:nvSpPr>
        <p:spPr>
          <a:xfrm>
            <a:off x="758952" y="2788920"/>
            <a:ext cx="1225296" cy="5943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Pay</a:t>
            </a:r>
            <a:endParaRPr lang="en-US" sz="1600" dirty="0"/>
          </a:p>
        </p:txBody>
      </p:sp>
      <p:sp>
        <p:nvSpPr>
          <p:cNvPr id="10" name="arrow"/>
          <p:cNvSpPr/>
          <p:nvPr/>
        </p:nvSpPr>
        <p:spPr>
          <a:xfrm>
            <a:off x="2148840" y="2304288"/>
            <a:ext cx="731520" cy="0"/>
          </a:xfrm>
          <a:prstGeom prst="line">
            <a:avLst/>
          </a:prstGeom>
          <a:noFill/>
          <a:ln w="28575">
            <a:solidFill>
              <a:schemeClr val="accent5"/>
            </a:solidFill>
            <a:prstDash val="solid"/>
            <a:tailEnd type="triangle"/>
          </a:ln>
        </p:spPr>
      </p:sp>
      <p:sp>
        <p:nvSpPr>
          <p:cNvPr id="11" name="arrow"/>
          <p:cNvSpPr/>
          <p:nvPr/>
        </p:nvSpPr>
        <p:spPr>
          <a:xfrm>
            <a:off x="2148840" y="3081528"/>
            <a:ext cx="731520" cy="0"/>
          </a:xfrm>
          <a:prstGeom prst="line">
            <a:avLst/>
          </a:prstGeom>
          <a:noFill/>
          <a:ln w="28575">
            <a:solidFill>
              <a:schemeClr val="accent5"/>
            </a:solidFill>
            <a:prstDash val="solid"/>
            <a:tailEnd type="triangle"/>
          </a:ln>
        </p:spPr>
      </p:sp>
      <p:sp>
        <p:nvSpPr>
          <p:cNvPr id="12" name="node ₹500 charged"/>
          <p:cNvSpPr/>
          <p:nvPr/>
        </p:nvSpPr>
        <p:spPr>
          <a:xfrm>
            <a:off x="2971800" y="2011680"/>
            <a:ext cx="2743200" cy="594360"/>
          </a:xfrm>
          <a:prstGeom prst="roundRect">
            <a:avLst>
              <a:gd name="adj" fmla="val 15385"/>
            </a:avLst>
          </a:prstGeom>
          <a:solidFill>
            <a:schemeClr val="accent3"/>
          </a:solidFill>
          <a:ln/>
        </p:spPr>
      </p:sp>
      <p:sp>
        <p:nvSpPr>
          <p:cNvPr id="13" name="Text 10"/>
          <p:cNvSpPr txBox="1"/>
          <p:nvPr/>
        </p:nvSpPr>
        <p:spPr>
          <a:xfrm>
            <a:off x="3044952" y="2011680"/>
            <a:ext cx="2596896" cy="5943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₹500 charged</a:t>
            </a:r>
            <a:endParaRPr lang="en-US" sz="1600" dirty="0"/>
          </a:p>
        </p:txBody>
      </p:sp>
      <p:sp>
        <p:nvSpPr>
          <p:cNvPr id="14" name="node ₹500 charged again"/>
          <p:cNvSpPr/>
          <p:nvPr/>
        </p:nvSpPr>
        <p:spPr>
          <a:xfrm>
            <a:off x="2971800" y="2788920"/>
            <a:ext cx="2743200" cy="594360"/>
          </a:xfrm>
          <a:prstGeom prst="roundRect">
            <a:avLst>
              <a:gd name="adj" fmla="val 15385"/>
            </a:avLst>
          </a:prstGeom>
          <a:solidFill>
            <a:schemeClr val="accent3"/>
          </a:solidFill>
          <a:ln/>
        </p:spPr>
      </p:sp>
      <p:sp>
        <p:nvSpPr>
          <p:cNvPr id="15" name="Text 12"/>
          <p:cNvSpPr txBox="1"/>
          <p:nvPr/>
        </p:nvSpPr>
        <p:spPr>
          <a:xfrm>
            <a:off x="3044952" y="2788920"/>
            <a:ext cx="2596896" cy="5943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₹500 charged again</a:t>
            </a:r>
            <a:endParaRPr lang="en-US" sz="1600" dirty="0"/>
          </a:p>
        </p:txBody>
      </p:sp>
      <p:sp>
        <p:nvSpPr>
          <p:cNvPr id="16" name="Text 13"/>
          <p:cNvSpPr txBox="1"/>
          <p:nvPr/>
        </p:nvSpPr>
        <p:spPr>
          <a:xfrm>
            <a:off x="685800" y="3657600"/>
            <a:ext cx="4937760" cy="731520"/>
          </a:xfrm>
          <a:prstGeom prst="rect">
            <a:avLst/>
          </a:prstGeom>
          <a:noFill/>
          <a:ln/>
        </p:spPr>
        <p:txBody>
          <a:bodyPr wrap="square" lIns="0" tIns="0" rIns="0" bIns="0" rtlCol="0" anchor="t"/>
          <a:lstStyle/>
          <a:p>
            <a:pPr algn="l" indent="0" marL="0">
              <a:buNone/>
            </a:pPr>
            <a:r>
              <a:rPr lang="en-US" sz="1700" b="1" dirty="0">
                <a:solidFill>
                  <a:schemeClr val="accent3"/>
                </a:solidFill>
                <a:latin typeface="Calibri" pitchFamily="34" charset="0"/>
                <a:ea typeface="Calibri" pitchFamily="34" charset="-122"/>
                <a:cs typeface="Calibri" pitchFamily="34" charset="-120"/>
              </a:rPr>
              <a:t>Alice loses ₹1000 for one payment.</a:t>
            </a:r>
            <a:endParaRPr lang="en-US" sz="1700" dirty="0"/>
          </a:p>
        </p:txBody>
      </p:sp>
      <p:sp>
        <p:nvSpPr>
          <p:cNvPr id="17" name="with"/>
          <p:cNvSpPr/>
          <p:nvPr/>
        </p:nvSpPr>
        <p:spPr>
          <a:xfrm>
            <a:off x="6291072" y="1325880"/>
            <a:ext cx="5440680" cy="3246120"/>
          </a:xfrm>
          <a:prstGeom prst="roundRect">
            <a:avLst>
              <a:gd name="adj" fmla="val 3380"/>
            </a:avLst>
          </a:prstGeom>
          <a:solidFill>
            <a:srgbClr val="E1F1E7"/>
          </a:solidFill>
          <a:ln/>
        </p:spPr>
      </p:sp>
      <p:sp>
        <p:nvSpPr>
          <p:cNvPr id="18" name="Text 15"/>
          <p:cNvSpPr txBox="1"/>
          <p:nvPr/>
        </p:nvSpPr>
        <p:spPr>
          <a:xfrm>
            <a:off x="6519672" y="1463040"/>
            <a:ext cx="4937760" cy="365760"/>
          </a:xfrm>
          <a:prstGeom prst="rect">
            <a:avLst/>
          </a:prstGeom>
          <a:noFill/>
          <a:ln/>
        </p:spPr>
        <p:txBody>
          <a:bodyPr wrap="square" lIns="0" tIns="0" rIns="0" bIns="0" rtlCol="0" anchor="t"/>
          <a:lstStyle/>
          <a:p>
            <a:pPr algn="l" indent="0" marL="0">
              <a:buNone/>
            </a:pPr>
            <a:r>
              <a:rPr lang="en-US" sz="1600" b="1" dirty="0">
                <a:solidFill>
                  <a:schemeClr val="accent6"/>
                </a:solidFill>
                <a:latin typeface="Calibri" pitchFamily="34" charset="0"/>
                <a:ea typeface="Calibri" pitchFamily="34" charset="-122"/>
                <a:cs typeface="Calibri" pitchFamily="34" charset="-120"/>
              </a:rPr>
              <a:t>WITH idempotency</a:t>
            </a:r>
            <a:endParaRPr lang="en-US" sz="1600" dirty="0"/>
          </a:p>
        </p:txBody>
      </p:sp>
      <p:sp>
        <p:nvSpPr>
          <p:cNvPr id="19" name="node Pay"/>
          <p:cNvSpPr/>
          <p:nvPr/>
        </p:nvSpPr>
        <p:spPr>
          <a:xfrm>
            <a:off x="6519672" y="2011680"/>
            <a:ext cx="1371600" cy="594360"/>
          </a:xfrm>
          <a:prstGeom prst="roundRect">
            <a:avLst>
              <a:gd name="adj" fmla="val 15385"/>
            </a:avLst>
          </a:prstGeom>
          <a:solidFill>
            <a:schemeClr val="accent5"/>
          </a:solidFill>
          <a:ln/>
        </p:spPr>
      </p:sp>
      <p:sp>
        <p:nvSpPr>
          <p:cNvPr id="20" name="Text 17"/>
          <p:cNvSpPr txBox="1"/>
          <p:nvPr/>
        </p:nvSpPr>
        <p:spPr>
          <a:xfrm>
            <a:off x="6592824" y="2011680"/>
            <a:ext cx="1225296" cy="5943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Pay</a:t>
            </a:r>
            <a:endParaRPr lang="en-US" sz="1600" dirty="0"/>
          </a:p>
        </p:txBody>
      </p:sp>
      <p:sp>
        <p:nvSpPr>
          <p:cNvPr id="21" name="node Pay"/>
          <p:cNvSpPr/>
          <p:nvPr/>
        </p:nvSpPr>
        <p:spPr>
          <a:xfrm>
            <a:off x="6519672" y="2788920"/>
            <a:ext cx="1371600" cy="594360"/>
          </a:xfrm>
          <a:prstGeom prst="roundRect">
            <a:avLst>
              <a:gd name="adj" fmla="val 15385"/>
            </a:avLst>
          </a:prstGeom>
          <a:solidFill>
            <a:schemeClr val="accent5"/>
          </a:solidFill>
          <a:ln/>
        </p:spPr>
      </p:sp>
      <p:sp>
        <p:nvSpPr>
          <p:cNvPr id="22" name="Text 19"/>
          <p:cNvSpPr txBox="1"/>
          <p:nvPr/>
        </p:nvSpPr>
        <p:spPr>
          <a:xfrm>
            <a:off x="6592824" y="2788920"/>
            <a:ext cx="1225296" cy="5943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Pay</a:t>
            </a:r>
            <a:endParaRPr lang="en-US" sz="1600" dirty="0"/>
          </a:p>
        </p:txBody>
      </p:sp>
      <p:sp>
        <p:nvSpPr>
          <p:cNvPr id="23" name="arrow"/>
          <p:cNvSpPr/>
          <p:nvPr/>
        </p:nvSpPr>
        <p:spPr>
          <a:xfrm>
            <a:off x="7982712" y="2304288"/>
            <a:ext cx="731520" cy="0"/>
          </a:xfrm>
          <a:prstGeom prst="line">
            <a:avLst/>
          </a:prstGeom>
          <a:noFill/>
          <a:ln w="28575">
            <a:solidFill>
              <a:schemeClr val="accent5"/>
            </a:solidFill>
            <a:prstDash val="solid"/>
            <a:tailEnd type="triangle"/>
          </a:ln>
        </p:spPr>
      </p:sp>
      <p:sp>
        <p:nvSpPr>
          <p:cNvPr id="24" name="arrow"/>
          <p:cNvSpPr/>
          <p:nvPr/>
        </p:nvSpPr>
        <p:spPr>
          <a:xfrm>
            <a:off x="7982712" y="3081528"/>
            <a:ext cx="731520" cy="0"/>
          </a:xfrm>
          <a:prstGeom prst="line">
            <a:avLst/>
          </a:prstGeom>
          <a:noFill/>
          <a:ln w="28575">
            <a:solidFill>
              <a:schemeClr val="accent5"/>
            </a:solidFill>
            <a:prstDash val="solid"/>
            <a:tailEnd type="triangle"/>
          </a:ln>
        </p:spPr>
      </p:sp>
      <p:sp>
        <p:nvSpPr>
          <p:cNvPr id="25" name="node ₹500 charged"/>
          <p:cNvSpPr/>
          <p:nvPr/>
        </p:nvSpPr>
        <p:spPr>
          <a:xfrm>
            <a:off x="8805672" y="2011680"/>
            <a:ext cx="2743200" cy="594360"/>
          </a:xfrm>
          <a:prstGeom prst="roundRect">
            <a:avLst>
              <a:gd name="adj" fmla="val 15385"/>
            </a:avLst>
          </a:prstGeom>
          <a:solidFill>
            <a:schemeClr val="accent6"/>
          </a:solidFill>
          <a:ln/>
        </p:spPr>
      </p:sp>
      <p:sp>
        <p:nvSpPr>
          <p:cNvPr id="26" name="Text 23"/>
          <p:cNvSpPr txBox="1"/>
          <p:nvPr/>
        </p:nvSpPr>
        <p:spPr>
          <a:xfrm>
            <a:off x="8878824" y="2011680"/>
            <a:ext cx="2596896" cy="5943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₹500 charged</a:t>
            </a:r>
            <a:endParaRPr lang="en-US" sz="1600" dirty="0"/>
          </a:p>
        </p:txBody>
      </p:sp>
      <p:sp>
        <p:nvSpPr>
          <p:cNvPr id="27" name="node 'Already done'. Ignored"/>
          <p:cNvSpPr/>
          <p:nvPr/>
        </p:nvSpPr>
        <p:spPr>
          <a:xfrm>
            <a:off x="8805672" y="2788920"/>
            <a:ext cx="2743200" cy="594360"/>
          </a:xfrm>
          <a:prstGeom prst="roundRect">
            <a:avLst>
              <a:gd name="adj" fmla="val 15385"/>
            </a:avLst>
          </a:prstGeom>
          <a:solidFill>
            <a:schemeClr val="accent5"/>
          </a:solidFill>
          <a:ln/>
        </p:spPr>
      </p:sp>
      <p:sp>
        <p:nvSpPr>
          <p:cNvPr id="28" name="Text 25"/>
          <p:cNvSpPr txBox="1"/>
          <p:nvPr/>
        </p:nvSpPr>
        <p:spPr>
          <a:xfrm>
            <a:off x="8878824" y="2788920"/>
            <a:ext cx="2596896" cy="59436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'Already done'. Ignored</a:t>
            </a:r>
            <a:endParaRPr lang="en-US" sz="1600" dirty="0"/>
          </a:p>
        </p:txBody>
      </p:sp>
      <p:sp>
        <p:nvSpPr>
          <p:cNvPr id="29" name="Text 26"/>
          <p:cNvSpPr txBox="1"/>
          <p:nvPr/>
        </p:nvSpPr>
        <p:spPr>
          <a:xfrm>
            <a:off x="6519672" y="3657600"/>
            <a:ext cx="4937760" cy="731520"/>
          </a:xfrm>
          <a:prstGeom prst="rect">
            <a:avLst/>
          </a:prstGeom>
          <a:noFill/>
          <a:ln/>
        </p:spPr>
        <p:txBody>
          <a:bodyPr wrap="square" lIns="0" tIns="0" rIns="0" bIns="0" rtlCol="0" anchor="t"/>
          <a:lstStyle/>
          <a:p>
            <a:pPr algn="l" indent="0" marL="0">
              <a:buNone/>
            </a:pPr>
            <a:r>
              <a:rPr lang="en-US" sz="1700" b="1" dirty="0">
                <a:solidFill>
                  <a:schemeClr val="accent6"/>
                </a:solidFill>
                <a:latin typeface="Calibri" pitchFamily="34" charset="0"/>
                <a:ea typeface="Calibri" pitchFamily="34" charset="-122"/>
                <a:cs typeface="Calibri" pitchFamily="34" charset="-120"/>
              </a:rPr>
              <a:t>Alice pays ₹500 once. The copy is dropped.</a:t>
            </a:r>
            <a:endParaRPr lang="en-US" sz="1700" dirty="0"/>
          </a:p>
        </p:txBody>
      </p:sp>
      <p:sp>
        <p:nvSpPr>
          <p:cNvPr id="30" name="meaning"/>
          <p:cNvSpPr/>
          <p:nvPr/>
        </p:nvSpPr>
        <p:spPr>
          <a:xfrm>
            <a:off x="457200" y="4754880"/>
            <a:ext cx="11274552" cy="960120"/>
          </a:xfrm>
          <a:prstGeom prst="roundRect">
            <a:avLst>
              <a:gd name="adj" fmla="val 11429"/>
            </a:avLst>
          </a:prstGeom>
          <a:solidFill>
            <a:schemeClr val="bg2"/>
          </a:solidFill>
          <a:ln/>
        </p:spPr>
      </p:sp>
      <p:sp>
        <p:nvSpPr>
          <p:cNvPr id="31" name="meaning circle"/>
          <p:cNvSpPr/>
          <p:nvPr/>
        </p:nvSpPr>
        <p:spPr>
          <a:xfrm>
            <a:off x="685800" y="4892040"/>
            <a:ext cx="685800" cy="685800"/>
          </a:xfrm>
          <a:prstGeom prst="ellipse">
            <a:avLst/>
          </a:prstGeom>
          <a:solidFill>
            <a:schemeClr val="accent1"/>
          </a:solidFill>
          <a:ln/>
        </p:spPr>
      </p:sp>
      <p:pic>
        <p:nvPicPr>
          <p:cNvPr id="32" name="Image 0" descr="meaning">    </p:cNvPr>
          <p:cNvPicPr>
            <a:picLocks noChangeAspect="1"/>
          </p:cNvPicPr>
          <p:nvPr/>
        </p:nvPicPr>
        <p:blipFill>
          <a:blip r:embed="rId1"/>
          <a:stretch>
            <a:fillRect/>
          </a:stretch>
        </p:blipFill>
        <p:spPr>
          <a:xfrm>
            <a:off x="836676" y="5042916"/>
            <a:ext cx="384048" cy="384048"/>
          </a:xfrm>
          <a:prstGeom prst="rect">
            <a:avLst/>
          </a:prstGeom>
        </p:spPr>
      </p:pic>
      <p:sp>
        <p:nvSpPr>
          <p:cNvPr id="33" name="Text 29"/>
          <p:cNvSpPr txBox="1"/>
          <p:nvPr/>
        </p:nvSpPr>
        <p:spPr>
          <a:xfrm>
            <a:off x="1600200" y="4754880"/>
            <a:ext cx="9966960" cy="960120"/>
          </a:xfrm>
          <a:prstGeom prst="rect">
            <a:avLst/>
          </a:prstGeom>
          <a:noFill/>
          <a:ln/>
        </p:spPr>
        <p:txBody>
          <a:bodyPr wrap="square" lIns="0" tIns="0" rIns="0" bIns="0" rtlCol="0" anchor="ctr"/>
          <a:lstStyle/>
          <a:p>
            <a:pPr algn="l" indent="0" marL="0">
              <a:buNone/>
            </a:pPr>
            <a:r>
              <a:rPr lang="en-US" sz="1700" dirty="0">
                <a:solidFill>
                  <a:schemeClr val="tx1"/>
                </a:solidFill>
                <a:latin typeface="Calibri" pitchFamily="34" charset="0"/>
                <a:ea typeface="Calibri" pitchFamily="34" charset="-122"/>
                <a:cs typeface="Calibri" pitchFamily="34" charset="-120"/>
              </a:rPr>
              <a:t>Idempotent means: doing it again gives the same result as doing it once. Like a lift button: press it five times, the lift still comes once.</a:t>
            </a:r>
            <a:endParaRPr lang="en-US" sz="1700" dirty="0"/>
          </a:p>
        </p:txBody>
      </p:sp>
      <p:sp>
        <p:nvSpPr>
          <p:cNvPr id="34" name="takeaway"/>
          <p:cNvSpPr/>
          <p:nvPr/>
        </p:nvSpPr>
        <p:spPr>
          <a:xfrm>
            <a:off x="457200" y="5852160"/>
            <a:ext cx="11274552" cy="502920"/>
          </a:xfrm>
          <a:prstGeom prst="roundRect">
            <a:avLst>
              <a:gd name="adj" fmla="val 21818"/>
            </a:avLst>
          </a:prstGeom>
          <a:solidFill>
            <a:srgbClr val="FDF1DC"/>
          </a:solidFill>
          <a:ln/>
        </p:spPr>
      </p:sp>
      <p:sp>
        <p:nvSpPr>
          <p:cNvPr id="35" name="Text 31"/>
          <p:cNvSpPr txBox="1"/>
          <p:nvPr/>
        </p:nvSpPr>
        <p:spPr>
          <a:xfrm>
            <a:off x="640080" y="5852160"/>
            <a:ext cx="10881360" cy="50292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In our project the 'double click' is the same packet delivered by several phones.</a:t>
            </a:r>
            <a:endParaRPr lang="en-US" sz="16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Idempotency in our project</a:t>
            </a:r>
            <a:endParaRPr lang="en-US" sz="3400" dirty="0"/>
          </a:p>
        </p:txBody>
      </p:sp>
      <p:sp>
        <p:nvSpPr>
          <p:cNvPr id="4" name="bridge 0"/>
          <p:cNvSpPr/>
          <p:nvPr/>
        </p:nvSpPr>
        <p:spPr>
          <a:xfrm>
            <a:off x="457200" y="1371600"/>
            <a:ext cx="1737360" cy="731520"/>
          </a:xfrm>
          <a:prstGeom prst="roundRect">
            <a:avLst>
              <a:gd name="adj" fmla="val 12500"/>
            </a:avLst>
          </a:prstGeom>
          <a:solidFill>
            <a:schemeClr val="accent5"/>
          </a:solidFill>
          <a:ln/>
        </p:spPr>
      </p:sp>
      <p:sp>
        <p:nvSpPr>
          <p:cNvPr id="5" name="Text 2"/>
          <p:cNvSpPr txBox="1"/>
          <p:nvPr/>
        </p:nvSpPr>
        <p:spPr>
          <a:xfrm>
            <a:off x="530352" y="1371600"/>
            <a:ext cx="1591056"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bridge-0</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same packet</a:t>
            </a:r>
            <a:endParaRPr lang="en-US" sz="1400" dirty="0"/>
          </a:p>
        </p:txBody>
      </p:sp>
      <p:sp>
        <p:nvSpPr>
          <p:cNvPr id="6" name="arrow"/>
          <p:cNvSpPr/>
          <p:nvPr/>
        </p:nvSpPr>
        <p:spPr>
          <a:xfrm>
            <a:off x="2240280" y="1737360"/>
            <a:ext cx="640080" cy="0"/>
          </a:xfrm>
          <a:prstGeom prst="line">
            <a:avLst/>
          </a:prstGeom>
          <a:noFill/>
          <a:ln w="28575">
            <a:solidFill>
              <a:schemeClr val="accent5"/>
            </a:solidFill>
            <a:prstDash val="solid"/>
            <a:tailEnd type="triangle"/>
          </a:ln>
        </p:spPr>
      </p:sp>
      <p:sp>
        <p:nvSpPr>
          <p:cNvPr id="7" name="bridge 1"/>
          <p:cNvSpPr/>
          <p:nvPr/>
        </p:nvSpPr>
        <p:spPr>
          <a:xfrm>
            <a:off x="457200" y="2331720"/>
            <a:ext cx="1737360" cy="731520"/>
          </a:xfrm>
          <a:prstGeom prst="roundRect">
            <a:avLst>
              <a:gd name="adj" fmla="val 12500"/>
            </a:avLst>
          </a:prstGeom>
          <a:solidFill>
            <a:schemeClr val="accent5"/>
          </a:solidFill>
          <a:ln/>
        </p:spPr>
      </p:sp>
      <p:sp>
        <p:nvSpPr>
          <p:cNvPr id="8" name="Text 5"/>
          <p:cNvSpPr txBox="1"/>
          <p:nvPr/>
        </p:nvSpPr>
        <p:spPr>
          <a:xfrm>
            <a:off x="530352" y="2331720"/>
            <a:ext cx="1591056"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bridge-1</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same packet</a:t>
            </a:r>
            <a:endParaRPr lang="en-US" sz="1400" dirty="0"/>
          </a:p>
        </p:txBody>
      </p:sp>
      <p:sp>
        <p:nvSpPr>
          <p:cNvPr id="9" name="arrow"/>
          <p:cNvSpPr/>
          <p:nvPr/>
        </p:nvSpPr>
        <p:spPr>
          <a:xfrm>
            <a:off x="2240280" y="2697480"/>
            <a:ext cx="640080" cy="0"/>
          </a:xfrm>
          <a:prstGeom prst="line">
            <a:avLst/>
          </a:prstGeom>
          <a:noFill/>
          <a:ln w="28575">
            <a:solidFill>
              <a:schemeClr val="accent5"/>
            </a:solidFill>
            <a:prstDash val="solid"/>
            <a:tailEnd type="triangle"/>
          </a:ln>
        </p:spPr>
      </p:sp>
      <p:sp>
        <p:nvSpPr>
          <p:cNvPr id="10" name="bridge 2"/>
          <p:cNvSpPr/>
          <p:nvPr/>
        </p:nvSpPr>
        <p:spPr>
          <a:xfrm>
            <a:off x="457200" y="3291840"/>
            <a:ext cx="1737360" cy="731520"/>
          </a:xfrm>
          <a:prstGeom prst="roundRect">
            <a:avLst>
              <a:gd name="adj" fmla="val 12500"/>
            </a:avLst>
          </a:prstGeom>
          <a:solidFill>
            <a:schemeClr val="accent5"/>
          </a:solidFill>
          <a:ln/>
        </p:spPr>
      </p:sp>
      <p:sp>
        <p:nvSpPr>
          <p:cNvPr id="11" name="Text 8"/>
          <p:cNvSpPr txBox="1"/>
          <p:nvPr/>
        </p:nvSpPr>
        <p:spPr>
          <a:xfrm>
            <a:off x="530352" y="3291840"/>
            <a:ext cx="1591056"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bridge-2</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same packet</a:t>
            </a:r>
            <a:endParaRPr lang="en-US" sz="1400" dirty="0"/>
          </a:p>
        </p:txBody>
      </p:sp>
      <p:sp>
        <p:nvSpPr>
          <p:cNvPr id="12" name="arrow"/>
          <p:cNvSpPr/>
          <p:nvPr/>
        </p:nvSpPr>
        <p:spPr>
          <a:xfrm>
            <a:off x="2240280" y="3657600"/>
            <a:ext cx="640080" cy="0"/>
          </a:xfrm>
          <a:prstGeom prst="line">
            <a:avLst/>
          </a:prstGeom>
          <a:noFill/>
          <a:ln w="28575">
            <a:solidFill>
              <a:schemeClr val="accent5"/>
            </a:solidFill>
            <a:prstDash val="solid"/>
            <a:tailEnd type="triangle"/>
          </a:ln>
        </p:spPr>
      </p:sp>
      <p:sp>
        <p:nvSpPr>
          <p:cNvPr id="13" name="claim gate"/>
          <p:cNvSpPr/>
          <p:nvPr/>
        </p:nvSpPr>
        <p:spPr>
          <a:xfrm>
            <a:off x="2926080" y="1371600"/>
            <a:ext cx="2743200" cy="2651760"/>
          </a:xfrm>
          <a:prstGeom prst="roundRect">
            <a:avLst>
              <a:gd name="adj" fmla="val 3448"/>
            </a:avLst>
          </a:prstGeom>
          <a:solidFill>
            <a:schemeClr val="accent1"/>
          </a:solidFill>
          <a:ln/>
        </p:spPr>
      </p:sp>
      <p:sp>
        <p:nvSpPr>
          <p:cNvPr id="14" name="Text 11"/>
          <p:cNvSpPr txBox="1"/>
          <p:nvPr/>
        </p:nvSpPr>
        <p:spPr>
          <a:xfrm>
            <a:off x="2999232" y="1371600"/>
            <a:ext cx="2596896" cy="26517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Fingerprint</a:t>
            </a: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(SHA-256 of the sealed packet)</a:t>
            </a:r>
            <a:endParaRPr lang="en-US" sz="1500" dirty="0"/>
          </a:p>
          <a:p>
            <a:pPr algn="ctr" indent="0" marL="0">
              <a:buNone/>
            </a:pP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claim() using putIfAbsent</a:t>
            </a: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 one step, cannot be split</a:t>
            </a:r>
            <a:endParaRPr lang="en-US" sz="1500" dirty="0"/>
          </a:p>
        </p:txBody>
      </p:sp>
      <p:sp>
        <p:nvSpPr>
          <p:cNvPr id="15" name="arrow"/>
          <p:cNvSpPr/>
          <p:nvPr/>
        </p:nvSpPr>
        <p:spPr>
          <a:xfrm>
            <a:off x="5715000" y="1737360"/>
            <a:ext cx="914400" cy="0"/>
          </a:xfrm>
          <a:prstGeom prst="line">
            <a:avLst/>
          </a:prstGeom>
          <a:noFill/>
          <a:ln w="28575">
            <a:solidFill>
              <a:schemeClr val="accent5"/>
            </a:solidFill>
            <a:prstDash val="solid"/>
            <a:tailEnd type="triangle"/>
          </a:ln>
        </p:spPr>
      </p:sp>
      <p:sp>
        <p:nvSpPr>
          <p:cNvPr id="16" name="arrow"/>
          <p:cNvSpPr/>
          <p:nvPr/>
        </p:nvSpPr>
        <p:spPr>
          <a:xfrm>
            <a:off x="5715000" y="2697480"/>
            <a:ext cx="914400" cy="0"/>
          </a:xfrm>
          <a:prstGeom prst="line">
            <a:avLst/>
          </a:prstGeom>
          <a:noFill/>
          <a:ln w="28575">
            <a:solidFill>
              <a:schemeClr val="accent3"/>
            </a:solidFill>
            <a:prstDash val="solid"/>
            <a:tailEnd type="triangle"/>
          </a:ln>
        </p:spPr>
      </p:sp>
      <p:sp>
        <p:nvSpPr>
          <p:cNvPr id="17" name="arrow"/>
          <p:cNvSpPr/>
          <p:nvPr/>
        </p:nvSpPr>
        <p:spPr>
          <a:xfrm>
            <a:off x="5715000" y="3657600"/>
            <a:ext cx="914400" cy="0"/>
          </a:xfrm>
          <a:prstGeom prst="line">
            <a:avLst/>
          </a:prstGeom>
          <a:noFill/>
          <a:ln w="28575">
            <a:solidFill>
              <a:schemeClr val="accent3"/>
            </a:solidFill>
            <a:prstDash val="solid"/>
            <a:tailEnd type="triangle"/>
          </a:ln>
        </p:spPr>
      </p:sp>
      <p:sp>
        <p:nvSpPr>
          <p:cNvPr id="18" name="node 1st: SETTLED"/>
          <p:cNvSpPr/>
          <p:nvPr/>
        </p:nvSpPr>
        <p:spPr>
          <a:xfrm>
            <a:off x="6675120" y="1371600"/>
            <a:ext cx="2468880" cy="731520"/>
          </a:xfrm>
          <a:prstGeom prst="roundRect">
            <a:avLst>
              <a:gd name="adj" fmla="val 12500"/>
            </a:avLst>
          </a:prstGeom>
          <a:solidFill>
            <a:schemeClr val="accent6"/>
          </a:solidFill>
          <a:ln/>
        </p:spPr>
      </p:sp>
      <p:sp>
        <p:nvSpPr>
          <p:cNvPr id="19" name="Text 16"/>
          <p:cNvSpPr txBox="1"/>
          <p:nvPr/>
        </p:nvSpPr>
        <p:spPr>
          <a:xfrm>
            <a:off x="6748272" y="1371600"/>
            <a:ext cx="2322576" cy="73152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1st: SETTLED</a:t>
            </a:r>
            <a:endParaRPr lang="en-US" sz="1600" dirty="0"/>
          </a:p>
        </p:txBody>
      </p:sp>
      <p:sp>
        <p:nvSpPr>
          <p:cNvPr id="20" name="node 2nd: DUPLICATE_DROPPED"/>
          <p:cNvSpPr/>
          <p:nvPr/>
        </p:nvSpPr>
        <p:spPr>
          <a:xfrm>
            <a:off x="6675120" y="2331720"/>
            <a:ext cx="2468880" cy="731520"/>
          </a:xfrm>
          <a:prstGeom prst="roundRect">
            <a:avLst>
              <a:gd name="adj" fmla="val 12500"/>
            </a:avLst>
          </a:prstGeom>
          <a:solidFill>
            <a:schemeClr val="accent5"/>
          </a:solidFill>
          <a:ln/>
        </p:spPr>
      </p:sp>
      <p:sp>
        <p:nvSpPr>
          <p:cNvPr id="21" name="Text 18"/>
          <p:cNvSpPr txBox="1"/>
          <p:nvPr/>
        </p:nvSpPr>
        <p:spPr>
          <a:xfrm>
            <a:off x="6748272" y="2331720"/>
            <a:ext cx="2322576"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2nd: DUPLICATE_DROPPED</a:t>
            </a:r>
            <a:endParaRPr lang="en-US" sz="1400" dirty="0"/>
          </a:p>
        </p:txBody>
      </p:sp>
      <p:sp>
        <p:nvSpPr>
          <p:cNvPr id="22" name="node 3rd: DUPLICATE_DROPPED"/>
          <p:cNvSpPr/>
          <p:nvPr/>
        </p:nvSpPr>
        <p:spPr>
          <a:xfrm>
            <a:off x="6675120" y="3291840"/>
            <a:ext cx="2468880" cy="731520"/>
          </a:xfrm>
          <a:prstGeom prst="roundRect">
            <a:avLst>
              <a:gd name="adj" fmla="val 12500"/>
            </a:avLst>
          </a:prstGeom>
          <a:solidFill>
            <a:schemeClr val="accent5"/>
          </a:solidFill>
          <a:ln/>
        </p:spPr>
      </p:sp>
      <p:sp>
        <p:nvSpPr>
          <p:cNvPr id="23" name="Text 20"/>
          <p:cNvSpPr txBox="1"/>
          <p:nvPr/>
        </p:nvSpPr>
        <p:spPr>
          <a:xfrm>
            <a:off x="6748272" y="3291840"/>
            <a:ext cx="2322576"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3rd: DUPLICATE_DROPPED</a:t>
            </a:r>
            <a:endParaRPr lang="en-US" sz="1400" dirty="0"/>
          </a:p>
        </p:txBody>
      </p:sp>
      <p:sp>
        <p:nvSpPr>
          <p:cNvPr id="24" name="why panel"/>
          <p:cNvSpPr/>
          <p:nvPr/>
        </p:nvSpPr>
        <p:spPr>
          <a:xfrm>
            <a:off x="9372600" y="1371600"/>
            <a:ext cx="2359152" cy="2651760"/>
          </a:xfrm>
          <a:prstGeom prst="roundRect">
            <a:avLst>
              <a:gd name="adj" fmla="val 4651"/>
            </a:avLst>
          </a:prstGeom>
          <a:solidFill>
            <a:srgbClr val="FDF1DC"/>
          </a:solidFill>
          <a:ln/>
        </p:spPr>
      </p:sp>
      <p:sp>
        <p:nvSpPr>
          <p:cNvPr id="25" name="Text 22"/>
          <p:cNvSpPr txBox="1"/>
          <p:nvPr/>
        </p:nvSpPr>
        <p:spPr>
          <a:xfrm>
            <a:off x="9509760" y="1463040"/>
            <a:ext cx="2103120" cy="82296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Why hash the sealed packet, not the packet ID?</a:t>
            </a:r>
            <a:endParaRPr lang="en-US" sz="1400" dirty="0"/>
          </a:p>
        </p:txBody>
      </p:sp>
      <p:sp>
        <p:nvSpPr>
          <p:cNvPr id="26" name="Text 23"/>
          <p:cNvSpPr txBox="1"/>
          <p:nvPr/>
        </p:nvSpPr>
        <p:spPr>
          <a:xfrm>
            <a:off x="9509760" y="2331720"/>
            <a:ext cx="2103120" cy="1645920"/>
          </a:xfrm>
          <a:prstGeom prst="rect">
            <a:avLst/>
          </a:prstGeom>
          <a:noFill/>
          <a:ln/>
        </p:spPr>
        <p:txBody>
          <a:bodyPr wrap="square" lIns="0" tIns="0" rIns="0" bIns="0"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Strangers can rewrite the ID. They cannot forge sealed contents.</a:t>
            </a:r>
            <a:endParaRPr lang="en-US" sz="1400" dirty="0"/>
          </a:p>
        </p:txBody>
      </p:sp>
      <p:sp>
        <p:nvSpPr>
          <p:cNvPr id="27" name="code block"/>
          <p:cNvSpPr/>
          <p:nvPr/>
        </p:nvSpPr>
        <p:spPr>
          <a:xfrm>
            <a:off x="457200" y="4251960"/>
            <a:ext cx="7315200" cy="914400"/>
          </a:xfrm>
          <a:prstGeom prst="roundRect">
            <a:avLst>
              <a:gd name="adj" fmla="val 10000"/>
            </a:avLst>
          </a:prstGeom>
          <a:solidFill>
            <a:schemeClr val="tx1"/>
          </a:solidFill>
          <a:ln/>
        </p:spPr>
      </p:sp>
      <p:sp>
        <p:nvSpPr>
          <p:cNvPr id="28" name="Text 25"/>
          <p:cNvSpPr txBox="1"/>
          <p:nvPr/>
        </p:nvSpPr>
        <p:spPr>
          <a:xfrm>
            <a:off x="640080" y="4389120"/>
            <a:ext cx="6949440" cy="640080"/>
          </a:xfrm>
          <a:prstGeom prst="rect">
            <a:avLst/>
          </a:prstGeom>
          <a:noFill/>
          <a:ln/>
        </p:spPr>
        <p:txBody>
          <a:bodyPr wrap="square" lIns="0" tIns="0" rIns="0" bIns="0" rtlCol="0" anchor="ctr"/>
          <a:lstStyle/>
          <a:p>
            <a:pPr algn="l" indent="0" marL="0">
              <a:buNone/>
            </a:pPr>
            <a:r>
              <a:rPr lang="en-US" sz="1300" dirty="0">
                <a:solidFill>
                  <a:schemeClr val="bg1"/>
                </a:solidFill>
                <a:latin typeface="Courier New" pitchFamily="34" charset="0"/>
                <a:ea typeface="Courier New" pitchFamily="34" charset="-122"/>
                <a:cs typeface="Courier New" pitchFamily="34" charset="-120"/>
              </a:rPr>
              <a:t>return seen.putIfAbsent(packetHash, Instant.now()) == null;</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true = first caller, false = duplicate</a:t>
            </a:r>
            <a:endParaRPr lang="en-US" sz="1300" dirty="0"/>
          </a:p>
        </p:txBody>
      </p:sp>
      <p:sp>
        <p:nvSpPr>
          <p:cNvPr id="29" name="test proof"/>
          <p:cNvSpPr/>
          <p:nvPr/>
        </p:nvSpPr>
        <p:spPr>
          <a:xfrm>
            <a:off x="8001000" y="4251960"/>
            <a:ext cx="3730752" cy="914400"/>
          </a:xfrm>
          <a:prstGeom prst="roundRect">
            <a:avLst>
              <a:gd name="adj" fmla="val 12000"/>
            </a:avLst>
          </a:prstGeom>
          <a:solidFill>
            <a:srgbClr val="E1F1E7"/>
          </a:solidFill>
          <a:ln/>
        </p:spPr>
      </p:sp>
      <p:sp>
        <p:nvSpPr>
          <p:cNvPr id="30" name="Text 27"/>
          <p:cNvSpPr txBox="1"/>
          <p:nvPr/>
        </p:nvSpPr>
        <p:spPr>
          <a:xfrm>
            <a:off x="8138160" y="4251960"/>
            <a:ext cx="3474720" cy="914400"/>
          </a:xfrm>
          <a:prstGeom prst="rect">
            <a:avLst/>
          </a:prstGeom>
          <a:noFill/>
          <a:ln/>
        </p:spPr>
        <p:txBody>
          <a:bodyPr wrap="square" lIns="0" tIns="0" rIns="0" bIns="0" rtlCol="0" anchor="ctr"/>
          <a:lstStyle/>
          <a:p>
            <a:pPr algn="l" indent="0" marL="0">
              <a:buNone/>
            </a:pPr>
            <a:r>
              <a:rPr lang="en-US" sz="1400" b="1" dirty="0">
                <a:solidFill>
                  <a:schemeClr val="accent6"/>
                </a:solidFill>
                <a:latin typeface="Calibri" pitchFamily="34" charset="0"/>
                <a:ea typeface="Calibri" pitchFamily="34" charset="-122"/>
                <a:cs typeface="Calibri" pitchFamily="34" charset="-120"/>
              </a:rPr>
              <a:t>Test: 3 threads, same packet → 1 settled, 2 dropped. Alice debited once.</a:t>
            </a:r>
            <a:endParaRPr lang="en-US" sz="1400" dirty="0"/>
          </a:p>
        </p:txBody>
      </p:sp>
      <p:sp>
        <p:nvSpPr>
          <p:cNvPr id="31" name="Text 28"/>
          <p:cNvSpPr txBox="1"/>
          <p:nvPr/>
        </p:nvSpPr>
        <p:spPr>
          <a:xfrm>
            <a:off x="457200" y="5394960"/>
            <a:ext cx="5029200" cy="274320"/>
          </a:xfrm>
          <a:prstGeom prst="rect">
            <a:avLst/>
          </a:prstGeom>
          <a:noFill/>
          <a:ln/>
        </p:spPr>
        <p:txBody>
          <a:bodyPr wrap="square" lIns="0" tIns="0" rIns="0" bIns="0" rtlCol="0" anchor="t"/>
          <a:lstStyle/>
          <a:p>
            <a:pPr algn="l" indent="0" marL="0">
              <a:buNone/>
            </a:pPr>
            <a:r>
              <a:rPr lang="en-US" sz="1400" b="1" dirty="0">
                <a:solidFill>
                  <a:schemeClr val="accent5"/>
                </a:solidFill>
                <a:latin typeface="Calibri" pitchFamily="34" charset="0"/>
                <a:ea typeface="Calibri" pitchFamily="34" charset="-122"/>
                <a:cs typeface="Calibri" pitchFamily="34" charset="-120"/>
              </a:rPr>
              <a:t>Where: </a:t>
            </a:r>
            <a:pPr algn="l" indent="0" marL="0">
              <a:buNone/>
            </a:pPr>
            <a:r>
              <a:rPr lang="en-US" sz="1300" dirty="0">
                <a:solidFill>
                  <a:schemeClr val="accent4"/>
                </a:solidFill>
                <a:latin typeface="Courier New" pitchFamily="34" charset="0"/>
                <a:ea typeface="Courier New" pitchFamily="34" charset="-122"/>
                <a:cs typeface="Courier New" pitchFamily="34" charset="-120"/>
              </a:rPr>
              <a:t>IdempotencyService.claim()</a:t>
            </a:r>
            <a:endParaRPr lang="en-US" sz="1400" dirty="0"/>
          </a:p>
        </p:txBody>
      </p:sp>
      <p:sp>
        <p:nvSpPr>
          <p:cNvPr id="32" name="Text 29"/>
          <p:cNvSpPr txBox="1"/>
          <p:nvPr/>
        </p:nvSpPr>
        <p:spPr>
          <a:xfrm>
            <a:off x="5669280" y="5394960"/>
            <a:ext cx="5029200" cy="274320"/>
          </a:xfrm>
          <a:prstGeom prst="rect">
            <a:avLst/>
          </a:prstGeom>
          <a:noFill/>
          <a:ln/>
        </p:spPr>
        <p:txBody>
          <a:bodyPr wrap="square" lIns="0" tIns="0" rIns="0" bIns="0" rtlCol="0" anchor="t"/>
          <a:lstStyle/>
          <a:p>
            <a:pPr algn="l" indent="0" marL="0">
              <a:buNone/>
            </a:pPr>
            <a:r>
              <a:rPr lang="en-US" sz="1400" b="1" dirty="0">
                <a:solidFill>
                  <a:schemeClr val="accent5"/>
                </a:solidFill>
                <a:latin typeface="Calibri" pitchFamily="34" charset="0"/>
                <a:ea typeface="Calibri" pitchFamily="34" charset="-122"/>
                <a:cs typeface="Calibri" pitchFamily="34" charset="-120"/>
              </a:rPr>
              <a:t>Where: </a:t>
            </a:r>
            <a:pPr algn="l" indent="0" marL="0">
              <a:buNone/>
            </a:pPr>
            <a:r>
              <a:rPr lang="en-US" sz="1300" dirty="0">
                <a:solidFill>
                  <a:schemeClr val="accent4"/>
                </a:solidFill>
                <a:latin typeface="Courier New" pitchFamily="34" charset="0"/>
                <a:ea typeface="Courier New" pitchFamily="34" charset="-122"/>
                <a:cs typeface="Courier New" pitchFamily="34" charset="-120"/>
              </a:rPr>
              <a:t>BridgeIngestionService.ingest()</a:t>
            </a:r>
            <a:endParaRPr lang="en-US" sz="1400" dirty="0"/>
          </a:p>
        </p:txBody>
      </p:sp>
      <p:sp>
        <p:nvSpPr>
          <p:cNvPr id="33" name="Text 30"/>
          <p:cNvSpPr txBox="1"/>
          <p:nvPr/>
        </p:nvSpPr>
        <p:spPr>
          <a:xfrm>
            <a:off x="457200" y="5760720"/>
            <a:ext cx="11247120" cy="502920"/>
          </a:xfrm>
          <a:prstGeom prst="rect">
            <a:avLst/>
          </a:prstGeom>
          <a:noFill/>
          <a:ln/>
        </p:spPr>
        <p:txBody>
          <a:bodyPr wrap="square" lIns="0" tIns="0" rIns="0" bIns="0" rtlCol="0" anchor="t"/>
          <a:lstStyle/>
          <a:p>
            <a:pPr algn="l" indent="0" marL="0">
              <a:buNone/>
            </a:pPr>
            <a:r>
              <a:rPr lang="en-US" sz="1400" i="1" dirty="0">
                <a:solidFill>
                  <a:schemeClr val="accent5"/>
                </a:solidFill>
                <a:latin typeface="Calibri" pitchFamily="34" charset="0"/>
                <a:ea typeface="Calibri" pitchFamily="34" charset="-122"/>
                <a:cs typeface="Calibri" pitchFamily="34" charset="-120"/>
              </a:rPr>
              <a:t>Backup: a unique index on packetHash in the database. A background task cleans old fingerprints every 60 seconds.</a:t>
            </a:r>
            <a:endParaRPr lang="en-US" sz="14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Key features (1 of 2)</a:t>
            </a:r>
            <a:endParaRPr lang="en-US" sz="3400" dirty="0"/>
          </a:p>
        </p:txBody>
      </p:sp>
      <p:sp>
        <p:nvSpPr>
          <p:cNvPr id="4" name="feature Encrypted packets"/>
          <p:cNvSpPr/>
          <p:nvPr/>
        </p:nvSpPr>
        <p:spPr>
          <a:xfrm>
            <a:off x="457200" y="1280160"/>
            <a:ext cx="5541264" cy="2377440"/>
          </a:xfrm>
          <a:prstGeom prst="roundRect">
            <a:avLst>
              <a:gd name="adj" fmla="val 4615"/>
            </a:avLst>
          </a:prstGeom>
          <a:solidFill>
            <a:schemeClr val="bg2"/>
          </a:solidFill>
          <a:ln/>
        </p:spPr>
      </p:sp>
      <p:sp>
        <p:nvSpPr>
          <p:cNvPr id="5" name="Encrypted packets circle"/>
          <p:cNvSpPr/>
          <p:nvPr/>
        </p:nvSpPr>
        <p:spPr>
          <a:xfrm>
            <a:off x="640080" y="1444752"/>
            <a:ext cx="566928" cy="566928"/>
          </a:xfrm>
          <a:prstGeom prst="ellipse">
            <a:avLst/>
          </a:prstGeom>
          <a:solidFill>
            <a:schemeClr val="accent1"/>
          </a:solidFill>
          <a:ln/>
        </p:spPr>
      </p:sp>
      <p:pic>
        <p:nvPicPr>
          <p:cNvPr id="6" name="Image 0" descr="Encrypted packets">    </p:cNvPr>
          <p:cNvPicPr>
            <a:picLocks noChangeAspect="1"/>
          </p:cNvPicPr>
          <p:nvPr/>
        </p:nvPicPr>
        <p:blipFill>
          <a:blip r:embed="rId1"/>
          <a:stretch>
            <a:fillRect/>
          </a:stretch>
        </p:blipFill>
        <p:spPr>
          <a:xfrm>
            <a:off x="764804" y="1569476"/>
            <a:ext cx="317480" cy="317480"/>
          </a:xfrm>
          <a:prstGeom prst="rect">
            <a:avLst/>
          </a:prstGeom>
        </p:spPr>
      </p:pic>
      <p:sp>
        <p:nvSpPr>
          <p:cNvPr id="7" name="Text 3"/>
          <p:cNvSpPr txBox="1"/>
          <p:nvPr/>
        </p:nvSpPr>
        <p:spPr>
          <a:xfrm>
            <a:off x="1371600" y="1444752"/>
            <a:ext cx="4480560" cy="566928"/>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Encrypted packets</a:t>
            </a:r>
            <a:endParaRPr lang="en-US" sz="1900" dirty="0"/>
          </a:p>
        </p:txBody>
      </p:sp>
      <p:sp>
        <p:nvSpPr>
          <p:cNvPr id="8" name="Text 4"/>
          <p:cNvSpPr txBox="1"/>
          <p:nvPr/>
        </p:nvSpPr>
        <p:spPr>
          <a:xfrm>
            <a:off x="640080" y="2084832"/>
            <a:ext cx="5212080" cy="1234440"/>
          </a:xfrm>
          <a:prstGeom prst="rect">
            <a:avLst/>
          </a:prstGeom>
          <a:noFill/>
          <a:ln/>
        </p:spPr>
        <p:txBody>
          <a:bodyPr wrap="square" lIns="0" tIns="0" rIns="0" bIns="0" rtlCol="0" anchor="t"/>
          <a:lstStyle/>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What: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Payment details are locked before they leave Alice's phone.</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Why: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Strangers carry the packet.</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Benefit: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Nobody on the way can read or change it.</a:t>
            </a:r>
            <a:endParaRPr lang="en-US" sz="1500" dirty="0"/>
          </a:p>
        </p:txBody>
      </p:sp>
      <p:sp>
        <p:nvSpPr>
          <p:cNvPr id="9" name="Text 5"/>
          <p:cNvSpPr txBox="1"/>
          <p:nvPr/>
        </p:nvSpPr>
        <p:spPr>
          <a:xfrm>
            <a:off x="640080" y="3355848"/>
            <a:ext cx="5212080" cy="274320"/>
          </a:xfrm>
          <a:prstGeom prst="rect">
            <a:avLst/>
          </a:prstGeom>
          <a:noFill/>
          <a:ln/>
        </p:spPr>
        <p:txBody>
          <a:bodyPr wrap="square" lIns="0" tIns="0" rIns="0" bIns="0" rtlCol="0" anchor="t"/>
          <a:lstStyle/>
          <a:p>
            <a:pPr algn="l" indent="0" marL="0">
              <a:buNone/>
            </a:pPr>
            <a:r>
              <a:rPr lang="en-US" sz="1300" b="1" dirty="0">
                <a:solidFill>
                  <a:schemeClr val="accent5"/>
                </a:solidFill>
                <a:latin typeface="Calibri" pitchFamily="34" charset="0"/>
                <a:ea typeface="Calibri" pitchFamily="34" charset="-122"/>
                <a:cs typeface="Calibri" pitchFamily="34" charset="-120"/>
              </a:rPr>
              <a:t>Where: </a:t>
            </a:r>
            <a:pPr algn="l" indent="0" marL="0">
              <a:buNone/>
            </a:pPr>
            <a:r>
              <a:rPr lang="en-US" sz="1250" dirty="0">
                <a:solidFill>
                  <a:schemeClr val="accent4"/>
                </a:solidFill>
                <a:latin typeface="Courier New" pitchFamily="34" charset="0"/>
                <a:ea typeface="Courier New" pitchFamily="34" charset="-122"/>
                <a:cs typeface="Courier New" pitchFamily="34" charset="-120"/>
              </a:rPr>
              <a:t>HybridCryptoService</a:t>
            </a:r>
            <a:endParaRPr lang="en-US" sz="1300" dirty="0"/>
          </a:p>
        </p:txBody>
      </p:sp>
      <p:sp>
        <p:nvSpPr>
          <p:cNvPr id="10" name="feature Mesh simulator"/>
          <p:cNvSpPr/>
          <p:nvPr/>
        </p:nvSpPr>
        <p:spPr>
          <a:xfrm>
            <a:off x="6190488" y="1280160"/>
            <a:ext cx="5541264" cy="2377440"/>
          </a:xfrm>
          <a:prstGeom prst="roundRect">
            <a:avLst>
              <a:gd name="adj" fmla="val 4615"/>
            </a:avLst>
          </a:prstGeom>
          <a:solidFill>
            <a:schemeClr val="bg2"/>
          </a:solidFill>
          <a:ln/>
        </p:spPr>
      </p:sp>
      <p:sp>
        <p:nvSpPr>
          <p:cNvPr id="11" name="Mesh simulator circle"/>
          <p:cNvSpPr/>
          <p:nvPr/>
        </p:nvSpPr>
        <p:spPr>
          <a:xfrm>
            <a:off x="6373368" y="1444752"/>
            <a:ext cx="566928" cy="566928"/>
          </a:xfrm>
          <a:prstGeom prst="ellipse">
            <a:avLst/>
          </a:prstGeom>
          <a:solidFill>
            <a:schemeClr val="accent1"/>
          </a:solidFill>
          <a:ln/>
        </p:spPr>
      </p:sp>
      <p:pic>
        <p:nvPicPr>
          <p:cNvPr id="12" name="Image 1" descr="Mesh simulator">    </p:cNvPr>
          <p:cNvPicPr>
            <a:picLocks noChangeAspect="1"/>
          </p:cNvPicPr>
          <p:nvPr/>
        </p:nvPicPr>
        <p:blipFill>
          <a:blip r:embed="rId2"/>
          <a:stretch>
            <a:fillRect/>
          </a:stretch>
        </p:blipFill>
        <p:spPr>
          <a:xfrm>
            <a:off x="6498092" y="1569476"/>
            <a:ext cx="317480" cy="317480"/>
          </a:xfrm>
          <a:prstGeom prst="rect">
            <a:avLst/>
          </a:prstGeom>
        </p:spPr>
      </p:pic>
      <p:sp>
        <p:nvSpPr>
          <p:cNvPr id="13" name="Text 8"/>
          <p:cNvSpPr txBox="1"/>
          <p:nvPr/>
        </p:nvSpPr>
        <p:spPr>
          <a:xfrm>
            <a:off x="7104888" y="1444752"/>
            <a:ext cx="4480560" cy="566928"/>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Mesh simulator</a:t>
            </a:r>
            <a:endParaRPr lang="en-US" sz="1900" dirty="0"/>
          </a:p>
        </p:txBody>
      </p:sp>
      <p:sp>
        <p:nvSpPr>
          <p:cNvPr id="14" name="Text 9"/>
          <p:cNvSpPr txBox="1"/>
          <p:nvPr/>
        </p:nvSpPr>
        <p:spPr>
          <a:xfrm>
            <a:off x="6373368" y="2084832"/>
            <a:ext cx="5212080" cy="1234440"/>
          </a:xfrm>
          <a:prstGeom prst="rect">
            <a:avLst/>
          </a:prstGeom>
          <a:noFill/>
          <a:ln/>
        </p:spPr>
        <p:txBody>
          <a:bodyPr wrap="square" lIns="0" tIns="0" rIns="0" bIns="0" rtlCol="0" anchor="t"/>
          <a:lstStyle/>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What: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Five virtual phones that pass packets around.</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Why: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Show the whole flow on one laptop, no Bluetooth needed.</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Benefit: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Anyone can try it and see it.</a:t>
            </a:r>
            <a:endParaRPr lang="en-US" sz="1500" dirty="0"/>
          </a:p>
        </p:txBody>
      </p:sp>
      <p:sp>
        <p:nvSpPr>
          <p:cNvPr id="15" name="Text 10"/>
          <p:cNvSpPr txBox="1"/>
          <p:nvPr/>
        </p:nvSpPr>
        <p:spPr>
          <a:xfrm>
            <a:off x="6373368" y="3355848"/>
            <a:ext cx="5212080" cy="274320"/>
          </a:xfrm>
          <a:prstGeom prst="rect">
            <a:avLst/>
          </a:prstGeom>
          <a:noFill/>
          <a:ln/>
        </p:spPr>
        <p:txBody>
          <a:bodyPr wrap="square" lIns="0" tIns="0" rIns="0" bIns="0" rtlCol="0" anchor="t"/>
          <a:lstStyle/>
          <a:p>
            <a:pPr algn="l" indent="0" marL="0">
              <a:buNone/>
            </a:pPr>
            <a:r>
              <a:rPr lang="en-US" sz="1300" b="1" dirty="0">
                <a:solidFill>
                  <a:schemeClr val="accent5"/>
                </a:solidFill>
                <a:latin typeface="Calibri" pitchFamily="34" charset="0"/>
                <a:ea typeface="Calibri" pitchFamily="34" charset="-122"/>
                <a:cs typeface="Calibri" pitchFamily="34" charset="-120"/>
              </a:rPr>
              <a:t>Where: </a:t>
            </a:r>
            <a:pPr algn="l" indent="0" marL="0">
              <a:buNone/>
            </a:pPr>
            <a:r>
              <a:rPr lang="en-US" sz="1250" dirty="0">
                <a:solidFill>
                  <a:schemeClr val="accent4"/>
                </a:solidFill>
                <a:latin typeface="Courier New" pitchFamily="34" charset="0"/>
                <a:ea typeface="Courier New" pitchFamily="34" charset="-122"/>
                <a:cs typeface="Courier New" pitchFamily="34" charset="-120"/>
              </a:rPr>
              <a:t>MeshSimulatorService, VirtualDevice</a:t>
            </a:r>
            <a:endParaRPr lang="en-US" sz="1300" dirty="0"/>
          </a:p>
        </p:txBody>
      </p:sp>
      <p:sp>
        <p:nvSpPr>
          <p:cNvPr id="16" name="feature Duplicate protection"/>
          <p:cNvSpPr/>
          <p:nvPr/>
        </p:nvSpPr>
        <p:spPr>
          <a:xfrm>
            <a:off x="457200" y="3840480"/>
            <a:ext cx="5541264" cy="2377440"/>
          </a:xfrm>
          <a:prstGeom prst="roundRect">
            <a:avLst>
              <a:gd name="adj" fmla="val 4615"/>
            </a:avLst>
          </a:prstGeom>
          <a:solidFill>
            <a:schemeClr val="bg2"/>
          </a:solidFill>
          <a:ln/>
        </p:spPr>
      </p:sp>
      <p:sp>
        <p:nvSpPr>
          <p:cNvPr id="17" name="Duplicate protection circle"/>
          <p:cNvSpPr/>
          <p:nvPr/>
        </p:nvSpPr>
        <p:spPr>
          <a:xfrm>
            <a:off x="640080" y="4005072"/>
            <a:ext cx="566928" cy="566928"/>
          </a:xfrm>
          <a:prstGeom prst="ellipse">
            <a:avLst/>
          </a:prstGeom>
          <a:solidFill>
            <a:schemeClr val="accent1"/>
          </a:solidFill>
          <a:ln/>
        </p:spPr>
      </p:sp>
      <p:pic>
        <p:nvPicPr>
          <p:cNvPr id="18" name="Image 2" descr="Duplicate protection">    </p:cNvPr>
          <p:cNvPicPr>
            <a:picLocks noChangeAspect="1"/>
          </p:cNvPicPr>
          <p:nvPr/>
        </p:nvPicPr>
        <p:blipFill>
          <a:blip r:embed="rId3"/>
          <a:stretch>
            <a:fillRect/>
          </a:stretch>
        </p:blipFill>
        <p:spPr>
          <a:xfrm>
            <a:off x="764804" y="4129796"/>
            <a:ext cx="317480" cy="317480"/>
          </a:xfrm>
          <a:prstGeom prst="rect">
            <a:avLst/>
          </a:prstGeom>
        </p:spPr>
      </p:pic>
      <p:sp>
        <p:nvSpPr>
          <p:cNvPr id="19" name="Text 13"/>
          <p:cNvSpPr txBox="1"/>
          <p:nvPr/>
        </p:nvSpPr>
        <p:spPr>
          <a:xfrm>
            <a:off x="1371600" y="4005072"/>
            <a:ext cx="4480560" cy="566928"/>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Duplicate protection</a:t>
            </a:r>
            <a:endParaRPr lang="en-US" sz="1900" dirty="0"/>
          </a:p>
        </p:txBody>
      </p:sp>
      <p:sp>
        <p:nvSpPr>
          <p:cNvPr id="20" name="Text 14"/>
          <p:cNvSpPr txBox="1"/>
          <p:nvPr/>
        </p:nvSpPr>
        <p:spPr>
          <a:xfrm>
            <a:off x="640080" y="4645152"/>
            <a:ext cx="5212080" cy="1234440"/>
          </a:xfrm>
          <a:prstGeom prst="rect">
            <a:avLst/>
          </a:prstGeom>
          <a:noFill/>
          <a:ln/>
        </p:spPr>
        <p:txBody>
          <a:bodyPr wrap="square" lIns="0" tIns="0" rIns="0" bIns="0" rtlCol="0" anchor="t"/>
          <a:lstStyle/>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What: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A fingerprint check where the first copy wins.</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Why: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Many phones deliver the same payment.</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Benefit: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Money moves only once.</a:t>
            </a:r>
            <a:endParaRPr lang="en-US" sz="1500" dirty="0"/>
          </a:p>
        </p:txBody>
      </p:sp>
      <p:sp>
        <p:nvSpPr>
          <p:cNvPr id="21" name="Text 15"/>
          <p:cNvSpPr txBox="1"/>
          <p:nvPr/>
        </p:nvSpPr>
        <p:spPr>
          <a:xfrm>
            <a:off x="640080" y="5916168"/>
            <a:ext cx="5212080" cy="274320"/>
          </a:xfrm>
          <a:prstGeom prst="rect">
            <a:avLst/>
          </a:prstGeom>
          <a:noFill/>
          <a:ln/>
        </p:spPr>
        <p:txBody>
          <a:bodyPr wrap="square" lIns="0" tIns="0" rIns="0" bIns="0" rtlCol="0" anchor="t"/>
          <a:lstStyle/>
          <a:p>
            <a:pPr algn="l" indent="0" marL="0">
              <a:buNone/>
            </a:pPr>
            <a:r>
              <a:rPr lang="en-US" sz="1300" b="1" dirty="0">
                <a:solidFill>
                  <a:schemeClr val="accent5"/>
                </a:solidFill>
                <a:latin typeface="Calibri" pitchFamily="34" charset="0"/>
                <a:ea typeface="Calibri" pitchFamily="34" charset="-122"/>
                <a:cs typeface="Calibri" pitchFamily="34" charset="-120"/>
              </a:rPr>
              <a:t>Where: </a:t>
            </a:r>
            <a:pPr algn="l" indent="0" marL="0">
              <a:buNone/>
            </a:pPr>
            <a:r>
              <a:rPr lang="en-US" sz="1250" dirty="0">
                <a:solidFill>
                  <a:schemeClr val="accent4"/>
                </a:solidFill>
                <a:latin typeface="Courier New" pitchFamily="34" charset="0"/>
                <a:ea typeface="Courier New" pitchFamily="34" charset="-122"/>
                <a:cs typeface="Courier New" pitchFamily="34" charset="-120"/>
              </a:rPr>
              <a:t>IdempotencyService</a:t>
            </a:r>
            <a:endParaRPr lang="en-US" sz="1300" dirty="0"/>
          </a:p>
        </p:txBody>
      </p:sp>
      <p:sp>
        <p:nvSpPr>
          <p:cNvPr id="22" name="feature Freshness check"/>
          <p:cNvSpPr/>
          <p:nvPr/>
        </p:nvSpPr>
        <p:spPr>
          <a:xfrm>
            <a:off x="6190488" y="3840480"/>
            <a:ext cx="5541264" cy="2377440"/>
          </a:xfrm>
          <a:prstGeom prst="roundRect">
            <a:avLst>
              <a:gd name="adj" fmla="val 4615"/>
            </a:avLst>
          </a:prstGeom>
          <a:solidFill>
            <a:schemeClr val="bg2"/>
          </a:solidFill>
          <a:ln/>
        </p:spPr>
      </p:sp>
      <p:sp>
        <p:nvSpPr>
          <p:cNvPr id="23" name="Freshness check circle"/>
          <p:cNvSpPr/>
          <p:nvPr/>
        </p:nvSpPr>
        <p:spPr>
          <a:xfrm>
            <a:off x="6373368" y="4005072"/>
            <a:ext cx="566928" cy="566928"/>
          </a:xfrm>
          <a:prstGeom prst="ellipse">
            <a:avLst/>
          </a:prstGeom>
          <a:solidFill>
            <a:schemeClr val="accent1"/>
          </a:solidFill>
          <a:ln/>
        </p:spPr>
      </p:sp>
      <p:pic>
        <p:nvPicPr>
          <p:cNvPr id="24" name="Image 3" descr="Freshness check">    </p:cNvPr>
          <p:cNvPicPr>
            <a:picLocks noChangeAspect="1"/>
          </p:cNvPicPr>
          <p:nvPr/>
        </p:nvPicPr>
        <p:blipFill>
          <a:blip r:embed="rId4"/>
          <a:stretch>
            <a:fillRect/>
          </a:stretch>
        </p:blipFill>
        <p:spPr>
          <a:xfrm>
            <a:off x="6498092" y="4129796"/>
            <a:ext cx="317480" cy="317480"/>
          </a:xfrm>
          <a:prstGeom prst="rect">
            <a:avLst/>
          </a:prstGeom>
        </p:spPr>
      </p:pic>
      <p:sp>
        <p:nvSpPr>
          <p:cNvPr id="25" name="Text 18"/>
          <p:cNvSpPr txBox="1"/>
          <p:nvPr/>
        </p:nvSpPr>
        <p:spPr>
          <a:xfrm>
            <a:off x="7104888" y="4005072"/>
            <a:ext cx="4480560" cy="566928"/>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Freshness check</a:t>
            </a:r>
            <a:endParaRPr lang="en-US" sz="1900" dirty="0"/>
          </a:p>
        </p:txBody>
      </p:sp>
      <p:sp>
        <p:nvSpPr>
          <p:cNvPr id="26" name="Text 19"/>
          <p:cNvSpPr txBox="1"/>
          <p:nvPr/>
        </p:nvSpPr>
        <p:spPr>
          <a:xfrm>
            <a:off x="6373368" y="4645152"/>
            <a:ext cx="5212080" cy="1234440"/>
          </a:xfrm>
          <a:prstGeom prst="rect">
            <a:avLst/>
          </a:prstGeom>
          <a:noFill/>
          <a:ln/>
        </p:spPr>
        <p:txBody>
          <a:bodyPr wrap="square" lIns="0" tIns="0" rIns="0" bIns="0" rtlCol="0" anchor="t"/>
          <a:lstStyle/>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What: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Each payment carries the time it was signed.</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Why: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Stop old copied packets being replayed.</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Benefit: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Over 24 h old or over 5 min in the future: rejected.</a:t>
            </a:r>
            <a:endParaRPr lang="en-US" sz="1500" dirty="0"/>
          </a:p>
        </p:txBody>
      </p:sp>
      <p:sp>
        <p:nvSpPr>
          <p:cNvPr id="27" name="Text 20"/>
          <p:cNvSpPr txBox="1"/>
          <p:nvPr/>
        </p:nvSpPr>
        <p:spPr>
          <a:xfrm>
            <a:off x="6373368" y="5916168"/>
            <a:ext cx="5212080" cy="274320"/>
          </a:xfrm>
          <a:prstGeom prst="rect">
            <a:avLst/>
          </a:prstGeom>
          <a:noFill/>
          <a:ln/>
        </p:spPr>
        <p:txBody>
          <a:bodyPr wrap="square" lIns="0" tIns="0" rIns="0" bIns="0" rtlCol="0" anchor="t"/>
          <a:lstStyle/>
          <a:p>
            <a:pPr algn="l" indent="0" marL="0">
              <a:buNone/>
            </a:pPr>
            <a:r>
              <a:rPr lang="en-US" sz="1300" b="1" dirty="0">
                <a:solidFill>
                  <a:schemeClr val="accent5"/>
                </a:solidFill>
                <a:latin typeface="Calibri" pitchFamily="34" charset="0"/>
                <a:ea typeface="Calibri" pitchFamily="34" charset="-122"/>
                <a:cs typeface="Calibri" pitchFamily="34" charset="-120"/>
              </a:rPr>
              <a:t>Where: </a:t>
            </a:r>
            <a:pPr algn="l" indent="0" marL="0">
              <a:buNone/>
            </a:pPr>
            <a:r>
              <a:rPr lang="en-US" sz="1250" dirty="0">
                <a:solidFill>
                  <a:schemeClr val="accent4"/>
                </a:solidFill>
                <a:latin typeface="Courier New" pitchFamily="34" charset="0"/>
                <a:ea typeface="Courier New" pitchFamily="34" charset="-122"/>
                <a:cs typeface="Courier New" pitchFamily="34" charset="-120"/>
              </a:rPr>
              <a:t>BridgeIngestionService</a:t>
            </a:r>
            <a:endParaRPr lang="en-US" sz="13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Key features (2 of 2)</a:t>
            </a:r>
            <a:endParaRPr lang="en-US" sz="3400" dirty="0"/>
          </a:p>
        </p:txBody>
      </p:sp>
      <p:sp>
        <p:nvSpPr>
          <p:cNvPr id="4" name="feature Safe settlement"/>
          <p:cNvSpPr/>
          <p:nvPr/>
        </p:nvSpPr>
        <p:spPr>
          <a:xfrm>
            <a:off x="457200" y="1280160"/>
            <a:ext cx="5541264" cy="2377440"/>
          </a:xfrm>
          <a:prstGeom prst="roundRect">
            <a:avLst>
              <a:gd name="adj" fmla="val 4615"/>
            </a:avLst>
          </a:prstGeom>
          <a:solidFill>
            <a:schemeClr val="bg2"/>
          </a:solidFill>
          <a:ln/>
        </p:spPr>
      </p:sp>
      <p:sp>
        <p:nvSpPr>
          <p:cNvPr id="5" name="Safe settlement circle"/>
          <p:cNvSpPr/>
          <p:nvPr/>
        </p:nvSpPr>
        <p:spPr>
          <a:xfrm>
            <a:off x="640080" y="1444752"/>
            <a:ext cx="566928" cy="566928"/>
          </a:xfrm>
          <a:prstGeom prst="ellipse">
            <a:avLst/>
          </a:prstGeom>
          <a:solidFill>
            <a:schemeClr val="accent1"/>
          </a:solidFill>
          <a:ln/>
        </p:spPr>
      </p:sp>
      <p:pic>
        <p:nvPicPr>
          <p:cNvPr id="6" name="Image 0" descr="Safe settlement">    </p:cNvPr>
          <p:cNvPicPr>
            <a:picLocks noChangeAspect="1"/>
          </p:cNvPicPr>
          <p:nvPr/>
        </p:nvPicPr>
        <p:blipFill>
          <a:blip r:embed="rId1"/>
          <a:stretch>
            <a:fillRect/>
          </a:stretch>
        </p:blipFill>
        <p:spPr>
          <a:xfrm>
            <a:off x="764804" y="1569476"/>
            <a:ext cx="317480" cy="317480"/>
          </a:xfrm>
          <a:prstGeom prst="rect">
            <a:avLst/>
          </a:prstGeom>
        </p:spPr>
      </p:pic>
      <p:sp>
        <p:nvSpPr>
          <p:cNvPr id="7" name="Text 3"/>
          <p:cNvSpPr txBox="1"/>
          <p:nvPr/>
        </p:nvSpPr>
        <p:spPr>
          <a:xfrm>
            <a:off x="1371600" y="1444752"/>
            <a:ext cx="4480560" cy="566928"/>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Safe settlement</a:t>
            </a:r>
            <a:endParaRPr lang="en-US" sz="1900" dirty="0"/>
          </a:p>
        </p:txBody>
      </p:sp>
      <p:sp>
        <p:nvSpPr>
          <p:cNvPr id="8" name="Text 4"/>
          <p:cNvSpPr txBox="1"/>
          <p:nvPr/>
        </p:nvSpPr>
        <p:spPr>
          <a:xfrm>
            <a:off x="640080" y="2084832"/>
            <a:ext cx="5212080" cy="1234440"/>
          </a:xfrm>
          <a:prstGeom prst="rect">
            <a:avLst/>
          </a:prstGeom>
          <a:noFill/>
          <a:ln/>
        </p:spPr>
        <p:txBody>
          <a:bodyPr wrap="square" lIns="0" tIns="0" rIns="0" bIns="0" rtlCol="0" anchor="t"/>
          <a:lstStyle/>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What: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Debit, credit and ledger record done as one unit.</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Why: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A crash halfway must not lose money.</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Benefit: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All happens, or nothing does.</a:t>
            </a:r>
            <a:endParaRPr lang="en-US" sz="1500" dirty="0"/>
          </a:p>
        </p:txBody>
      </p:sp>
      <p:sp>
        <p:nvSpPr>
          <p:cNvPr id="9" name="Text 5"/>
          <p:cNvSpPr txBox="1"/>
          <p:nvPr/>
        </p:nvSpPr>
        <p:spPr>
          <a:xfrm>
            <a:off x="640080" y="3355848"/>
            <a:ext cx="5212080" cy="274320"/>
          </a:xfrm>
          <a:prstGeom prst="rect">
            <a:avLst/>
          </a:prstGeom>
          <a:noFill/>
          <a:ln/>
        </p:spPr>
        <p:txBody>
          <a:bodyPr wrap="square" lIns="0" tIns="0" rIns="0" bIns="0" rtlCol="0" anchor="t"/>
          <a:lstStyle/>
          <a:p>
            <a:pPr algn="l" indent="0" marL="0">
              <a:buNone/>
            </a:pPr>
            <a:r>
              <a:rPr lang="en-US" sz="1300" b="1" dirty="0">
                <a:solidFill>
                  <a:schemeClr val="accent5"/>
                </a:solidFill>
                <a:latin typeface="Calibri" pitchFamily="34" charset="0"/>
                <a:ea typeface="Calibri" pitchFamily="34" charset="-122"/>
                <a:cs typeface="Calibri" pitchFamily="34" charset="-120"/>
              </a:rPr>
              <a:t>Where: </a:t>
            </a:r>
            <a:pPr algn="l" indent="0" marL="0">
              <a:buNone/>
            </a:pPr>
            <a:r>
              <a:rPr lang="en-US" sz="1250" dirty="0">
                <a:solidFill>
                  <a:schemeClr val="accent4"/>
                </a:solidFill>
                <a:latin typeface="Courier New" pitchFamily="34" charset="0"/>
                <a:ea typeface="Courier New" pitchFamily="34" charset="-122"/>
                <a:cs typeface="Courier New" pitchFamily="34" charset="-120"/>
              </a:rPr>
              <a:t>SettlementService</a:t>
            </a:r>
            <a:endParaRPr lang="en-US" sz="1300" dirty="0"/>
          </a:p>
        </p:txBody>
      </p:sp>
      <p:sp>
        <p:nvSpPr>
          <p:cNvPr id="10" name="feature Dashboard + REST API"/>
          <p:cNvSpPr/>
          <p:nvPr/>
        </p:nvSpPr>
        <p:spPr>
          <a:xfrm>
            <a:off x="6190488" y="1280160"/>
            <a:ext cx="5541264" cy="2377440"/>
          </a:xfrm>
          <a:prstGeom prst="roundRect">
            <a:avLst>
              <a:gd name="adj" fmla="val 4615"/>
            </a:avLst>
          </a:prstGeom>
          <a:solidFill>
            <a:schemeClr val="bg2"/>
          </a:solidFill>
          <a:ln/>
        </p:spPr>
      </p:sp>
      <p:sp>
        <p:nvSpPr>
          <p:cNvPr id="11" name="Dashboard + REST API circle"/>
          <p:cNvSpPr/>
          <p:nvPr/>
        </p:nvSpPr>
        <p:spPr>
          <a:xfrm>
            <a:off x="6373368" y="1444752"/>
            <a:ext cx="566928" cy="566928"/>
          </a:xfrm>
          <a:prstGeom prst="ellipse">
            <a:avLst/>
          </a:prstGeom>
          <a:solidFill>
            <a:schemeClr val="accent1"/>
          </a:solidFill>
          <a:ln/>
        </p:spPr>
      </p:sp>
      <p:pic>
        <p:nvPicPr>
          <p:cNvPr id="12" name="Image 1" descr="Dashboard + REST API">    </p:cNvPr>
          <p:cNvPicPr>
            <a:picLocks noChangeAspect="1"/>
          </p:cNvPicPr>
          <p:nvPr/>
        </p:nvPicPr>
        <p:blipFill>
          <a:blip r:embed="rId2"/>
          <a:stretch>
            <a:fillRect/>
          </a:stretch>
        </p:blipFill>
        <p:spPr>
          <a:xfrm>
            <a:off x="6498092" y="1569476"/>
            <a:ext cx="317480" cy="317480"/>
          </a:xfrm>
          <a:prstGeom prst="rect">
            <a:avLst/>
          </a:prstGeom>
        </p:spPr>
      </p:pic>
      <p:sp>
        <p:nvSpPr>
          <p:cNvPr id="13" name="Text 8"/>
          <p:cNvSpPr txBox="1"/>
          <p:nvPr/>
        </p:nvSpPr>
        <p:spPr>
          <a:xfrm>
            <a:off x="7104888" y="1444752"/>
            <a:ext cx="4480560" cy="566928"/>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Dashboard + REST API</a:t>
            </a:r>
            <a:endParaRPr lang="en-US" sz="1900" dirty="0"/>
          </a:p>
        </p:txBody>
      </p:sp>
      <p:sp>
        <p:nvSpPr>
          <p:cNvPr id="14" name="Text 9"/>
          <p:cNvSpPr txBox="1"/>
          <p:nvPr/>
        </p:nvSpPr>
        <p:spPr>
          <a:xfrm>
            <a:off x="6373368" y="2084832"/>
            <a:ext cx="5212080" cy="1234440"/>
          </a:xfrm>
          <a:prstGeom prst="rect">
            <a:avLst/>
          </a:prstGeom>
          <a:noFill/>
          <a:ln/>
        </p:spPr>
        <p:txBody>
          <a:bodyPr wrap="square" lIns="0" tIns="0" rIns="0" bIns="0" rtlCol="0" anchor="t"/>
          <a:lstStyle/>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What: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A web page, 9 API endpoints and servlets for CSV export, health and audit log.</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Why: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See what is happening live.</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Benefit: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Easy to demo and test.</a:t>
            </a:r>
            <a:endParaRPr lang="en-US" sz="1500" dirty="0"/>
          </a:p>
        </p:txBody>
      </p:sp>
      <p:sp>
        <p:nvSpPr>
          <p:cNvPr id="15" name="Text 10"/>
          <p:cNvSpPr txBox="1"/>
          <p:nvPr/>
        </p:nvSpPr>
        <p:spPr>
          <a:xfrm>
            <a:off x="6373368" y="3355848"/>
            <a:ext cx="5212080" cy="274320"/>
          </a:xfrm>
          <a:prstGeom prst="rect">
            <a:avLst/>
          </a:prstGeom>
          <a:noFill/>
          <a:ln/>
        </p:spPr>
        <p:txBody>
          <a:bodyPr wrap="square" lIns="0" tIns="0" rIns="0" bIns="0" rtlCol="0" anchor="t"/>
          <a:lstStyle/>
          <a:p>
            <a:pPr algn="l" indent="0" marL="0">
              <a:buNone/>
            </a:pPr>
            <a:r>
              <a:rPr lang="en-US" sz="1300" b="1" dirty="0">
                <a:solidFill>
                  <a:schemeClr val="accent5"/>
                </a:solidFill>
                <a:latin typeface="Calibri" pitchFamily="34" charset="0"/>
                <a:ea typeface="Calibri" pitchFamily="34" charset="-122"/>
                <a:cs typeface="Calibri" pitchFamily="34" charset="-120"/>
              </a:rPr>
              <a:t>Where: </a:t>
            </a:r>
            <a:pPr algn="l" indent="0" marL="0">
              <a:buNone/>
            </a:pPr>
            <a:r>
              <a:rPr lang="en-US" sz="1250" dirty="0">
                <a:solidFill>
                  <a:schemeClr val="accent4"/>
                </a:solidFill>
                <a:latin typeface="Courier New" pitchFamily="34" charset="0"/>
                <a:ea typeface="Courier New" pitchFamily="34" charset="-122"/>
                <a:cs typeface="Courier New" pitchFamily="34" charset="-120"/>
              </a:rPr>
              <a:t>ApiController, servlet/ package</a:t>
            </a:r>
            <a:endParaRPr lang="en-US" sz="1300" dirty="0"/>
          </a:p>
        </p:txBody>
      </p:sp>
      <p:sp>
        <p:nvSpPr>
          <p:cNvPr id="16" name="feature Clear error reasons"/>
          <p:cNvSpPr/>
          <p:nvPr/>
        </p:nvSpPr>
        <p:spPr>
          <a:xfrm>
            <a:off x="457200" y="3840480"/>
            <a:ext cx="5541264" cy="2377440"/>
          </a:xfrm>
          <a:prstGeom prst="roundRect">
            <a:avLst>
              <a:gd name="adj" fmla="val 4615"/>
            </a:avLst>
          </a:prstGeom>
          <a:solidFill>
            <a:schemeClr val="bg2"/>
          </a:solidFill>
          <a:ln/>
        </p:spPr>
      </p:sp>
      <p:sp>
        <p:nvSpPr>
          <p:cNvPr id="17" name="Clear error reasons circle"/>
          <p:cNvSpPr/>
          <p:nvPr/>
        </p:nvSpPr>
        <p:spPr>
          <a:xfrm>
            <a:off x="640080" y="4005072"/>
            <a:ext cx="566928" cy="566928"/>
          </a:xfrm>
          <a:prstGeom prst="ellipse">
            <a:avLst/>
          </a:prstGeom>
          <a:solidFill>
            <a:schemeClr val="accent1"/>
          </a:solidFill>
          <a:ln/>
        </p:spPr>
      </p:sp>
      <p:pic>
        <p:nvPicPr>
          <p:cNvPr id="18" name="Image 2" descr="Clear error reasons">    </p:cNvPr>
          <p:cNvPicPr>
            <a:picLocks noChangeAspect="1"/>
          </p:cNvPicPr>
          <p:nvPr/>
        </p:nvPicPr>
        <p:blipFill>
          <a:blip r:embed="rId3"/>
          <a:stretch>
            <a:fillRect/>
          </a:stretch>
        </p:blipFill>
        <p:spPr>
          <a:xfrm>
            <a:off x="764804" y="4129796"/>
            <a:ext cx="317480" cy="317480"/>
          </a:xfrm>
          <a:prstGeom prst="rect">
            <a:avLst/>
          </a:prstGeom>
        </p:spPr>
      </p:pic>
      <p:sp>
        <p:nvSpPr>
          <p:cNvPr id="19" name="Text 13"/>
          <p:cNvSpPr txBox="1"/>
          <p:nvPr/>
        </p:nvSpPr>
        <p:spPr>
          <a:xfrm>
            <a:off x="1371600" y="4005072"/>
            <a:ext cx="4480560" cy="566928"/>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Clear error reasons</a:t>
            </a:r>
            <a:endParaRPr lang="en-US" sz="1900" dirty="0"/>
          </a:p>
        </p:txBody>
      </p:sp>
      <p:sp>
        <p:nvSpPr>
          <p:cNvPr id="20" name="Text 14"/>
          <p:cNvSpPr txBox="1"/>
          <p:nvPr/>
        </p:nvSpPr>
        <p:spPr>
          <a:xfrm>
            <a:off x="640080" y="4645152"/>
            <a:ext cx="5212080" cy="1234440"/>
          </a:xfrm>
          <a:prstGeom prst="rect">
            <a:avLst/>
          </a:prstGeom>
          <a:noFill/>
          <a:ln/>
        </p:spPr>
        <p:txBody>
          <a:bodyPr wrap="square" lIns="0" tIns="0" rIns="0" bIns="0" rtlCol="0" anchor="t"/>
          <a:lstStyle/>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What: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Every failure comes back with a reason such as decryption_failed.</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Why: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Easy to debug, and the server never crashes.</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Benefit: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Users get a clean answer, not a stack trace.</a:t>
            </a:r>
            <a:endParaRPr lang="en-US" sz="1500" dirty="0"/>
          </a:p>
        </p:txBody>
      </p:sp>
      <p:sp>
        <p:nvSpPr>
          <p:cNvPr id="21" name="Text 15"/>
          <p:cNvSpPr txBox="1"/>
          <p:nvPr/>
        </p:nvSpPr>
        <p:spPr>
          <a:xfrm>
            <a:off x="640080" y="5916168"/>
            <a:ext cx="5212080" cy="274320"/>
          </a:xfrm>
          <a:prstGeom prst="rect">
            <a:avLst/>
          </a:prstGeom>
          <a:noFill/>
          <a:ln/>
        </p:spPr>
        <p:txBody>
          <a:bodyPr wrap="square" lIns="0" tIns="0" rIns="0" bIns="0" rtlCol="0" anchor="t"/>
          <a:lstStyle/>
          <a:p>
            <a:pPr algn="l" indent="0" marL="0">
              <a:buNone/>
            </a:pPr>
            <a:r>
              <a:rPr lang="en-US" sz="1300" b="1" dirty="0">
                <a:solidFill>
                  <a:schemeClr val="accent5"/>
                </a:solidFill>
                <a:latin typeface="Calibri" pitchFamily="34" charset="0"/>
                <a:ea typeface="Calibri" pitchFamily="34" charset="-122"/>
                <a:cs typeface="Calibri" pitchFamily="34" charset="-120"/>
              </a:rPr>
              <a:t>Where: </a:t>
            </a:r>
            <a:pPr algn="l" indent="0" marL="0">
              <a:buNone/>
            </a:pPr>
            <a:r>
              <a:rPr lang="en-US" sz="1250" dirty="0">
                <a:solidFill>
                  <a:schemeClr val="accent4"/>
                </a:solidFill>
                <a:latin typeface="Courier New" pitchFamily="34" charset="0"/>
                <a:ea typeface="Courier New" pitchFamily="34" charset="-122"/>
                <a:cs typeface="Courier New" pitchFamily="34" charset="-120"/>
              </a:rPr>
              <a:t>BridgeIngestionService, GlobalExceptionHandler</a:t>
            </a:r>
            <a:endParaRPr lang="en-US" sz="1300" dirty="0"/>
          </a:p>
        </p:txBody>
      </p:sp>
      <p:sp>
        <p:nvSpPr>
          <p:cNvPr id="22" name="feature Tests + CI"/>
          <p:cNvSpPr/>
          <p:nvPr/>
        </p:nvSpPr>
        <p:spPr>
          <a:xfrm>
            <a:off x="6190488" y="3840480"/>
            <a:ext cx="5541264" cy="2377440"/>
          </a:xfrm>
          <a:prstGeom prst="roundRect">
            <a:avLst>
              <a:gd name="adj" fmla="val 4615"/>
            </a:avLst>
          </a:prstGeom>
          <a:solidFill>
            <a:schemeClr val="bg2"/>
          </a:solidFill>
          <a:ln/>
        </p:spPr>
      </p:sp>
      <p:sp>
        <p:nvSpPr>
          <p:cNvPr id="23" name="Tests + CI circle"/>
          <p:cNvSpPr/>
          <p:nvPr/>
        </p:nvSpPr>
        <p:spPr>
          <a:xfrm>
            <a:off x="6373368" y="4005072"/>
            <a:ext cx="566928" cy="566928"/>
          </a:xfrm>
          <a:prstGeom prst="ellipse">
            <a:avLst/>
          </a:prstGeom>
          <a:solidFill>
            <a:schemeClr val="accent1"/>
          </a:solidFill>
          <a:ln/>
        </p:spPr>
      </p:sp>
      <p:pic>
        <p:nvPicPr>
          <p:cNvPr id="24" name="Image 3" descr="Tests + CI">    </p:cNvPr>
          <p:cNvPicPr>
            <a:picLocks noChangeAspect="1"/>
          </p:cNvPicPr>
          <p:nvPr/>
        </p:nvPicPr>
        <p:blipFill>
          <a:blip r:embed="rId4"/>
          <a:stretch>
            <a:fillRect/>
          </a:stretch>
        </p:blipFill>
        <p:spPr>
          <a:xfrm>
            <a:off x="6498092" y="4129796"/>
            <a:ext cx="317480" cy="317480"/>
          </a:xfrm>
          <a:prstGeom prst="rect">
            <a:avLst/>
          </a:prstGeom>
        </p:spPr>
      </p:pic>
      <p:sp>
        <p:nvSpPr>
          <p:cNvPr id="25" name="Text 18"/>
          <p:cNvSpPr txBox="1"/>
          <p:nvPr/>
        </p:nvSpPr>
        <p:spPr>
          <a:xfrm>
            <a:off x="7104888" y="4005072"/>
            <a:ext cx="4480560" cy="566928"/>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Tests + CI</a:t>
            </a:r>
            <a:endParaRPr lang="en-US" sz="1900" dirty="0"/>
          </a:p>
        </p:txBody>
      </p:sp>
      <p:sp>
        <p:nvSpPr>
          <p:cNvPr id="26" name="Text 19"/>
          <p:cNvSpPr txBox="1"/>
          <p:nvPr/>
        </p:nvSpPr>
        <p:spPr>
          <a:xfrm>
            <a:off x="6373368" y="4645152"/>
            <a:ext cx="5212080" cy="1234440"/>
          </a:xfrm>
          <a:prstGeom prst="rect">
            <a:avLst/>
          </a:prstGeom>
          <a:noFill/>
          <a:ln/>
        </p:spPr>
        <p:txBody>
          <a:bodyPr wrap="square" lIns="0" tIns="0" rIns="0" bIns="0" rtlCol="0" anchor="t"/>
          <a:lstStyle/>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What: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18 automated tests: a 3-thread race test plus JDBC, servlet and file tests. Runs on GitHub Actions.</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Why: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Prove the claims, not just say them.</a:t>
            </a:r>
            <a:endParaRPr lang="en-US" sz="1500" dirty="0"/>
          </a:p>
          <a:p>
            <a:pPr algn="l" indent="0" marL="0">
              <a:spcAft>
                <a:spcPts val="300"/>
              </a:spcAft>
              <a:buNone/>
            </a:pPr>
            <a:r>
              <a:rPr lang="en-US" sz="1500" b="1" dirty="0">
                <a:solidFill>
                  <a:schemeClr val="accent1"/>
                </a:solidFill>
                <a:latin typeface="Calibri" pitchFamily="34" charset="0"/>
                <a:ea typeface="Calibri" pitchFamily="34" charset="-122"/>
                <a:cs typeface="Calibri" pitchFamily="34" charset="-120"/>
              </a:rPr>
              <a:t>Benefit: </a:t>
            </a:r>
            <a:pPr algn="l" indent="0" marL="0">
              <a:spcAft>
                <a:spcPts val="300"/>
              </a:spcAft>
              <a:buNone/>
            </a:pPr>
            <a:r>
              <a:rPr lang="en-US" sz="1500" dirty="0">
                <a:solidFill>
                  <a:schemeClr val="tx1"/>
                </a:solidFill>
                <a:latin typeface="Calibri" pitchFamily="34" charset="0"/>
                <a:ea typeface="Calibri" pitchFamily="34" charset="-122"/>
                <a:cs typeface="Calibri" pitchFamily="34" charset="-120"/>
              </a:rPr>
              <a:t>Confidence that it works.</a:t>
            </a:r>
            <a:endParaRPr lang="en-US" sz="1500" dirty="0"/>
          </a:p>
        </p:txBody>
      </p:sp>
      <p:sp>
        <p:nvSpPr>
          <p:cNvPr id="27" name="Text 20"/>
          <p:cNvSpPr txBox="1"/>
          <p:nvPr/>
        </p:nvSpPr>
        <p:spPr>
          <a:xfrm>
            <a:off x="6373368" y="5916168"/>
            <a:ext cx="5212080" cy="274320"/>
          </a:xfrm>
          <a:prstGeom prst="rect">
            <a:avLst/>
          </a:prstGeom>
          <a:noFill/>
          <a:ln/>
        </p:spPr>
        <p:txBody>
          <a:bodyPr wrap="square" lIns="0" tIns="0" rIns="0" bIns="0" rtlCol="0" anchor="t"/>
          <a:lstStyle/>
          <a:p>
            <a:pPr algn="l" indent="0" marL="0">
              <a:buNone/>
            </a:pPr>
            <a:r>
              <a:rPr lang="en-US" sz="1300" b="1" dirty="0">
                <a:solidFill>
                  <a:schemeClr val="accent5"/>
                </a:solidFill>
                <a:latin typeface="Calibri" pitchFamily="34" charset="0"/>
                <a:ea typeface="Calibri" pitchFamily="34" charset="-122"/>
                <a:cs typeface="Calibri" pitchFamily="34" charset="-120"/>
              </a:rPr>
              <a:t>Where: </a:t>
            </a:r>
            <a:pPr algn="l" indent="0" marL="0">
              <a:buNone/>
            </a:pPr>
            <a:r>
              <a:rPr lang="en-US" sz="1250" dirty="0">
                <a:solidFill>
                  <a:schemeClr val="accent4"/>
                </a:solidFill>
                <a:latin typeface="Courier New" pitchFamily="34" charset="0"/>
                <a:ea typeface="Courier New" pitchFamily="34" charset="-122"/>
                <a:cs typeface="Courier New" pitchFamily="34" charset="-120"/>
              </a:rPr>
              <a:t>JdbcFilesServletsTest, ci.yml</a:t>
            </a:r>
            <a:endParaRPr lang="en-US" sz="13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OOP (1/3): Classes and objects</a:t>
            </a:r>
            <a:endParaRPr lang="en-US" sz="3400" dirty="0"/>
          </a:p>
        </p:txBody>
      </p:sp>
      <p:sp>
        <p:nvSpPr>
          <p:cNvPr id="4" name="definition"/>
          <p:cNvSpPr/>
          <p:nvPr/>
        </p:nvSpPr>
        <p:spPr>
          <a:xfrm>
            <a:off x="457200" y="1280160"/>
            <a:ext cx="11274552" cy="685800"/>
          </a:xfrm>
          <a:prstGeom prst="roundRect">
            <a:avLst>
              <a:gd name="adj" fmla="val 16000"/>
            </a:avLst>
          </a:prstGeom>
          <a:solidFill>
            <a:srgbClr val="FDF1DC"/>
          </a:solidFill>
          <a:ln/>
        </p:spPr>
      </p:sp>
      <p:sp>
        <p:nvSpPr>
          <p:cNvPr id="5" name="Text 2"/>
          <p:cNvSpPr txBox="1"/>
          <p:nvPr/>
        </p:nvSpPr>
        <p:spPr>
          <a:xfrm>
            <a:off x="640080" y="1280160"/>
            <a:ext cx="10881360" cy="68580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Class = blueprint.  Object = a real thing built from the blueprint.  Account is the class; alice@demo with ₹5000 is an object.</a:t>
            </a:r>
            <a:endParaRPr lang="en-US" sz="1600" dirty="0"/>
          </a:p>
        </p:txBody>
      </p:sp>
      <p:graphicFrame>
        <p:nvGraphicFramePr>
          <p:cNvPr id="18" name="classes table"/>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4297680"/>
                <a:gridCol w="3657600"/>
                <a:gridCol w="3319272"/>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it represents</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Example object</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r>
              <a:tr h="457200">
                <a:tc>
                  <a:txBody>
                    <a:bodyP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Account</a:t>
                      </a:r>
                      <a:endParaRPr lang="en-US" sz="130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bank account</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alice@demo, ₹5000</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Transaction</a:t>
                      </a:r>
                      <a:endParaRPr lang="en-US" sz="130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 ledger entry</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₹100 alice → bob, SETTLED</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r h="457200">
                <a:tc>
                  <a:txBody>
                    <a:bodyP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MeshPacket</a:t>
                      </a:r>
                      <a:endParaRPr lang="en-US" sz="130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envelope passed between phones</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packetId, ttl = 5, locked data</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PaymentInstruction</a:t>
                      </a:r>
                      <a:endParaRPr lang="en-US" sz="130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Payment details inside the lock</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alice → bob, ₹500, nonce</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r h="457200">
                <a:tc>
                  <a:txBody>
                    <a:bodyP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VirtualDevice</a:t>
                      </a:r>
                      <a:endParaRPr lang="en-US" sz="130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 simulated phone</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phone-bridge (has internet)</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HybridCryptoService</a:t>
                      </a:r>
                      <a:endParaRPr lang="en-US" sz="130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locksmith (lock / unlock)</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 shared service object</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r h="457200">
                <a:tc>
                  <a:txBody>
                    <a:bodyP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Idempotency + SettlementService</a:t>
                      </a:r>
                      <a:endParaRPr lang="en-US" sz="130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doorkeeper and the cashier</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one shared object each</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5989320"/>
            <a:ext cx="11247120" cy="320040"/>
          </a:xfrm>
          <a:prstGeom prst="rect">
            <a:avLst/>
          </a:prstGeom>
          <a:noFill/>
          <a:ln/>
        </p:spPr>
        <p:txBody>
          <a:bodyPr wrap="square" lIns="0" tIns="0" rIns="0" bIns="0" rtlCol="0" anchor="t"/>
          <a:lstStyle/>
          <a:p>
            <a:pPr algn="l" indent="0" marL="0">
              <a:buNone/>
            </a:pPr>
            <a:r>
              <a:rPr lang="en-US" sz="1400" i="1" dirty="0">
                <a:solidFill>
                  <a:schemeClr val="accent5"/>
                </a:solidFill>
                <a:latin typeface="Calibri" pitchFamily="34" charset="0"/>
                <a:ea typeface="Calibri" pitchFamily="34" charset="-122"/>
                <a:cs typeface="Calibri" pitchFamily="34" charset="-120"/>
              </a:rPr>
              <a:t>Model classes hold data. Service classes do work. Each class has one clear job.</a:t>
            </a:r>
            <a:endParaRPr lang="en-US" sz="14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OOP (2/3): Encapsulation and abstraction</a:t>
            </a:r>
            <a:endParaRPr lang="en-US" sz="3400" dirty="0"/>
          </a:p>
        </p:txBody>
      </p:sp>
      <p:sp>
        <p:nvSpPr>
          <p:cNvPr id="4" name="encapsulation"/>
          <p:cNvSpPr/>
          <p:nvPr/>
        </p:nvSpPr>
        <p:spPr>
          <a:xfrm>
            <a:off x="457200" y="1280160"/>
            <a:ext cx="5541264" cy="4572000"/>
          </a:xfrm>
          <a:prstGeom prst="roundRect">
            <a:avLst>
              <a:gd name="adj" fmla="val 2400"/>
            </a:avLst>
          </a:prstGeom>
          <a:solidFill>
            <a:schemeClr val="bg2"/>
          </a:solidFill>
          <a:ln/>
        </p:spPr>
      </p:sp>
      <p:sp>
        <p:nvSpPr>
          <p:cNvPr id="5" name="encapsulation circle"/>
          <p:cNvSpPr/>
          <p:nvPr/>
        </p:nvSpPr>
        <p:spPr>
          <a:xfrm>
            <a:off x="640080" y="1417320"/>
            <a:ext cx="640080" cy="640080"/>
          </a:xfrm>
          <a:prstGeom prst="ellipse">
            <a:avLst/>
          </a:prstGeom>
          <a:solidFill>
            <a:schemeClr val="accent1"/>
          </a:solidFill>
          <a:ln/>
        </p:spPr>
      </p:sp>
      <p:pic>
        <p:nvPicPr>
          <p:cNvPr id="6" name="Image 0" descr="encapsulation">    </p:cNvPr>
          <p:cNvPicPr>
            <a:picLocks noChangeAspect="1"/>
          </p:cNvPicPr>
          <p:nvPr/>
        </p:nvPicPr>
        <p:blipFill>
          <a:blip r:embed="rId1"/>
          <a:stretch>
            <a:fillRect/>
          </a:stretch>
        </p:blipFill>
        <p:spPr>
          <a:xfrm>
            <a:off x="780898" y="1558138"/>
            <a:ext cx="358445" cy="358445"/>
          </a:xfrm>
          <a:prstGeom prst="rect">
            <a:avLst/>
          </a:prstGeom>
        </p:spPr>
      </p:pic>
      <p:sp>
        <p:nvSpPr>
          <p:cNvPr id="7" name="Text 3"/>
          <p:cNvSpPr txBox="1"/>
          <p:nvPr/>
        </p:nvSpPr>
        <p:spPr>
          <a:xfrm>
            <a:off x="1463040" y="1417320"/>
            <a:ext cx="4114800" cy="640080"/>
          </a:xfrm>
          <a:prstGeom prst="rect">
            <a:avLst/>
          </a:prstGeom>
          <a:noFill/>
          <a:ln/>
        </p:spPr>
        <p:txBody>
          <a:bodyPr wrap="square" lIns="0" tIns="0" rIns="0" bIns="0" rtlCol="0" anchor="ctr"/>
          <a:lstStyle/>
          <a:p>
            <a:pPr algn="l" indent="0" marL="0">
              <a:buNone/>
            </a:pPr>
            <a:r>
              <a:rPr lang="en-US" sz="2200" b="1" dirty="0">
                <a:solidFill>
                  <a:schemeClr val="tx2"/>
                </a:solidFill>
                <a:latin typeface="Calibri" pitchFamily="34" charset="0"/>
                <a:ea typeface="Calibri" pitchFamily="34" charset="-122"/>
                <a:cs typeface="Calibri" pitchFamily="34" charset="-120"/>
              </a:rPr>
              <a:t>Encapsulation</a:t>
            </a:r>
            <a:endParaRPr lang="en-US" sz="2200" dirty="0"/>
          </a:p>
        </p:txBody>
      </p:sp>
      <p:sp>
        <p:nvSpPr>
          <p:cNvPr id="8" name="Text 4"/>
          <p:cNvSpPr txBox="1"/>
          <p:nvPr/>
        </p:nvSpPr>
        <p:spPr>
          <a:xfrm>
            <a:off x="640080" y="2194560"/>
            <a:ext cx="5120640" cy="640080"/>
          </a:xfrm>
          <a:prstGeom prst="rect">
            <a:avLst/>
          </a:prstGeom>
          <a:noFill/>
          <a:ln/>
        </p:spPr>
        <p:txBody>
          <a:bodyPr wrap="square" lIns="0" tIns="0" rIns="0" bIns="0" rtlCol="0" anchor="t"/>
          <a:lstStyle/>
          <a:p>
            <a:pPr algn="l" indent="0" marL="0">
              <a:buNone/>
            </a:pPr>
            <a:r>
              <a:rPr lang="en-US" sz="1600" b="1" dirty="0">
                <a:solidFill>
                  <a:schemeClr val="tx1"/>
                </a:solidFill>
                <a:latin typeface="Calibri" pitchFamily="34" charset="0"/>
                <a:ea typeface="Calibri" pitchFamily="34" charset="-122"/>
                <a:cs typeface="Calibri" pitchFamily="34" charset="-120"/>
              </a:rPr>
              <a:t>Keep the data private. Allow only safe doors to reach it.</a:t>
            </a:r>
            <a:endParaRPr lang="en-US" sz="1600" dirty="0"/>
          </a:p>
        </p:txBody>
      </p:sp>
      <p:sp>
        <p:nvSpPr>
          <p:cNvPr id="9" name="Text 5"/>
          <p:cNvSpPr txBox="1"/>
          <p:nvPr/>
        </p:nvSpPr>
        <p:spPr>
          <a:xfrm>
            <a:off x="640080" y="2926080"/>
            <a:ext cx="5120640" cy="2103120"/>
          </a:xfrm>
          <a:prstGeom prst="rect">
            <a:avLst/>
          </a:prstGeom>
          <a:noFill/>
          <a:ln/>
        </p:spPr>
        <p:txBody>
          <a:bodyPr wrap="square" lIns="0" tIns="0" rIns="0" bIns="0" rtlCol="0" anchor="t"/>
          <a:lstStyle/>
          <a:p>
            <a:pPr algn="l"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VirtualDevice keeps its packets in a private field. Outside code can only call hold(), holds() or packetCount().</a:t>
            </a:r>
            <a:endParaRPr lang="en-US" sz="1500" dirty="0"/>
          </a:p>
          <a:p>
            <a:pPr algn="l"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ServerKeyHolder keeps the private key inside. Only the crypto service asks for it.</a:t>
            </a:r>
            <a:endParaRPr lang="en-US" sz="1500" dirty="0"/>
          </a:p>
          <a:p>
            <a:pPr algn="l"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Account and Transaction fields are private. Getters and setters are generated by Lombok.</a:t>
            </a:r>
            <a:endParaRPr lang="en-US" sz="1500" dirty="0"/>
          </a:p>
        </p:txBody>
      </p:sp>
      <p:sp>
        <p:nvSpPr>
          <p:cNvPr id="10" name="code block"/>
          <p:cNvSpPr/>
          <p:nvPr/>
        </p:nvSpPr>
        <p:spPr>
          <a:xfrm>
            <a:off x="640080" y="4892040"/>
            <a:ext cx="5120640" cy="777240"/>
          </a:xfrm>
          <a:prstGeom prst="roundRect">
            <a:avLst>
              <a:gd name="adj" fmla="val 11765"/>
            </a:avLst>
          </a:prstGeom>
          <a:solidFill>
            <a:schemeClr val="tx1"/>
          </a:solidFill>
          <a:ln/>
        </p:spPr>
      </p:sp>
      <p:sp>
        <p:nvSpPr>
          <p:cNvPr id="11" name="Text 7"/>
          <p:cNvSpPr txBox="1"/>
          <p:nvPr/>
        </p:nvSpPr>
        <p:spPr>
          <a:xfrm>
            <a:off x="822960" y="5029200"/>
            <a:ext cx="4754880" cy="502920"/>
          </a:xfrm>
          <a:prstGeom prst="rect">
            <a:avLst/>
          </a:prstGeom>
          <a:noFill/>
          <a:ln/>
        </p:spPr>
        <p:txBody>
          <a:bodyPr wrap="square" lIns="0" tIns="0" rIns="0" bIns="0" rtlCol="0" anchor="ctr"/>
          <a:lstStyle/>
          <a:p>
            <a:pPr algn="l" indent="0" marL="0">
              <a:buNone/>
            </a:pPr>
            <a:r>
              <a:rPr lang="en-US" sz="1250" dirty="0">
                <a:solidFill>
                  <a:schemeClr val="bg1"/>
                </a:solidFill>
                <a:latin typeface="Courier New" pitchFamily="34" charset="0"/>
                <a:ea typeface="Courier New" pitchFamily="34" charset="-122"/>
                <a:cs typeface="Courier New" pitchFamily="34" charset="-120"/>
              </a:rPr>
              <a:t>private final Map&lt;String, MeshPacket&gt;</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        heldPackets = new ConcurrentHashMap&lt;&gt;();</a:t>
            </a:r>
            <a:endParaRPr lang="en-US" sz="1250" dirty="0"/>
          </a:p>
        </p:txBody>
      </p:sp>
      <p:sp>
        <p:nvSpPr>
          <p:cNvPr id="12" name="abstraction"/>
          <p:cNvSpPr/>
          <p:nvPr/>
        </p:nvSpPr>
        <p:spPr>
          <a:xfrm>
            <a:off x="6190488" y="1280160"/>
            <a:ext cx="5541264" cy="4572000"/>
          </a:xfrm>
          <a:prstGeom prst="roundRect">
            <a:avLst>
              <a:gd name="adj" fmla="val 2400"/>
            </a:avLst>
          </a:prstGeom>
          <a:solidFill>
            <a:schemeClr val="bg2"/>
          </a:solidFill>
          <a:ln/>
        </p:spPr>
      </p:sp>
      <p:sp>
        <p:nvSpPr>
          <p:cNvPr id="13" name="abstraction circle"/>
          <p:cNvSpPr/>
          <p:nvPr/>
        </p:nvSpPr>
        <p:spPr>
          <a:xfrm>
            <a:off x="6373368" y="1417320"/>
            <a:ext cx="640080" cy="640080"/>
          </a:xfrm>
          <a:prstGeom prst="ellipse">
            <a:avLst/>
          </a:prstGeom>
          <a:solidFill>
            <a:schemeClr val="accent4"/>
          </a:solidFill>
          <a:ln/>
        </p:spPr>
      </p:sp>
      <p:pic>
        <p:nvPicPr>
          <p:cNvPr id="14" name="Image 1" descr="abstraction">    </p:cNvPr>
          <p:cNvPicPr>
            <a:picLocks noChangeAspect="1"/>
          </p:cNvPicPr>
          <p:nvPr/>
        </p:nvPicPr>
        <p:blipFill>
          <a:blip r:embed="rId2"/>
          <a:stretch>
            <a:fillRect/>
          </a:stretch>
        </p:blipFill>
        <p:spPr>
          <a:xfrm>
            <a:off x="6514186" y="1558138"/>
            <a:ext cx="358445" cy="358445"/>
          </a:xfrm>
          <a:prstGeom prst="rect">
            <a:avLst/>
          </a:prstGeom>
        </p:spPr>
      </p:pic>
      <p:sp>
        <p:nvSpPr>
          <p:cNvPr id="15" name="Text 10"/>
          <p:cNvSpPr txBox="1"/>
          <p:nvPr/>
        </p:nvSpPr>
        <p:spPr>
          <a:xfrm>
            <a:off x="7196328" y="1417320"/>
            <a:ext cx="4114800" cy="640080"/>
          </a:xfrm>
          <a:prstGeom prst="rect">
            <a:avLst/>
          </a:prstGeom>
          <a:noFill/>
          <a:ln/>
        </p:spPr>
        <p:txBody>
          <a:bodyPr wrap="square" lIns="0" tIns="0" rIns="0" bIns="0" rtlCol="0" anchor="ctr"/>
          <a:lstStyle/>
          <a:p>
            <a:pPr algn="l" indent="0" marL="0">
              <a:buNone/>
            </a:pPr>
            <a:r>
              <a:rPr lang="en-US" sz="2200" b="1" dirty="0">
                <a:solidFill>
                  <a:schemeClr val="tx2"/>
                </a:solidFill>
                <a:latin typeface="Calibri" pitchFamily="34" charset="0"/>
                <a:ea typeface="Calibri" pitchFamily="34" charset="-122"/>
                <a:cs typeface="Calibri" pitchFamily="34" charset="-120"/>
              </a:rPr>
              <a:t>Abstraction</a:t>
            </a:r>
            <a:endParaRPr lang="en-US" sz="2200" dirty="0"/>
          </a:p>
        </p:txBody>
      </p:sp>
      <p:sp>
        <p:nvSpPr>
          <p:cNvPr id="16" name="Text 11"/>
          <p:cNvSpPr txBox="1"/>
          <p:nvPr/>
        </p:nvSpPr>
        <p:spPr>
          <a:xfrm>
            <a:off x="6373368" y="2194560"/>
            <a:ext cx="5120640" cy="640080"/>
          </a:xfrm>
          <a:prstGeom prst="rect">
            <a:avLst/>
          </a:prstGeom>
          <a:noFill/>
          <a:ln/>
        </p:spPr>
        <p:txBody>
          <a:bodyPr wrap="square" lIns="0" tIns="0" rIns="0" bIns="0" rtlCol="0" anchor="t"/>
          <a:lstStyle/>
          <a:p>
            <a:pPr algn="l" indent="0" marL="0">
              <a:buNone/>
            </a:pPr>
            <a:r>
              <a:rPr lang="en-US" sz="1600" b="1" dirty="0">
                <a:solidFill>
                  <a:schemeClr val="tx1"/>
                </a:solidFill>
                <a:latin typeface="Calibri" pitchFamily="34" charset="0"/>
                <a:ea typeface="Calibri" pitchFamily="34" charset="-122"/>
                <a:cs typeface="Calibri" pitchFamily="34" charset="-120"/>
              </a:rPr>
              <a:t>Hide the hard part behind a simple call.</a:t>
            </a:r>
            <a:endParaRPr lang="en-US" sz="1600" dirty="0"/>
          </a:p>
        </p:txBody>
      </p:sp>
      <p:sp>
        <p:nvSpPr>
          <p:cNvPr id="17" name="abs row"/>
          <p:cNvSpPr/>
          <p:nvPr/>
        </p:nvSpPr>
        <p:spPr>
          <a:xfrm>
            <a:off x="6373368" y="2926080"/>
            <a:ext cx="5175504" cy="777240"/>
          </a:xfrm>
          <a:prstGeom prst="roundRect">
            <a:avLst>
              <a:gd name="adj" fmla="val 14118"/>
            </a:avLst>
          </a:prstGeom>
          <a:solidFill>
            <a:srgbClr val="FFFFFF"/>
          </a:solidFill>
          <a:ln/>
        </p:spPr>
      </p:sp>
      <p:sp>
        <p:nvSpPr>
          <p:cNvPr id="18" name="Text 13"/>
          <p:cNvSpPr txBox="1"/>
          <p:nvPr/>
        </p:nvSpPr>
        <p:spPr>
          <a:xfrm>
            <a:off x="6492240" y="2926080"/>
            <a:ext cx="2377440" cy="777240"/>
          </a:xfrm>
          <a:prstGeom prst="rect">
            <a:avLst/>
          </a:prstGeom>
          <a:noFill/>
          <a:ln/>
        </p:spPr>
        <p:txBody>
          <a:bodyPr wrap="square" lIns="0" tIns="0" rIns="0" bIns="0" rtlCol="0" anchor="t"/>
          <a:lstStyle/>
          <a:p>
            <a:pPr algn="l" indent="0" marL="0">
              <a:buNone/>
            </a:pPr>
            <a:r>
              <a:rPr lang="en-US" sz="1300" dirty="0">
                <a:solidFill>
                  <a:schemeClr val="accent4"/>
                </a:solidFill>
                <a:latin typeface="Courier New" pitchFamily="34" charset="0"/>
                <a:ea typeface="Courier New" pitchFamily="34" charset="-122"/>
                <a:cs typeface="Courier New" pitchFamily="34" charset="-120"/>
              </a:rPr>
              <a:t>crypto.decrypt(text)</a:t>
            </a:r>
            <a:endParaRPr lang="en-US" sz="1300" dirty="0"/>
          </a:p>
        </p:txBody>
      </p:sp>
      <p:sp>
        <p:nvSpPr>
          <p:cNvPr id="19" name="arrow"/>
          <p:cNvSpPr/>
          <p:nvPr/>
        </p:nvSpPr>
        <p:spPr>
          <a:xfrm>
            <a:off x="8823960" y="3310128"/>
            <a:ext cx="320040" cy="0"/>
          </a:xfrm>
          <a:prstGeom prst="line">
            <a:avLst/>
          </a:prstGeom>
          <a:noFill/>
          <a:ln w="25400">
            <a:solidFill>
              <a:schemeClr val="accent5"/>
            </a:solidFill>
            <a:prstDash val="solid"/>
            <a:tailEnd type="triangle"/>
          </a:ln>
        </p:spPr>
      </p:sp>
      <p:sp>
        <p:nvSpPr>
          <p:cNvPr id="20" name="Text 15"/>
          <p:cNvSpPr txBox="1"/>
          <p:nvPr/>
        </p:nvSpPr>
        <p:spPr>
          <a:xfrm>
            <a:off x="9235440" y="2926080"/>
            <a:ext cx="2240280" cy="77724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hides RSA, AES, and byte slicing</a:t>
            </a:r>
            <a:endParaRPr lang="en-US" sz="1400" dirty="0"/>
          </a:p>
        </p:txBody>
      </p:sp>
      <p:sp>
        <p:nvSpPr>
          <p:cNvPr id="21" name="abs row"/>
          <p:cNvSpPr/>
          <p:nvPr/>
        </p:nvSpPr>
        <p:spPr>
          <a:xfrm>
            <a:off x="6373368" y="3840480"/>
            <a:ext cx="5175504" cy="777240"/>
          </a:xfrm>
          <a:prstGeom prst="roundRect">
            <a:avLst>
              <a:gd name="adj" fmla="val 14118"/>
            </a:avLst>
          </a:prstGeom>
          <a:solidFill>
            <a:srgbClr val="FFFFFF"/>
          </a:solidFill>
          <a:ln/>
        </p:spPr>
      </p:sp>
      <p:sp>
        <p:nvSpPr>
          <p:cNvPr id="22" name="Text 17"/>
          <p:cNvSpPr txBox="1"/>
          <p:nvPr/>
        </p:nvSpPr>
        <p:spPr>
          <a:xfrm>
            <a:off x="6492240" y="3840480"/>
            <a:ext cx="2377440" cy="777240"/>
          </a:xfrm>
          <a:prstGeom prst="rect">
            <a:avLst/>
          </a:prstGeom>
          <a:noFill/>
          <a:ln/>
        </p:spPr>
        <p:txBody>
          <a:bodyPr wrap="square" lIns="0" tIns="0" rIns="0" bIns="0" rtlCol="0" anchor="t"/>
          <a:lstStyle/>
          <a:p>
            <a:pPr algn="l" indent="0" marL="0">
              <a:buNone/>
            </a:pPr>
            <a:r>
              <a:rPr lang="en-US" sz="1300" dirty="0">
                <a:solidFill>
                  <a:schemeClr val="accent4"/>
                </a:solidFill>
                <a:latin typeface="Courier New" pitchFamily="34" charset="0"/>
                <a:ea typeface="Courier New" pitchFamily="34" charset="-122"/>
                <a:cs typeface="Courier New" pitchFamily="34" charset="-120"/>
              </a:rPr>
              <a:t>accountRepo.findAll()</a:t>
            </a:r>
            <a:endParaRPr lang="en-US" sz="1300" dirty="0"/>
          </a:p>
        </p:txBody>
      </p:sp>
      <p:sp>
        <p:nvSpPr>
          <p:cNvPr id="23" name="arrow"/>
          <p:cNvSpPr/>
          <p:nvPr/>
        </p:nvSpPr>
        <p:spPr>
          <a:xfrm>
            <a:off x="8823960" y="4224528"/>
            <a:ext cx="320040" cy="0"/>
          </a:xfrm>
          <a:prstGeom prst="line">
            <a:avLst/>
          </a:prstGeom>
          <a:noFill/>
          <a:ln w="25400">
            <a:solidFill>
              <a:schemeClr val="accent5"/>
            </a:solidFill>
            <a:prstDash val="solid"/>
            <a:tailEnd type="triangle"/>
          </a:ln>
        </p:spPr>
      </p:sp>
      <p:sp>
        <p:nvSpPr>
          <p:cNvPr id="24" name="Text 19"/>
          <p:cNvSpPr txBox="1"/>
          <p:nvPr/>
        </p:nvSpPr>
        <p:spPr>
          <a:xfrm>
            <a:off x="9235440" y="3840480"/>
            <a:ext cx="2240280" cy="77724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hides the SQL</a:t>
            </a:r>
            <a:endParaRPr lang="en-US" sz="1400" dirty="0"/>
          </a:p>
        </p:txBody>
      </p:sp>
      <p:sp>
        <p:nvSpPr>
          <p:cNvPr id="25" name="abs row"/>
          <p:cNvSpPr/>
          <p:nvPr/>
        </p:nvSpPr>
        <p:spPr>
          <a:xfrm>
            <a:off x="6373368" y="4754880"/>
            <a:ext cx="5175504" cy="777240"/>
          </a:xfrm>
          <a:prstGeom prst="roundRect">
            <a:avLst>
              <a:gd name="adj" fmla="val 14118"/>
            </a:avLst>
          </a:prstGeom>
          <a:solidFill>
            <a:srgbClr val="FFFFFF"/>
          </a:solidFill>
          <a:ln/>
        </p:spPr>
      </p:sp>
      <p:sp>
        <p:nvSpPr>
          <p:cNvPr id="26" name="Text 21"/>
          <p:cNvSpPr txBox="1"/>
          <p:nvPr/>
        </p:nvSpPr>
        <p:spPr>
          <a:xfrm>
            <a:off x="6492240" y="4754880"/>
            <a:ext cx="2377440" cy="777240"/>
          </a:xfrm>
          <a:prstGeom prst="rect">
            <a:avLst/>
          </a:prstGeom>
          <a:noFill/>
          <a:ln/>
        </p:spPr>
        <p:txBody>
          <a:bodyPr wrap="square" lIns="0" tIns="0" rIns="0" bIns="0" rtlCol="0" anchor="t"/>
          <a:lstStyle/>
          <a:p>
            <a:pPr algn="l" indent="0" marL="0">
              <a:buNone/>
            </a:pPr>
            <a:r>
              <a:rPr lang="en-US" sz="1300" dirty="0">
                <a:solidFill>
                  <a:schemeClr val="accent4"/>
                </a:solidFill>
                <a:latin typeface="Courier New" pitchFamily="34" charset="0"/>
                <a:ea typeface="Courier New" pitchFamily="34" charset="-122"/>
                <a:cs typeface="Courier New" pitchFamily="34" charset="-120"/>
              </a:rPr>
              <a:t>bridge.ingest(packet…)</a:t>
            </a:r>
            <a:endParaRPr lang="en-US" sz="1300" dirty="0"/>
          </a:p>
        </p:txBody>
      </p:sp>
      <p:sp>
        <p:nvSpPr>
          <p:cNvPr id="27" name="arrow"/>
          <p:cNvSpPr/>
          <p:nvPr/>
        </p:nvSpPr>
        <p:spPr>
          <a:xfrm>
            <a:off x="8823960" y="5138928"/>
            <a:ext cx="320040" cy="0"/>
          </a:xfrm>
          <a:prstGeom prst="line">
            <a:avLst/>
          </a:prstGeom>
          <a:noFill/>
          <a:ln w="25400">
            <a:solidFill>
              <a:schemeClr val="accent5"/>
            </a:solidFill>
            <a:prstDash val="solid"/>
            <a:tailEnd type="triangle"/>
          </a:ln>
        </p:spPr>
      </p:sp>
      <p:sp>
        <p:nvSpPr>
          <p:cNvPr id="28" name="Text 23"/>
          <p:cNvSpPr txBox="1"/>
          <p:nvPr/>
        </p:nvSpPr>
        <p:spPr>
          <a:xfrm>
            <a:off x="9235440" y="4754880"/>
            <a:ext cx="2240280" cy="77724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hides the whole 5-step pipeline</a:t>
            </a:r>
            <a:endParaRPr lang="en-US" sz="1400" dirty="0"/>
          </a:p>
        </p:txBody>
      </p:sp>
      <p:sp>
        <p:nvSpPr>
          <p:cNvPr id="29" name="Text 24"/>
          <p:cNvSpPr txBox="1"/>
          <p:nvPr/>
        </p:nvSpPr>
        <p:spPr>
          <a:xfrm>
            <a:off x="6373368" y="5486400"/>
            <a:ext cx="5120640" cy="320040"/>
          </a:xfrm>
          <a:prstGeom prst="rect">
            <a:avLst/>
          </a:prstGeom>
          <a:noFill/>
          <a:ln/>
        </p:spPr>
        <p:txBody>
          <a:bodyPr wrap="square" lIns="0" tIns="0" rIns="0" bIns="0" rtlCol="0" anchor="t"/>
          <a:lstStyle/>
          <a:p>
            <a:pPr algn="l" indent="0" marL="0">
              <a:buNone/>
            </a:pPr>
            <a:r>
              <a:rPr lang="en-US" sz="1400" i="1" dirty="0">
                <a:solidFill>
                  <a:schemeClr val="accent5"/>
                </a:solidFill>
                <a:latin typeface="Calibri" pitchFamily="34" charset="0"/>
                <a:ea typeface="Calibri" pitchFamily="34" charset="-122"/>
                <a:cs typeface="Calibri" pitchFamily="34" charset="-120"/>
              </a:rPr>
              <a:t>The controller stays short because the services hide the details.</a:t>
            </a:r>
            <a:endParaRPr lang="en-US" sz="14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OOP (3/3): Inheritance and polymorphism</a:t>
            </a:r>
            <a:endParaRPr lang="en-US" sz="3400" dirty="0"/>
          </a:p>
        </p:txBody>
      </p:sp>
      <p:sp>
        <p:nvSpPr>
          <p:cNvPr id="4" name="inheritance"/>
          <p:cNvSpPr/>
          <p:nvPr/>
        </p:nvSpPr>
        <p:spPr>
          <a:xfrm>
            <a:off x="457200" y="1280160"/>
            <a:ext cx="5541264" cy="3977640"/>
          </a:xfrm>
          <a:prstGeom prst="roundRect">
            <a:avLst>
              <a:gd name="adj" fmla="val 2759"/>
            </a:avLst>
          </a:prstGeom>
          <a:solidFill>
            <a:schemeClr val="bg2"/>
          </a:solidFill>
          <a:ln/>
        </p:spPr>
      </p:sp>
      <p:sp>
        <p:nvSpPr>
          <p:cNvPr id="5" name="inheritance circle"/>
          <p:cNvSpPr/>
          <p:nvPr/>
        </p:nvSpPr>
        <p:spPr>
          <a:xfrm>
            <a:off x="640080" y="1417320"/>
            <a:ext cx="640080" cy="640080"/>
          </a:xfrm>
          <a:prstGeom prst="ellipse">
            <a:avLst/>
          </a:prstGeom>
          <a:solidFill>
            <a:schemeClr val="accent1"/>
          </a:solidFill>
          <a:ln/>
        </p:spPr>
      </p:sp>
      <p:pic>
        <p:nvPicPr>
          <p:cNvPr id="6" name="Image 0" descr="inheritance">    </p:cNvPr>
          <p:cNvPicPr>
            <a:picLocks noChangeAspect="1"/>
          </p:cNvPicPr>
          <p:nvPr/>
        </p:nvPicPr>
        <p:blipFill>
          <a:blip r:embed="rId1"/>
          <a:stretch>
            <a:fillRect/>
          </a:stretch>
        </p:blipFill>
        <p:spPr>
          <a:xfrm>
            <a:off x="780898" y="1558138"/>
            <a:ext cx="358445" cy="358445"/>
          </a:xfrm>
          <a:prstGeom prst="rect">
            <a:avLst/>
          </a:prstGeom>
        </p:spPr>
      </p:pic>
      <p:sp>
        <p:nvSpPr>
          <p:cNvPr id="7" name="Text 3"/>
          <p:cNvSpPr txBox="1"/>
          <p:nvPr/>
        </p:nvSpPr>
        <p:spPr>
          <a:xfrm>
            <a:off x="1463040" y="1417320"/>
            <a:ext cx="4114800" cy="640080"/>
          </a:xfrm>
          <a:prstGeom prst="rect">
            <a:avLst/>
          </a:prstGeom>
          <a:noFill/>
          <a:ln/>
        </p:spPr>
        <p:txBody>
          <a:bodyPr wrap="square" lIns="0" tIns="0" rIns="0" bIns="0" rtlCol="0" anchor="ctr"/>
          <a:lstStyle/>
          <a:p>
            <a:pPr algn="l" indent="0" marL="0">
              <a:buNone/>
            </a:pPr>
            <a:r>
              <a:rPr lang="en-US" sz="2200" b="1" dirty="0">
                <a:solidFill>
                  <a:schemeClr val="tx2"/>
                </a:solidFill>
                <a:latin typeface="Calibri" pitchFamily="34" charset="0"/>
                <a:ea typeface="Calibri" pitchFamily="34" charset="-122"/>
                <a:cs typeface="Calibri" pitchFamily="34" charset="-120"/>
              </a:rPr>
              <a:t>Inheritance</a:t>
            </a:r>
            <a:endParaRPr lang="en-US" sz="2200" dirty="0"/>
          </a:p>
        </p:txBody>
      </p:sp>
      <p:sp>
        <p:nvSpPr>
          <p:cNvPr id="8" name="Text 4"/>
          <p:cNvSpPr txBox="1"/>
          <p:nvPr/>
        </p:nvSpPr>
        <p:spPr>
          <a:xfrm>
            <a:off x="640080" y="2194560"/>
            <a:ext cx="5120640" cy="365760"/>
          </a:xfrm>
          <a:prstGeom prst="rect">
            <a:avLst/>
          </a:prstGeom>
          <a:noFill/>
          <a:ln/>
        </p:spPr>
        <p:txBody>
          <a:bodyPr wrap="square" lIns="0" tIns="0" rIns="0" bIns="0" rtlCol="0" anchor="t"/>
          <a:lstStyle/>
          <a:p>
            <a:pPr algn="l" indent="0" marL="0">
              <a:buNone/>
            </a:pPr>
            <a:r>
              <a:rPr lang="en-US" sz="1600" b="1" dirty="0">
                <a:solidFill>
                  <a:schemeClr val="tx1"/>
                </a:solidFill>
                <a:latin typeface="Calibri" pitchFamily="34" charset="0"/>
                <a:ea typeface="Calibri" pitchFamily="34" charset="-122"/>
                <a:cs typeface="Calibri" pitchFamily="34" charset="-120"/>
              </a:rPr>
              <a:t>A child gets the parent's abilities for free.</a:t>
            </a:r>
            <a:endParaRPr lang="en-US" sz="1600" dirty="0"/>
          </a:p>
        </p:txBody>
      </p:sp>
      <p:sp>
        <p:nvSpPr>
          <p:cNvPr id="9" name="code block"/>
          <p:cNvSpPr/>
          <p:nvPr/>
        </p:nvSpPr>
        <p:spPr>
          <a:xfrm>
            <a:off x="640080" y="2697480"/>
            <a:ext cx="5120640" cy="1371600"/>
          </a:xfrm>
          <a:prstGeom prst="roundRect">
            <a:avLst>
              <a:gd name="adj" fmla="val 6667"/>
            </a:avLst>
          </a:prstGeom>
          <a:solidFill>
            <a:schemeClr val="tx1"/>
          </a:solidFill>
          <a:ln/>
        </p:spPr>
      </p:sp>
      <p:sp>
        <p:nvSpPr>
          <p:cNvPr id="10" name="Text 6"/>
          <p:cNvSpPr txBox="1"/>
          <p:nvPr/>
        </p:nvSpPr>
        <p:spPr>
          <a:xfrm>
            <a:off x="822960" y="2834640"/>
            <a:ext cx="4754880" cy="1097280"/>
          </a:xfrm>
          <a:prstGeom prst="rect">
            <a:avLst/>
          </a:prstGeom>
          <a:noFill/>
          <a:ln/>
        </p:spPr>
        <p:txBody>
          <a:bodyPr wrap="square" lIns="0" tIns="0" rIns="0" bIns="0" rtlCol="0" anchor="ctr"/>
          <a:lstStyle/>
          <a:p>
            <a:pPr algn="l" indent="0" marL="0">
              <a:buNone/>
            </a:pPr>
            <a:r>
              <a:rPr lang="en-US" sz="1250" dirty="0">
                <a:solidFill>
                  <a:schemeClr val="bg1"/>
                </a:solidFill>
                <a:latin typeface="Courier New" pitchFamily="34" charset="0"/>
                <a:ea typeface="Courier New" pitchFamily="34" charset="-122"/>
                <a:cs typeface="Courier New" pitchFamily="34" charset="-120"/>
              </a:rPr>
              <a:t>class HealthServlet extends HttpServlet</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class LedgerExportServlet extends HttpServlet</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interface AccountRepository</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   extends JpaRepository&lt;Account, String&gt;</a:t>
            </a:r>
            <a:endParaRPr lang="en-US" sz="1250" dirty="0"/>
          </a:p>
        </p:txBody>
      </p:sp>
      <p:sp>
        <p:nvSpPr>
          <p:cNvPr id="11" name="Text 7"/>
          <p:cNvSpPr txBox="1"/>
          <p:nvPr/>
        </p:nvSpPr>
        <p:spPr>
          <a:xfrm>
            <a:off x="640080" y="4206240"/>
            <a:ext cx="5120640" cy="640080"/>
          </a:xfrm>
          <a:prstGeom prst="rect">
            <a:avLst/>
          </a:prstGeom>
          <a:noFill/>
          <a:ln/>
        </p:spPr>
        <p:txBody>
          <a:bodyPr wrap="square" lIns="0" tIns="0" rIns="0" bIns="0"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Servlets: we override doGet() and doPost(). Repositories: save() and findById() come free.</a:t>
            </a:r>
            <a:endParaRPr lang="en-US" sz="1500" dirty="0"/>
          </a:p>
        </p:txBody>
      </p:sp>
      <p:sp>
        <p:nvSpPr>
          <p:cNvPr id="12" name="Text 8"/>
          <p:cNvSpPr txBox="1"/>
          <p:nvPr/>
        </p:nvSpPr>
        <p:spPr>
          <a:xfrm>
            <a:off x="640080" y="4800600"/>
            <a:ext cx="5120640" cy="365760"/>
          </a:xfrm>
          <a:prstGeom prst="rect">
            <a:avLst/>
          </a:prstGeom>
          <a:noFill/>
          <a:ln/>
        </p:spPr>
        <p:txBody>
          <a:bodyPr wrap="square" lIns="0" tIns="0" rIns="0" bIns="0" rtlCol="0" anchor="t"/>
          <a:lstStyle/>
          <a:p>
            <a:pPr algn="l" indent="0" marL="0">
              <a:buNone/>
            </a:pPr>
            <a:r>
              <a:rPr lang="en-US" sz="1500" dirty="0">
                <a:solidFill>
                  <a:schemeClr val="accent5"/>
                </a:solidFill>
                <a:latin typeface="Calibri" pitchFamily="34" charset="0"/>
                <a:ea typeface="Calibri" pitchFamily="34" charset="-122"/>
                <a:cs typeface="Calibri" pitchFamily="34" charset="-120"/>
              </a:rPr>
              <a:t>Also: WebConfig implements WebMvcConfigurer.</a:t>
            </a:r>
            <a:endParaRPr lang="en-US" sz="1500" dirty="0"/>
          </a:p>
        </p:txBody>
      </p:sp>
      <p:sp>
        <p:nvSpPr>
          <p:cNvPr id="13" name="polymorphism"/>
          <p:cNvSpPr/>
          <p:nvPr/>
        </p:nvSpPr>
        <p:spPr>
          <a:xfrm>
            <a:off x="6190488" y="1280160"/>
            <a:ext cx="5541264" cy="3977640"/>
          </a:xfrm>
          <a:prstGeom prst="roundRect">
            <a:avLst>
              <a:gd name="adj" fmla="val 2759"/>
            </a:avLst>
          </a:prstGeom>
          <a:solidFill>
            <a:schemeClr val="bg2"/>
          </a:solidFill>
          <a:ln/>
        </p:spPr>
      </p:sp>
      <p:sp>
        <p:nvSpPr>
          <p:cNvPr id="14" name="polymorphism circle"/>
          <p:cNvSpPr/>
          <p:nvPr/>
        </p:nvSpPr>
        <p:spPr>
          <a:xfrm>
            <a:off x="6373368" y="1417320"/>
            <a:ext cx="640080" cy="640080"/>
          </a:xfrm>
          <a:prstGeom prst="ellipse">
            <a:avLst/>
          </a:prstGeom>
          <a:solidFill>
            <a:schemeClr val="accent4"/>
          </a:solidFill>
          <a:ln/>
        </p:spPr>
      </p:sp>
      <p:pic>
        <p:nvPicPr>
          <p:cNvPr id="15" name="Image 1" descr="polymorphism">    </p:cNvPr>
          <p:cNvPicPr>
            <a:picLocks noChangeAspect="1"/>
          </p:cNvPicPr>
          <p:nvPr/>
        </p:nvPicPr>
        <p:blipFill>
          <a:blip r:embed="rId2"/>
          <a:stretch>
            <a:fillRect/>
          </a:stretch>
        </p:blipFill>
        <p:spPr>
          <a:xfrm>
            <a:off x="6514186" y="1558138"/>
            <a:ext cx="358445" cy="358445"/>
          </a:xfrm>
          <a:prstGeom prst="rect">
            <a:avLst/>
          </a:prstGeom>
        </p:spPr>
      </p:pic>
      <p:sp>
        <p:nvSpPr>
          <p:cNvPr id="16" name="Text 11"/>
          <p:cNvSpPr txBox="1"/>
          <p:nvPr/>
        </p:nvSpPr>
        <p:spPr>
          <a:xfrm>
            <a:off x="7196328" y="1417320"/>
            <a:ext cx="4114800" cy="640080"/>
          </a:xfrm>
          <a:prstGeom prst="rect">
            <a:avLst/>
          </a:prstGeom>
          <a:noFill/>
          <a:ln/>
        </p:spPr>
        <p:txBody>
          <a:bodyPr wrap="square" lIns="0" tIns="0" rIns="0" bIns="0" rtlCol="0" anchor="ctr"/>
          <a:lstStyle/>
          <a:p>
            <a:pPr algn="l" indent="0" marL="0">
              <a:buNone/>
            </a:pPr>
            <a:r>
              <a:rPr lang="en-US" sz="2200" b="1" dirty="0">
                <a:solidFill>
                  <a:schemeClr val="tx2"/>
                </a:solidFill>
                <a:latin typeface="Calibri" pitchFamily="34" charset="0"/>
                <a:ea typeface="Calibri" pitchFamily="34" charset="-122"/>
                <a:cs typeface="Calibri" pitchFamily="34" charset="-120"/>
              </a:rPr>
              <a:t>Polymorphism</a:t>
            </a:r>
            <a:endParaRPr lang="en-US" sz="2200" dirty="0"/>
          </a:p>
        </p:txBody>
      </p:sp>
      <p:sp>
        <p:nvSpPr>
          <p:cNvPr id="17" name="Text 12"/>
          <p:cNvSpPr txBox="1"/>
          <p:nvPr/>
        </p:nvSpPr>
        <p:spPr>
          <a:xfrm>
            <a:off x="6373368" y="2194560"/>
            <a:ext cx="5120640" cy="365760"/>
          </a:xfrm>
          <a:prstGeom prst="rect">
            <a:avLst/>
          </a:prstGeom>
          <a:noFill/>
          <a:ln/>
        </p:spPr>
        <p:txBody>
          <a:bodyPr wrap="square" lIns="0" tIns="0" rIns="0" bIns="0" rtlCol="0" anchor="t"/>
          <a:lstStyle/>
          <a:p>
            <a:pPr algn="l" indent="0" marL="0">
              <a:buNone/>
            </a:pPr>
            <a:r>
              <a:rPr lang="en-US" sz="1600" b="1" dirty="0">
                <a:solidFill>
                  <a:schemeClr val="tx1"/>
                </a:solidFill>
                <a:latin typeface="Calibri" pitchFamily="34" charset="0"/>
                <a:ea typeface="Calibri" pitchFamily="34" charset="-122"/>
                <a:cs typeface="Calibri" pitchFamily="34" charset="-120"/>
              </a:rPr>
              <a:t>One name, different real objects behind it.</a:t>
            </a:r>
            <a:endParaRPr lang="en-US" sz="1600" dirty="0"/>
          </a:p>
        </p:txBody>
      </p:sp>
      <p:sp>
        <p:nvSpPr>
          <p:cNvPr id="18" name="Text 13"/>
          <p:cNvSpPr txBox="1"/>
          <p:nvPr/>
        </p:nvSpPr>
        <p:spPr>
          <a:xfrm>
            <a:off x="6373368" y="2697480"/>
            <a:ext cx="5120640" cy="2468880"/>
          </a:xfrm>
          <a:prstGeom prst="rect">
            <a:avLst/>
          </a:prstGeom>
          <a:noFill/>
          <a:ln/>
        </p:spPr>
        <p:txBody>
          <a:bodyPr wrap="square" lIns="0" tIns="0" rIns="0" bIns="0" rtlCol="0" anchor="t"/>
          <a:lstStyle/>
          <a:p>
            <a:pPr algn="l"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 Map variable holds a ConcurrentHashMap object (VirtualDevice, IdempotencyService).</a:t>
            </a:r>
            <a:endParaRPr lang="en-US" sz="1500" dirty="0"/>
          </a:p>
          <a:p>
            <a:pPr algn="l"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Tomcat calls doGet() on an HttpServlet variable. Our servlet's version runs.</a:t>
            </a:r>
            <a:endParaRPr lang="en-US" sz="1500" dirty="0"/>
          </a:p>
          <a:p>
            <a:pPr algn="l" marL="342900" indent="-3429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We write only the repository interface. Spring builds the real object at run time.</a:t>
            </a:r>
            <a:endParaRPr lang="en-US" sz="1500" dirty="0"/>
          </a:p>
        </p:txBody>
      </p:sp>
      <p:sp>
        <p:nvSpPr>
          <p:cNvPr id="19" name="honest note"/>
          <p:cNvSpPr/>
          <p:nvPr/>
        </p:nvSpPr>
        <p:spPr>
          <a:xfrm>
            <a:off x="457200" y="5440680"/>
            <a:ext cx="11274552" cy="731520"/>
          </a:xfrm>
          <a:prstGeom prst="roundRect">
            <a:avLst>
              <a:gd name="adj" fmla="val 15000"/>
            </a:avLst>
          </a:prstGeom>
          <a:solidFill>
            <a:srgbClr val="FDF1DC"/>
          </a:solidFill>
          <a:ln/>
        </p:spPr>
      </p:sp>
      <p:sp>
        <p:nvSpPr>
          <p:cNvPr id="20" name="Text 15"/>
          <p:cNvSpPr txBox="1"/>
          <p:nvPr/>
        </p:nvSpPr>
        <p:spPr>
          <a:xfrm>
            <a:off x="640080" y="5440680"/>
            <a:ext cx="10881360" cy="731520"/>
          </a:xfrm>
          <a:prstGeom prst="rect">
            <a:avLst/>
          </a:prstGeom>
          <a:noFill/>
          <a:ln/>
        </p:spPr>
        <p:txBody>
          <a:bodyPr wrap="square" lIns="0" tIns="0" rIns="0" bIns="0" rtlCol="0" anchor="ctr"/>
          <a:lstStyle/>
          <a:p>
            <a:pPr algn="l" indent="0" marL="0">
              <a:buNone/>
            </a:pPr>
            <a:r>
              <a:rPr lang="en-US" sz="1500" b="1" dirty="0">
                <a:solidFill>
                  <a:schemeClr val="tx2"/>
                </a:solidFill>
                <a:latin typeface="Calibri" pitchFamily="34" charset="0"/>
                <a:ea typeface="Calibri" pitchFamily="34" charset="-122"/>
                <a:cs typeface="Calibri" pitchFamily="34" charset="-120"/>
              </a:rPr>
              <a:t>Viva-ready: our own inheritance is the 3 servlets extending HttpServlet. Domain classes stay flat and combine objects. Repositories inherit from JpaRepository.</a:t>
            </a:r>
            <a:endParaRPr lang="en-US" sz="15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File handling: writing files safely</a:t>
            </a:r>
            <a:endParaRPr lang="en-US" sz="3400" dirty="0"/>
          </a:p>
        </p:txBody>
      </p:sp>
      <p:sp>
        <p:nvSpPr>
          <p:cNvPr id="4" name="csv export"/>
          <p:cNvSpPr/>
          <p:nvPr/>
        </p:nvSpPr>
        <p:spPr>
          <a:xfrm>
            <a:off x="457200" y="1280160"/>
            <a:ext cx="5541264" cy="2011680"/>
          </a:xfrm>
          <a:prstGeom prst="roundRect">
            <a:avLst>
              <a:gd name="adj" fmla="val 5455"/>
            </a:avLst>
          </a:prstGeom>
          <a:solidFill>
            <a:schemeClr val="bg2"/>
          </a:solidFill>
          <a:ln/>
        </p:spPr>
      </p:sp>
      <p:sp>
        <p:nvSpPr>
          <p:cNvPr id="5" name="Text 2"/>
          <p:cNvSpPr txBox="1"/>
          <p:nvPr/>
        </p:nvSpPr>
        <p:spPr>
          <a:xfrm>
            <a:off x="640080" y="1353312"/>
            <a:ext cx="5212080" cy="365760"/>
          </a:xfrm>
          <a:prstGeom prst="rect">
            <a:avLst/>
          </a:prstGeom>
          <a:noFill/>
          <a:ln/>
        </p:spPr>
        <p:txBody>
          <a:bodyPr wrap="square" lIns="0" tIns="0" rIns="0" bIns="0" rtlCol="0" anchor="t"/>
          <a:lstStyle/>
          <a:p>
            <a:pPr algn="l" indent="0" marL="0">
              <a:buNone/>
            </a:pPr>
            <a:r>
              <a:rPr lang="en-US" sz="1800" b="1" dirty="0">
                <a:solidFill>
                  <a:schemeClr val="accent4"/>
                </a:solidFill>
                <a:latin typeface="Calibri" pitchFamily="34" charset="0"/>
                <a:ea typeface="Calibri" pitchFamily="34" charset="-122"/>
                <a:cs typeface="Calibri" pitchFamily="34" charset="-120"/>
              </a:rPr>
              <a:t>CSV export  (LedgerFileService)</a:t>
            </a:r>
            <a:endParaRPr lang="en-US" sz="1800" dirty="0"/>
          </a:p>
        </p:txBody>
      </p:sp>
      <p:sp>
        <p:nvSpPr>
          <p:cNvPr id="6" name="Text 3"/>
          <p:cNvSpPr txBox="1"/>
          <p:nvPr/>
        </p:nvSpPr>
        <p:spPr>
          <a:xfrm>
            <a:off x="640080" y="1764792"/>
            <a:ext cx="5212080" cy="1463040"/>
          </a:xfrm>
          <a:prstGeom prst="rect">
            <a:avLst/>
          </a:prstGeom>
          <a:noFill/>
          <a:ln/>
        </p:spPr>
        <p:txBody>
          <a:bodyPr wrap="square" lIns="0" tIns="0" rIns="0" bIns="0" rtlCol="0" anchor="t"/>
          <a:lstStyle/>
          <a:p>
            <a:pPr algn="l" marL="342900" indent="-342900">
              <a:spcAft>
                <a:spcPts val="300"/>
              </a:spcAft>
              <a:buSzPct val="100000"/>
              <a:buChar char="•"/>
            </a:pPr>
            <a:r>
              <a:rPr lang="en-US" sz="1450" dirty="0">
                <a:solidFill>
                  <a:schemeClr val="tx1"/>
                </a:solidFill>
                <a:latin typeface="Calibri" pitchFamily="34" charset="0"/>
                <a:ea typeface="Calibri" pitchFamily="34" charset="-122"/>
                <a:cs typeface="Calibri" pitchFamily="34" charset="-120"/>
              </a:rPr>
              <a:t>Saves data/exports/transactions-&lt;time&gt;.csv</a:t>
            </a:r>
            <a:endParaRPr lang="en-US" sz="1450" dirty="0"/>
          </a:p>
          <a:p>
            <a:pPr algn="l" marL="342900" indent="-342900">
              <a:spcAft>
                <a:spcPts val="300"/>
              </a:spcAft>
              <a:buSzPct val="100000"/>
              <a:buChar char="•"/>
            </a:pPr>
            <a:r>
              <a:rPr lang="en-US" sz="1450" dirty="0">
                <a:solidFill>
                  <a:schemeClr val="tx1"/>
                </a:solidFill>
                <a:latin typeface="Calibri" pitchFamily="34" charset="0"/>
                <a:ea typeface="Calibri" pitchFamily="34" charset="-122"/>
                <a:cs typeface="Calibri" pitchFamily="34" charset="-120"/>
              </a:rPr>
              <a:t>Temp file first, then rename: never half-written</a:t>
            </a:r>
            <a:endParaRPr lang="en-US" sz="1450" dirty="0"/>
          </a:p>
          <a:p>
            <a:pPr algn="l" marL="342900" indent="-342900">
              <a:spcAft>
                <a:spcPts val="300"/>
              </a:spcAft>
              <a:buSzPct val="100000"/>
              <a:buChar char="•"/>
            </a:pPr>
            <a:r>
              <a:rPr lang="en-US" sz="1450" dirty="0">
                <a:solidFill>
                  <a:schemeClr val="tx1"/>
                </a:solidFill>
                <a:latin typeface="Calibri" pitchFamily="34" charset="0"/>
                <a:ea typeface="Calibri" pitchFamily="34" charset="-122"/>
                <a:cs typeface="Calibri" pitchFamily="34" charset="-120"/>
              </a:rPr>
              <a:t>Quotes commas; blocks =, +, -, @ formula tricks</a:t>
            </a:r>
            <a:endParaRPr lang="en-US" sz="1450" dirty="0"/>
          </a:p>
          <a:p>
            <a:pPr algn="l" marL="342900" indent="-342900">
              <a:spcAft>
                <a:spcPts val="300"/>
              </a:spcAft>
              <a:buSzPct val="100000"/>
              <a:buChar char="•"/>
            </a:pPr>
            <a:r>
              <a:rPr lang="en-US" sz="1450" dirty="0">
                <a:solidFill>
                  <a:schemeClr val="tx1"/>
                </a:solidFill>
                <a:latin typeface="Calibri" pitchFamily="34" charset="0"/>
                <a:ea typeface="Calibri" pitchFamily="34" charset="-122"/>
                <a:cs typeface="Calibri" pitchFamily="34" charset="-120"/>
              </a:rPr>
              <a:t>Refuses unsafe names such as ../pom.xml</a:t>
            </a:r>
            <a:endParaRPr lang="en-US" sz="1450" dirty="0"/>
          </a:p>
        </p:txBody>
      </p:sp>
      <p:sp>
        <p:nvSpPr>
          <p:cNvPr id="7" name="audit log"/>
          <p:cNvSpPr/>
          <p:nvPr/>
        </p:nvSpPr>
        <p:spPr>
          <a:xfrm>
            <a:off x="6190488" y="1280160"/>
            <a:ext cx="5541264" cy="2011680"/>
          </a:xfrm>
          <a:prstGeom prst="roundRect">
            <a:avLst>
              <a:gd name="adj" fmla="val 5455"/>
            </a:avLst>
          </a:prstGeom>
          <a:solidFill>
            <a:schemeClr val="bg2"/>
          </a:solidFill>
          <a:ln/>
        </p:spPr>
      </p:sp>
      <p:sp>
        <p:nvSpPr>
          <p:cNvPr id="8" name="Text 5"/>
          <p:cNvSpPr txBox="1"/>
          <p:nvPr/>
        </p:nvSpPr>
        <p:spPr>
          <a:xfrm>
            <a:off x="6373368" y="1353312"/>
            <a:ext cx="5212080" cy="365760"/>
          </a:xfrm>
          <a:prstGeom prst="rect">
            <a:avLst/>
          </a:prstGeom>
          <a:noFill/>
          <a:ln/>
        </p:spPr>
        <p:txBody>
          <a:bodyPr wrap="square" lIns="0" tIns="0" rIns="0" bIns="0" rtlCol="0" anchor="t"/>
          <a:lstStyle/>
          <a:p>
            <a:pPr algn="l" indent="0" marL="0">
              <a:buNone/>
            </a:pPr>
            <a:r>
              <a:rPr lang="en-US" sz="1800" b="1" dirty="0">
                <a:solidFill>
                  <a:schemeClr val="accent4"/>
                </a:solidFill>
                <a:latin typeface="Calibri" pitchFamily="34" charset="0"/>
                <a:ea typeface="Calibri" pitchFamily="34" charset="-122"/>
                <a:cs typeface="Calibri" pitchFamily="34" charset="-120"/>
              </a:rPr>
              <a:t>Audit log  (AuditLogService)</a:t>
            </a:r>
            <a:endParaRPr lang="en-US" sz="1800" dirty="0"/>
          </a:p>
        </p:txBody>
      </p:sp>
      <p:sp>
        <p:nvSpPr>
          <p:cNvPr id="9" name="Text 6"/>
          <p:cNvSpPr txBox="1"/>
          <p:nvPr/>
        </p:nvSpPr>
        <p:spPr>
          <a:xfrm>
            <a:off x="6373368" y="1764792"/>
            <a:ext cx="5212080" cy="1463040"/>
          </a:xfrm>
          <a:prstGeom prst="rect">
            <a:avLst/>
          </a:prstGeom>
          <a:noFill/>
          <a:ln/>
        </p:spPr>
        <p:txBody>
          <a:bodyPr wrap="square" lIns="0" tIns="0" rIns="0" bIns="0" rtlCol="0" anchor="t"/>
          <a:lstStyle/>
          <a:p>
            <a:pPr algn="l" marL="342900" indent="-342900">
              <a:spcAft>
                <a:spcPts val="300"/>
              </a:spcAft>
              <a:buSzPct val="100000"/>
              <a:buChar char="•"/>
            </a:pPr>
            <a:r>
              <a:rPr lang="en-US" sz="1450" dirty="0">
                <a:solidFill>
                  <a:schemeClr val="tx1"/>
                </a:solidFill>
                <a:latin typeface="Calibri" pitchFamily="34" charset="0"/>
                <a:ea typeface="Calibri" pitchFamily="34" charset="-122"/>
                <a:cs typeface="Calibri" pitchFamily="34" charset="-120"/>
              </a:rPr>
              <a:t>One line per packet in ingest-audit.log</a:t>
            </a:r>
            <a:endParaRPr lang="en-US" sz="1450" dirty="0"/>
          </a:p>
          <a:p>
            <a:pPr algn="l" marL="342900" indent="-342900">
              <a:spcAft>
                <a:spcPts val="300"/>
              </a:spcAft>
              <a:buSzPct val="100000"/>
              <a:buChar char="•"/>
            </a:pPr>
            <a:r>
              <a:rPr lang="en-US" sz="1450" dirty="0">
                <a:solidFill>
                  <a:schemeClr val="tx1"/>
                </a:solidFill>
                <a:latin typeface="Calibri" pitchFamily="34" charset="0"/>
                <a:ea typeface="Calibri" pitchFamily="34" charset="-122"/>
                <a:cs typeface="Calibri" pitchFamily="34" charset="-120"/>
              </a:rPr>
              <a:t>A lock keeps lines from many threads apart</a:t>
            </a:r>
            <a:endParaRPr lang="en-US" sz="1450" dirty="0"/>
          </a:p>
          <a:p>
            <a:pPr algn="l" marL="342900" indent="-342900">
              <a:spcAft>
                <a:spcPts val="300"/>
              </a:spcAft>
              <a:buSzPct val="100000"/>
              <a:buChar char="•"/>
            </a:pPr>
            <a:r>
              <a:rPr lang="en-US" sz="1450" dirty="0">
                <a:solidFill>
                  <a:schemeClr val="tx1"/>
                </a:solidFill>
                <a:latin typeface="Calibri" pitchFamily="34" charset="0"/>
                <a:ea typeface="Calibri" pitchFamily="34" charset="-122"/>
                <a:cs typeface="Calibri" pitchFamily="34" charset="-120"/>
              </a:rPr>
              <a:t>A new file is started once it passes 5 MB</a:t>
            </a:r>
            <a:endParaRPr lang="en-US" sz="1450" dirty="0"/>
          </a:p>
          <a:p>
            <a:pPr algn="l" marL="342900" indent="-342900">
              <a:spcAft>
                <a:spcPts val="300"/>
              </a:spcAft>
              <a:buSzPct val="100000"/>
              <a:buChar char="•"/>
            </a:pPr>
            <a:r>
              <a:rPr lang="en-US" sz="1450" dirty="0">
                <a:solidFill>
                  <a:schemeClr val="tx1"/>
                </a:solidFill>
                <a:latin typeface="Calibri" pitchFamily="34" charset="0"/>
                <a:ea typeface="Calibri" pitchFamily="34" charset="-122"/>
                <a:cs typeface="Calibri" pitchFamily="34" charset="-120"/>
              </a:rPr>
              <a:t>If writing fails, the payment still settles</a:t>
            </a:r>
            <a:endParaRPr lang="en-US" sz="1450" dirty="0"/>
          </a:p>
        </p:txBody>
      </p:sp>
      <p:sp>
        <p:nvSpPr>
          <p:cNvPr id="10" name="Text 7"/>
          <p:cNvSpPr txBox="1"/>
          <p:nvPr/>
        </p:nvSpPr>
        <p:spPr>
          <a:xfrm>
            <a:off x="457200" y="3429000"/>
            <a:ext cx="5486400" cy="365760"/>
          </a:xfrm>
          <a:prstGeom prst="rect">
            <a:avLst/>
          </a:prstGeom>
          <a:noFill/>
          <a:ln/>
        </p:spPr>
        <p:txBody>
          <a:bodyPr wrap="square" lIns="0" tIns="0" rIns="0" bIns="0" rtlCol="0" anchor="t"/>
          <a:lstStyle/>
          <a:p>
            <a:pPr algn="l" indent="0" marL="0">
              <a:buNone/>
            </a:pPr>
            <a:r>
              <a:rPr lang="en-US" sz="1800" b="1" dirty="0">
                <a:solidFill>
                  <a:schemeClr val="tx2"/>
                </a:solidFill>
                <a:latin typeface="Calibri" pitchFamily="34" charset="0"/>
                <a:ea typeface="Calibri" pitchFamily="34" charset="-122"/>
                <a:cs typeface="Calibri" pitchFamily="34" charset="-120"/>
              </a:rPr>
              <a:t>How a safe write looks in code</a:t>
            </a:r>
            <a:endParaRPr lang="en-US" sz="1800" dirty="0"/>
          </a:p>
        </p:txBody>
      </p:sp>
      <p:sp>
        <p:nvSpPr>
          <p:cNvPr id="11" name="code block"/>
          <p:cNvSpPr/>
          <p:nvPr/>
        </p:nvSpPr>
        <p:spPr>
          <a:xfrm>
            <a:off x="457200" y="3840480"/>
            <a:ext cx="5541264" cy="1600200"/>
          </a:xfrm>
          <a:prstGeom prst="roundRect">
            <a:avLst>
              <a:gd name="adj" fmla="val 5714"/>
            </a:avLst>
          </a:prstGeom>
          <a:solidFill>
            <a:schemeClr val="tx1"/>
          </a:solidFill>
          <a:ln/>
        </p:spPr>
      </p:sp>
      <p:sp>
        <p:nvSpPr>
          <p:cNvPr id="12" name="Text 9"/>
          <p:cNvSpPr txBox="1"/>
          <p:nvPr/>
        </p:nvSpPr>
        <p:spPr>
          <a:xfrm>
            <a:off x="640080" y="3977640"/>
            <a:ext cx="5175504" cy="1325880"/>
          </a:xfrm>
          <a:prstGeom prst="rect">
            <a:avLst/>
          </a:prstGeom>
          <a:noFill/>
          <a:ln/>
        </p:spPr>
        <p:txBody>
          <a:bodyPr wrap="square" lIns="0" tIns="0" rIns="0" bIns="0" rtlCol="0" anchor="ctr"/>
          <a:lstStyle/>
          <a:p>
            <a:pPr algn="l" indent="0" marL="0">
              <a:buNone/>
            </a:pPr>
            <a:r>
              <a:rPr lang="en-US" sz="1250" dirty="0">
                <a:solidFill>
                  <a:schemeClr val="bg1"/>
                </a:solidFill>
                <a:latin typeface="Courier New" pitchFamily="34" charset="0"/>
                <a:ea typeface="Courier New" pitchFamily="34" charset="-122"/>
                <a:cs typeface="Courier New" pitchFamily="34" charset="-120"/>
              </a:rPr>
              <a:t>try (BufferedWriter w =</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       Files.newBufferedWriter(temp)) {</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   writeCsv(w);          // file closes by itself</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Files.move(temp, target, ATOMIC_MOVE);</a:t>
            </a:r>
            <a:endParaRPr lang="en-US" sz="1250" dirty="0"/>
          </a:p>
        </p:txBody>
      </p:sp>
      <p:sp>
        <p:nvSpPr>
          <p:cNvPr id="13" name="Text 10"/>
          <p:cNvSpPr txBox="1"/>
          <p:nvPr/>
        </p:nvSpPr>
        <p:spPr>
          <a:xfrm>
            <a:off x="6190488" y="3429000"/>
            <a:ext cx="5486400" cy="365760"/>
          </a:xfrm>
          <a:prstGeom prst="rect">
            <a:avLst/>
          </a:prstGeom>
          <a:noFill/>
          <a:ln/>
        </p:spPr>
        <p:txBody>
          <a:bodyPr wrap="square" lIns="0" tIns="0" rIns="0" bIns="0" rtlCol="0" anchor="t"/>
          <a:lstStyle/>
          <a:p>
            <a:pPr algn="l" indent="0" marL="0">
              <a:buNone/>
            </a:pPr>
            <a:r>
              <a:rPr lang="en-US" sz="1800" b="1" dirty="0">
                <a:solidFill>
                  <a:schemeClr val="tx2"/>
                </a:solidFill>
                <a:latin typeface="Calibri" pitchFamily="34" charset="0"/>
                <a:ea typeface="Calibri" pitchFamily="34" charset="-122"/>
                <a:cs typeface="Calibri" pitchFamily="34" charset="-120"/>
              </a:rPr>
              <a:t>Java tools used</a:t>
            </a:r>
            <a:endParaRPr lang="en-US" sz="1800" dirty="0"/>
          </a:p>
        </p:txBody>
      </p:sp>
      <p:sp>
        <p:nvSpPr>
          <p:cNvPr id="14" name="Text 11"/>
          <p:cNvSpPr txBox="1"/>
          <p:nvPr/>
        </p:nvSpPr>
        <p:spPr>
          <a:xfrm>
            <a:off x="6190488" y="3840480"/>
            <a:ext cx="5541264" cy="1600200"/>
          </a:xfrm>
          <a:prstGeom prst="rect">
            <a:avLst/>
          </a:prstGeom>
          <a:noFill/>
          <a:ln/>
        </p:spPr>
        <p:txBody>
          <a:bodyPr wrap="square" lIns="0" tIns="0" rIns="0" bIns="0" rtlCol="0" anchor="t"/>
          <a:lstStyle/>
          <a:p>
            <a:pPr algn="l"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Path, Files, BufferedWriter (java.nio.file)</a:t>
            </a:r>
            <a:endParaRPr lang="en-US" sz="1500" dirty="0"/>
          </a:p>
          <a:p>
            <a:pPr algn="l"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try-with-resources closes files for us</a:t>
            </a:r>
            <a:endParaRPr lang="en-US" sz="1500" dirty="0"/>
          </a:p>
          <a:p>
            <a:pPr algn="l"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IOException is caught and logged</a:t>
            </a:r>
            <a:endParaRPr lang="en-US" sz="1500" dirty="0"/>
          </a:p>
          <a:p>
            <a:pPr algn="l"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Settings still come from application.properties</a:t>
            </a:r>
            <a:endParaRPr lang="en-US" sz="1500" dirty="0"/>
          </a:p>
        </p:txBody>
      </p:sp>
      <p:sp>
        <p:nvSpPr>
          <p:cNvPr id="15" name="takeaway"/>
          <p:cNvSpPr/>
          <p:nvPr/>
        </p:nvSpPr>
        <p:spPr>
          <a:xfrm>
            <a:off x="457200" y="5760720"/>
            <a:ext cx="11274552" cy="502920"/>
          </a:xfrm>
          <a:prstGeom prst="roundRect">
            <a:avLst>
              <a:gd name="adj" fmla="val 21818"/>
            </a:avLst>
          </a:prstGeom>
          <a:solidFill>
            <a:srgbClr val="FDF1DC"/>
          </a:solidFill>
          <a:ln/>
        </p:spPr>
      </p:sp>
      <p:sp>
        <p:nvSpPr>
          <p:cNvPr id="16" name="Text 13"/>
          <p:cNvSpPr txBox="1"/>
          <p:nvPr/>
        </p:nvSpPr>
        <p:spPr>
          <a:xfrm>
            <a:off x="640080" y="5760720"/>
            <a:ext cx="10881360" cy="50292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The database holds the money. Files hold exports and the audit trail.</a:t>
            </a:r>
            <a:endParaRPr lang="en-US" sz="16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Exception handling: not crashing when things go wrong</a:t>
            </a:r>
            <a:endParaRPr lang="en-US" sz="3400" dirty="0"/>
          </a:p>
        </p:txBody>
      </p:sp>
      <p:sp>
        <p:nvSpPr>
          <p:cNvPr id="4" name="definition"/>
          <p:cNvSpPr/>
          <p:nvPr/>
        </p:nvSpPr>
        <p:spPr>
          <a:xfrm>
            <a:off x="457200" y="1280160"/>
            <a:ext cx="11274552" cy="640080"/>
          </a:xfrm>
          <a:prstGeom prst="roundRect">
            <a:avLst>
              <a:gd name="adj" fmla="val 17143"/>
            </a:avLst>
          </a:prstGeom>
          <a:solidFill>
            <a:srgbClr val="FDF1DC"/>
          </a:solidFill>
          <a:ln/>
        </p:spPr>
      </p:sp>
      <p:sp>
        <p:nvSpPr>
          <p:cNvPr id="5" name="Text 2"/>
          <p:cNvSpPr txBox="1"/>
          <p:nvPr/>
        </p:nvSpPr>
        <p:spPr>
          <a:xfrm>
            <a:off x="640080" y="1280160"/>
            <a:ext cx="10881360" cy="64008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Exception = something unexpected that interrupts the program. try / catch lets us deal with it instead of crashing.</a:t>
            </a:r>
            <a:endParaRPr lang="en-US" sz="1600" dirty="0"/>
          </a:p>
        </p:txBody>
      </p:sp>
      <p:graphicFrame>
        <p:nvGraphicFramePr>
          <p:cNvPr id="22" name="errors table"/>
          <p:cNvGraphicFramePr>
            <a:graphicFrameLocks noGrp="1"/>
          </p:cNvGraphicFramePr>
          <p:nvPr>
            <p:extLst>
              <p:ext uri="{D42A27DB-BD31-4B8C-83A1-F6EECF244321}">
                <p14:modId xmlns:p14="http://schemas.microsoft.com/office/powerpoint/2010/main" val="1579011935"/>
              </p:ext>
            </p:extLst>
          </p:nvPr>
        </p:nvGraphicFramePr>
        <p:xfrm>
          <a:off x="457200" y="2103120"/>
          <a:ext cx="7040880" cy="914400"/>
        </p:xfrm>
        <a:graphic>
          <a:graphicData uri="http://schemas.openxmlformats.org/drawingml/2006/table">
            <a:tbl>
              <a:tblPr/>
              <a:tblGrid>
                <a:gridCol w="2377440"/>
                <a:gridCol w="2560320"/>
                <a:gridCol w="210312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goes wrong</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Java does</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the user gets</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Packet tampered or junk</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decrypt() throws, we catch it</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INVALID: decryption_failed</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Packet too old or from the future</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Time check fails</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INVALID: stale_packet / future_dated</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Not enough balance</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 error: we record it</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INVALID: insufficient_balance</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Unknown account, amount ≤ 0</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settle() throws IllegalArgumentException</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INVALID: internal_error (caught)</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Blank or bad request fields</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@Valid check fails</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HTTP 400: validation_error</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475488">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Anything else unexpected</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GlobalExceptionHandler</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HTTP 500: a safe, generic message</a:t>
                      </a:r>
                      <a:endParaRPr lang="en-US" sz="1400" dirty="0">
                        <a:latin typeface="Calibri" charset="0"/>
                        <a:ea typeface="Calibri" charset="0"/>
                        <a:cs typeface="Calibri" charset="0"/>
                      </a:endParaRPr>
                    </a:p>
                  </a:txBody>
                  <a:tcPr marL="91440" marR="91440"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bl>
          </a:graphicData>
        </a:graphic>
      </p:graphicFrame>
      <p:sp>
        <p:nvSpPr>
          <p:cNvPr id="7" name="code block"/>
          <p:cNvSpPr/>
          <p:nvPr/>
        </p:nvSpPr>
        <p:spPr>
          <a:xfrm>
            <a:off x="7680960" y="2103120"/>
            <a:ext cx="4050792" cy="2011680"/>
          </a:xfrm>
          <a:prstGeom prst="roundRect">
            <a:avLst>
              <a:gd name="adj" fmla="val 4545"/>
            </a:avLst>
          </a:prstGeom>
          <a:solidFill>
            <a:schemeClr val="tx1"/>
          </a:solidFill>
          <a:ln/>
        </p:spPr>
      </p:sp>
      <p:sp>
        <p:nvSpPr>
          <p:cNvPr id="8" name="Text 4"/>
          <p:cNvSpPr txBox="1"/>
          <p:nvPr/>
        </p:nvSpPr>
        <p:spPr>
          <a:xfrm>
            <a:off x="7863840" y="2240280"/>
            <a:ext cx="3685032" cy="1737360"/>
          </a:xfrm>
          <a:prstGeom prst="rect">
            <a:avLst/>
          </a:prstGeom>
          <a:noFill/>
          <a:ln/>
        </p:spPr>
        <p:txBody>
          <a:bodyPr wrap="square" lIns="0" tIns="0" rIns="0" bIns="0" rtlCol="0" anchor="ctr"/>
          <a:lstStyle/>
          <a:p>
            <a:pPr algn="l" indent="0" marL="0">
              <a:buNone/>
            </a:pPr>
            <a:r>
              <a:rPr lang="en-US" sz="1300" dirty="0">
                <a:solidFill>
                  <a:schemeClr val="bg1"/>
                </a:solidFill>
                <a:latin typeface="Courier New" pitchFamily="34" charset="0"/>
                <a:ea typeface="Courier New" pitchFamily="34" charset="-122"/>
                <a:cs typeface="Courier New" pitchFamily="34" charset="-120"/>
              </a:rPr>
              <a:t>try {</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instr = crypto.decrypt(ct);</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catch (Exception e) {</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return INVALID;</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 decryption_failed</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9" name="rollback"/>
          <p:cNvSpPr/>
          <p:nvPr/>
        </p:nvSpPr>
        <p:spPr>
          <a:xfrm>
            <a:off x="7680960" y="4251960"/>
            <a:ext cx="4050792" cy="1234440"/>
          </a:xfrm>
          <a:prstGeom prst="roundRect">
            <a:avLst>
              <a:gd name="adj" fmla="val 8889"/>
            </a:avLst>
          </a:prstGeom>
          <a:solidFill>
            <a:schemeClr val="bg2"/>
          </a:solidFill>
          <a:ln/>
        </p:spPr>
      </p:sp>
      <p:sp>
        <p:nvSpPr>
          <p:cNvPr id="10" name="Text 6"/>
          <p:cNvSpPr txBox="1"/>
          <p:nvPr/>
        </p:nvSpPr>
        <p:spPr>
          <a:xfrm>
            <a:off x="7818120" y="4251960"/>
            <a:ext cx="3794760" cy="1234440"/>
          </a:xfrm>
          <a:prstGeom prst="rect">
            <a:avLst/>
          </a:prstGeom>
          <a:noFill/>
          <a:ln/>
        </p:spPr>
        <p:txBody>
          <a:bodyPr wrap="square" lIns="0" tIns="0" rIns="0" bIns="0" rtlCol="0" anchor="ctr"/>
          <a:lstStyle/>
          <a:p>
            <a:pPr algn="l" indent="0" marL="0">
              <a:buNone/>
            </a:pPr>
            <a:r>
              <a:rPr lang="en-US" sz="1400" b="1" dirty="0">
                <a:solidFill>
                  <a:schemeClr val="tx1"/>
                </a:solidFill>
                <a:latin typeface="Calibri" pitchFamily="34" charset="0"/>
                <a:ea typeface="Calibri" pitchFamily="34" charset="-122"/>
                <a:cs typeface="Calibri" pitchFamily="34" charset="-120"/>
              </a:rPr>
              <a:t>@Transactional also undoes a half-finished settlement if an error is thrown.</a:t>
            </a:r>
            <a:endParaRPr lang="en-US" sz="1400" dirty="0"/>
          </a:p>
        </p:txBody>
      </p:sp>
      <p:sp>
        <p:nvSpPr>
          <p:cNvPr id="11" name="Text 7"/>
          <p:cNvSpPr txBox="1"/>
          <p:nvPr/>
        </p:nvSpPr>
        <p:spPr>
          <a:xfrm>
            <a:off x="457200" y="5623560"/>
            <a:ext cx="10515600" cy="274320"/>
          </a:xfrm>
          <a:prstGeom prst="rect">
            <a:avLst/>
          </a:prstGeom>
          <a:noFill/>
          <a:ln/>
        </p:spPr>
        <p:txBody>
          <a:bodyPr wrap="square" lIns="0" tIns="0" rIns="0" bIns="0" rtlCol="0" anchor="t"/>
          <a:lstStyle/>
          <a:p>
            <a:pPr algn="l" indent="0" marL="0">
              <a:buNone/>
            </a:pPr>
            <a:r>
              <a:rPr lang="en-US" sz="1400" b="1" dirty="0">
                <a:solidFill>
                  <a:schemeClr val="accent5"/>
                </a:solidFill>
                <a:latin typeface="Calibri" pitchFamily="34" charset="0"/>
                <a:ea typeface="Calibri" pitchFamily="34" charset="-122"/>
                <a:cs typeface="Calibri" pitchFamily="34" charset="-120"/>
              </a:rPr>
              <a:t>Where: </a:t>
            </a:r>
            <a:pPr algn="l" indent="0" marL="0">
              <a:buNone/>
            </a:pPr>
            <a:r>
              <a:rPr lang="en-US" sz="1300" dirty="0">
                <a:solidFill>
                  <a:schemeClr val="accent4"/>
                </a:solidFill>
                <a:latin typeface="Courier New" pitchFamily="34" charset="0"/>
                <a:ea typeface="Courier New" pitchFamily="34" charset="-122"/>
                <a:cs typeface="Courier New" pitchFamily="34" charset="-120"/>
              </a:rPr>
              <a:t>BridgeIngestionService (try/catch), GlobalExceptionHandler</a:t>
            </a:r>
            <a:endParaRPr lang="en-US" sz="1400" dirty="0"/>
          </a:p>
        </p:txBody>
      </p:sp>
      <p:sp>
        <p:nvSpPr>
          <p:cNvPr id="12" name="Text 8"/>
          <p:cNvSpPr txBox="1"/>
          <p:nvPr/>
        </p:nvSpPr>
        <p:spPr>
          <a:xfrm>
            <a:off x="457200" y="5943600"/>
            <a:ext cx="10972800" cy="320040"/>
          </a:xfrm>
          <a:prstGeom prst="rect">
            <a:avLst/>
          </a:prstGeom>
          <a:noFill/>
          <a:ln/>
        </p:spPr>
        <p:txBody>
          <a:bodyPr wrap="square" lIns="0" tIns="0" rIns="0" bIns="0" rtlCol="0" anchor="t"/>
          <a:lstStyle/>
          <a:p>
            <a:pPr algn="l" indent="0" marL="0">
              <a:buNone/>
            </a:pPr>
            <a:r>
              <a:rPr lang="en-US" sz="1400" i="1" dirty="0">
                <a:solidFill>
                  <a:schemeClr val="accent5"/>
                </a:solidFill>
                <a:latin typeface="Calibri" pitchFamily="34" charset="0"/>
                <a:ea typeface="Calibri" pitchFamily="34" charset="-122"/>
                <a:cs typeface="Calibri" pitchFamily="34" charset="-120"/>
              </a:rPr>
              <a:t>We use try / catch. No finally block was needed: Spring closes connections for us.</a:t>
            </a:r>
            <a:endParaRPr lang="en-US" sz="14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Collections we actually use</a:t>
            </a:r>
            <a:endParaRPr lang="en-US" sz="3400" dirty="0"/>
          </a:p>
        </p:txBody>
      </p:sp>
      <p:graphicFrame>
        <p:nvGraphicFramePr>
          <p:cNvPr id="23" name="collections table"/>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3108960"/>
                <a:gridCol w="4873752"/>
              </a:tblGrid>
              <a:tr h="41148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Collection</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In simple words</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we store and where</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r>
              <a:tr h="868680">
                <a:tc>
                  <a:txBody>
                    <a:bodyPr/>
                    <a:lstStyle/>
                    <a:p>
                      <a:pPr indent="0" marL="0">
                        <a:buNone/>
                      </a:pPr>
                      <a:r>
                        <a:rPr lang="en-US" sz="1250" b="1" dirty="0">
                          <a:solidFill>
                            <a:schemeClr val="accent4"/>
                          </a:solidFill>
                          <a:latin typeface="Courier New" pitchFamily="34" charset="0"/>
                          <a:ea typeface="Courier New" pitchFamily="34" charset="-122"/>
                          <a:cs typeface="Courier New" pitchFamily="34" charset="-120"/>
                        </a:rPr>
                        <a:t>ConcurrentHashMap</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phone book that many threads can use safely</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fingerprint → time (IdempotencyService); packetId → packet (VirtualDevice); id → phone (MeshSimulatorService)</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chemeClr val="accent4"/>
                          </a:solidFill>
                          <a:latin typeface="Courier New" pitchFamily="34" charset="0"/>
                          <a:ea typeface="Courier New" pitchFamily="34" charset="-122"/>
                          <a:cs typeface="Courier New" pitchFamily="34" charset="-120"/>
                        </a:rPr>
                        <a:t>ArrayList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flexible list: add and remove items</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list of devices, bridge uploads, ingest results</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r h="685800">
                <a:tc>
                  <a:txBody>
                    <a:bodyPr/>
                    <a:lstStyle/>
                    <a:p>
                      <a:pPr indent="0" marL="0">
                        <a:buNone/>
                      </a:pPr>
                      <a:r>
                        <a:rPr lang="en-US" sz="1250" b="1" dirty="0">
                          <a:solidFill>
                            <a:schemeClr val="accent4"/>
                          </a:solidFill>
                          <a:latin typeface="Courier New" pitchFamily="34" charset="0"/>
                          <a:ea typeface="Courier New" pitchFamily="34" charset="-122"/>
                          <a:cs typeface="Courier New" pitchFamily="34" charset="-120"/>
                        </a:rPr>
                        <a:t>HashMap</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phone book, no safety for threads</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snapshot of what each phone holds at the start of a gossip round</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685800">
                <a:tc>
                  <a:txBody>
                    <a:bodyPr/>
                    <a:lstStyle/>
                    <a:p>
                      <a:pPr indent="0" marL="0">
                        <a:buNone/>
                      </a:pPr>
                      <a:r>
                        <a:rPr lang="en-US" sz="1250" b="1" dirty="0">
                          <a:solidFill>
                            <a:schemeClr val="accent4"/>
                          </a:solidFill>
                          <a:latin typeface="Courier New" pitchFamily="34" charset="0"/>
                          <a:ea typeface="Courier New" pitchFamily="34" charset="-122"/>
                          <a:cs typeface="Courier New" pitchFamily="34" charset="-120"/>
                        </a:rPr>
                        <a:t>LinkedHashMap</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phone book that remembers order</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phone → packet count, so the dashboard shows phones in order</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r h="548640">
                <a:tc>
                  <a:txBody>
                    <a:bodyPr/>
                    <a:lstStyle/>
                    <a:p>
                      <a:pPr indent="0" marL="0">
                        <a:buNone/>
                      </a:pPr>
                      <a:r>
                        <a:rPr lang="en-US" sz="1250" b="1" dirty="0">
                          <a:solidFill>
                            <a:schemeClr val="accent4"/>
                          </a:solidFill>
                          <a:latin typeface="Courier New" pitchFamily="34" charset="0"/>
                          <a:ea typeface="Courier New" pitchFamily="34" charset="-122"/>
                          <a:cs typeface="Courier New" pitchFamily="34" charset="-120"/>
                        </a:rPr>
                        <a:t>Collections.synchronizedList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 list safe for many threads</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collects results from the parallel upload</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chemeClr val="accent4"/>
                          </a:solidFill>
                          <a:latin typeface="Courier New" pitchFamily="34" charset="0"/>
                          <a:ea typeface="Courier New" pitchFamily="34" charset="-122"/>
                          <a:cs typeface="Courier New" pitchFamily="34" charset="-120"/>
                        </a:rPr>
                        <a:t>Map.of / List.of / record</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Fixed bundles that cannot be changed</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JSON answers the API sends back</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bl>
          </a:graphicData>
        </a:graphic>
      </p:graphicFrame>
      <p:sp>
        <p:nvSpPr>
          <p:cNvPr id="5" name="takeaway"/>
          <p:cNvSpPr/>
          <p:nvPr/>
        </p:nvSpPr>
        <p:spPr>
          <a:xfrm>
            <a:off x="457200" y="5760720"/>
            <a:ext cx="11274552" cy="502920"/>
          </a:xfrm>
          <a:prstGeom prst="roundRect">
            <a:avLst>
              <a:gd name="adj" fmla="val 21818"/>
            </a:avLst>
          </a:prstGeom>
          <a:solidFill>
            <a:srgbClr val="FDF1DC"/>
          </a:solidFill>
          <a:ln/>
        </p:spPr>
      </p:sp>
      <p:sp>
        <p:nvSpPr>
          <p:cNvPr id="6" name="Text 2"/>
          <p:cNvSpPr txBox="1"/>
          <p:nvPr/>
        </p:nvSpPr>
        <p:spPr>
          <a:xfrm>
            <a:off x="640080" y="5760720"/>
            <a:ext cx="10881360" cy="50292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Why Map? We always look things up by a name: a fingerprint or a packet ID.</a:t>
            </a:r>
            <a:endParaRPr lang="en-US" sz="16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Multithreading: many jobs at once</a:t>
            </a:r>
            <a:endParaRPr lang="en-US" sz="3400" dirty="0"/>
          </a:p>
        </p:txBody>
      </p:sp>
      <p:sp>
        <p:nvSpPr>
          <p:cNvPr id="4" name="analogy"/>
          <p:cNvSpPr/>
          <p:nvPr/>
        </p:nvSpPr>
        <p:spPr>
          <a:xfrm>
            <a:off x="457200" y="1280160"/>
            <a:ext cx="11274552" cy="685800"/>
          </a:xfrm>
          <a:prstGeom prst="roundRect">
            <a:avLst>
              <a:gd name="adj" fmla="val 16000"/>
            </a:avLst>
          </a:prstGeom>
          <a:solidFill>
            <a:srgbClr val="FDF1DC"/>
          </a:solidFill>
          <a:ln/>
        </p:spPr>
      </p:sp>
      <p:sp>
        <p:nvSpPr>
          <p:cNvPr id="5" name="Text 2"/>
          <p:cNvSpPr txBox="1"/>
          <p:nvPr/>
        </p:nvSpPr>
        <p:spPr>
          <a:xfrm>
            <a:off x="640080" y="1280160"/>
            <a:ext cx="10881360" cy="68580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One person doing five jobs one by one is slow. Five people doing them at the same time is fast. Each 'person' is a thread.</a:t>
            </a:r>
            <a:endParaRPr lang="en-US" sz="1600" dirty="0"/>
          </a:p>
        </p:txBody>
      </p:sp>
      <p:sp>
        <p:nvSpPr>
          <p:cNvPr id="6" name="node thread 1"/>
          <p:cNvSpPr/>
          <p:nvPr/>
        </p:nvSpPr>
        <p:spPr>
          <a:xfrm>
            <a:off x="457200" y="2194560"/>
            <a:ext cx="1371600" cy="594360"/>
          </a:xfrm>
          <a:prstGeom prst="roundRect">
            <a:avLst>
              <a:gd name="adj" fmla="val 15385"/>
            </a:avLst>
          </a:prstGeom>
          <a:solidFill>
            <a:schemeClr val="accent5"/>
          </a:solidFill>
          <a:ln/>
        </p:spPr>
      </p:sp>
      <p:sp>
        <p:nvSpPr>
          <p:cNvPr id="7" name="Text 4"/>
          <p:cNvSpPr txBox="1"/>
          <p:nvPr/>
        </p:nvSpPr>
        <p:spPr>
          <a:xfrm>
            <a:off x="530352" y="2194560"/>
            <a:ext cx="1225296" cy="5943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thread 1</a:t>
            </a:r>
            <a:endParaRPr lang="en-US" sz="1400" dirty="0"/>
          </a:p>
        </p:txBody>
      </p:sp>
      <p:sp>
        <p:nvSpPr>
          <p:cNvPr id="8" name="arrow"/>
          <p:cNvSpPr/>
          <p:nvPr/>
        </p:nvSpPr>
        <p:spPr>
          <a:xfrm>
            <a:off x="1874520" y="2487168"/>
            <a:ext cx="914400" cy="0"/>
          </a:xfrm>
          <a:prstGeom prst="line">
            <a:avLst/>
          </a:prstGeom>
          <a:noFill/>
          <a:ln w="28575">
            <a:solidFill>
              <a:schemeClr val="accent5"/>
            </a:solidFill>
            <a:prstDash val="solid"/>
            <a:tailEnd type="triangle"/>
          </a:ln>
        </p:spPr>
      </p:sp>
      <p:sp>
        <p:nvSpPr>
          <p:cNvPr id="9" name="node thread 2"/>
          <p:cNvSpPr/>
          <p:nvPr/>
        </p:nvSpPr>
        <p:spPr>
          <a:xfrm>
            <a:off x="457200" y="2971800"/>
            <a:ext cx="1371600" cy="594360"/>
          </a:xfrm>
          <a:prstGeom prst="roundRect">
            <a:avLst>
              <a:gd name="adj" fmla="val 15385"/>
            </a:avLst>
          </a:prstGeom>
          <a:solidFill>
            <a:schemeClr val="accent5"/>
          </a:solidFill>
          <a:ln/>
        </p:spPr>
      </p:sp>
      <p:sp>
        <p:nvSpPr>
          <p:cNvPr id="10" name="Text 7"/>
          <p:cNvSpPr txBox="1"/>
          <p:nvPr/>
        </p:nvSpPr>
        <p:spPr>
          <a:xfrm>
            <a:off x="530352" y="2971800"/>
            <a:ext cx="1225296" cy="5943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thread 2</a:t>
            </a:r>
            <a:endParaRPr lang="en-US" sz="1400" dirty="0"/>
          </a:p>
        </p:txBody>
      </p:sp>
      <p:sp>
        <p:nvSpPr>
          <p:cNvPr id="11" name="arrow"/>
          <p:cNvSpPr/>
          <p:nvPr/>
        </p:nvSpPr>
        <p:spPr>
          <a:xfrm>
            <a:off x="1874520" y="3264408"/>
            <a:ext cx="914400" cy="0"/>
          </a:xfrm>
          <a:prstGeom prst="line">
            <a:avLst/>
          </a:prstGeom>
          <a:noFill/>
          <a:ln w="28575">
            <a:solidFill>
              <a:schemeClr val="accent5"/>
            </a:solidFill>
            <a:prstDash val="solid"/>
            <a:tailEnd type="triangle"/>
          </a:ln>
        </p:spPr>
      </p:sp>
      <p:sp>
        <p:nvSpPr>
          <p:cNvPr id="12" name="node thread 3"/>
          <p:cNvSpPr/>
          <p:nvPr/>
        </p:nvSpPr>
        <p:spPr>
          <a:xfrm>
            <a:off x="457200" y="3749040"/>
            <a:ext cx="1371600" cy="594360"/>
          </a:xfrm>
          <a:prstGeom prst="roundRect">
            <a:avLst>
              <a:gd name="adj" fmla="val 15385"/>
            </a:avLst>
          </a:prstGeom>
          <a:solidFill>
            <a:schemeClr val="accent5"/>
          </a:solidFill>
          <a:ln/>
        </p:spPr>
      </p:sp>
      <p:sp>
        <p:nvSpPr>
          <p:cNvPr id="13" name="Text 10"/>
          <p:cNvSpPr txBox="1"/>
          <p:nvPr/>
        </p:nvSpPr>
        <p:spPr>
          <a:xfrm>
            <a:off x="530352" y="3749040"/>
            <a:ext cx="1225296" cy="59436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thread 3</a:t>
            </a:r>
            <a:endParaRPr lang="en-US" sz="1400" dirty="0"/>
          </a:p>
        </p:txBody>
      </p:sp>
      <p:sp>
        <p:nvSpPr>
          <p:cNvPr id="14" name="arrow"/>
          <p:cNvSpPr/>
          <p:nvPr/>
        </p:nvSpPr>
        <p:spPr>
          <a:xfrm>
            <a:off x="1874520" y="4041648"/>
            <a:ext cx="914400" cy="0"/>
          </a:xfrm>
          <a:prstGeom prst="line">
            <a:avLst/>
          </a:prstGeom>
          <a:noFill/>
          <a:ln w="28575">
            <a:solidFill>
              <a:schemeClr val="accent5"/>
            </a:solidFill>
            <a:prstDash val="solid"/>
            <a:tailEnd type="triangle"/>
          </a:ln>
        </p:spPr>
      </p:sp>
      <p:sp>
        <p:nvSpPr>
          <p:cNvPr id="15" name="node ingest() same packet, same moment"/>
          <p:cNvSpPr/>
          <p:nvPr/>
        </p:nvSpPr>
        <p:spPr>
          <a:xfrm>
            <a:off x="2834640" y="2194560"/>
            <a:ext cx="2194560" cy="2148840"/>
          </a:xfrm>
          <a:prstGeom prst="roundRect">
            <a:avLst>
              <a:gd name="adj" fmla="val 4255"/>
            </a:avLst>
          </a:prstGeom>
          <a:solidFill>
            <a:schemeClr val="accent1"/>
          </a:solidFill>
          <a:ln/>
        </p:spPr>
      </p:sp>
      <p:sp>
        <p:nvSpPr>
          <p:cNvPr id="16" name="Text 13"/>
          <p:cNvSpPr txBox="1"/>
          <p:nvPr/>
        </p:nvSpPr>
        <p:spPr>
          <a:xfrm>
            <a:off x="2907792" y="2194560"/>
            <a:ext cx="2048256" cy="214884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ingest()</a:t>
            </a: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same packet,</a:t>
            </a: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same moment</a:t>
            </a:r>
            <a:endParaRPr lang="en-US" sz="1500" dirty="0"/>
          </a:p>
        </p:txBody>
      </p:sp>
      <p:sp>
        <p:nvSpPr>
          <p:cNvPr id="17" name="arrow"/>
          <p:cNvSpPr/>
          <p:nvPr/>
        </p:nvSpPr>
        <p:spPr>
          <a:xfrm>
            <a:off x="5074920" y="3264408"/>
            <a:ext cx="640080" cy="0"/>
          </a:xfrm>
          <a:prstGeom prst="line">
            <a:avLst/>
          </a:prstGeom>
          <a:noFill/>
          <a:ln w="28575">
            <a:solidFill>
              <a:schemeClr val="accent5"/>
            </a:solidFill>
            <a:prstDash val="solid"/>
            <a:tailEnd type="triangle"/>
          </a:ln>
        </p:spPr>
      </p:sp>
      <p:sp>
        <p:nvSpPr>
          <p:cNvPr id="18" name="node claim() one winner"/>
          <p:cNvSpPr/>
          <p:nvPr/>
        </p:nvSpPr>
        <p:spPr>
          <a:xfrm>
            <a:off x="5760720" y="2743200"/>
            <a:ext cx="2103120" cy="1051560"/>
          </a:xfrm>
          <a:prstGeom prst="roundRect">
            <a:avLst>
              <a:gd name="adj" fmla="val 8696"/>
            </a:avLst>
          </a:prstGeom>
          <a:solidFill>
            <a:schemeClr val="accent6"/>
          </a:solidFill>
          <a:ln/>
        </p:spPr>
      </p:sp>
      <p:sp>
        <p:nvSpPr>
          <p:cNvPr id="19" name="Text 16"/>
          <p:cNvSpPr txBox="1"/>
          <p:nvPr/>
        </p:nvSpPr>
        <p:spPr>
          <a:xfrm>
            <a:off x="5833872" y="2743200"/>
            <a:ext cx="1956816" cy="10515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claim()</a:t>
            </a:r>
            <a:endParaRPr lang="en-US" sz="1500" dirty="0"/>
          </a:p>
          <a:p>
            <a:pPr algn="ctr" indent="0" marL="0">
              <a:buNone/>
            </a:pPr>
            <a:r>
              <a:rPr lang="en-US" sz="1500" b="1" dirty="0">
                <a:solidFill>
                  <a:schemeClr val="bg1"/>
                </a:solidFill>
                <a:latin typeface="Calibri" pitchFamily="34" charset="0"/>
                <a:ea typeface="Calibri" pitchFamily="34" charset="-122"/>
                <a:cs typeface="Calibri" pitchFamily="34" charset="-120"/>
              </a:rPr>
              <a:t>one winner</a:t>
            </a:r>
            <a:endParaRPr lang="en-US" sz="1500" dirty="0"/>
          </a:p>
        </p:txBody>
      </p:sp>
      <p:sp>
        <p:nvSpPr>
          <p:cNvPr id="20" name="safety"/>
          <p:cNvSpPr/>
          <p:nvPr/>
        </p:nvSpPr>
        <p:spPr>
          <a:xfrm>
            <a:off x="8092440" y="2194560"/>
            <a:ext cx="3639312" cy="2148840"/>
          </a:xfrm>
          <a:prstGeom prst="roundRect">
            <a:avLst>
              <a:gd name="adj" fmla="val 5106"/>
            </a:avLst>
          </a:prstGeom>
          <a:solidFill>
            <a:schemeClr val="bg2"/>
          </a:solidFill>
          <a:ln/>
        </p:spPr>
      </p:sp>
      <p:sp>
        <p:nvSpPr>
          <p:cNvPr id="21" name="Text 18"/>
          <p:cNvSpPr txBox="1"/>
          <p:nvPr/>
        </p:nvSpPr>
        <p:spPr>
          <a:xfrm>
            <a:off x="8229600" y="2286000"/>
            <a:ext cx="3383280" cy="365760"/>
          </a:xfrm>
          <a:prstGeom prst="rect">
            <a:avLst/>
          </a:prstGeom>
          <a:noFill/>
          <a:ln/>
        </p:spPr>
        <p:txBody>
          <a:bodyPr wrap="square" lIns="0" tIns="0" rIns="0" bIns="0" rtlCol="0" anchor="t"/>
          <a:lstStyle/>
          <a:p>
            <a:pPr algn="l" indent="0" marL="0">
              <a:buNone/>
            </a:pPr>
            <a:r>
              <a:rPr lang="en-US" sz="1600" b="1" dirty="0">
                <a:solidFill>
                  <a:schemeClr val="tx2"/>
                </a:solidFill>
                <a:latin typeface="Calibri" pitchFamily="34" charset="0"/>
                <a:ea typeface="Calibri" pitchFamily="34" charset="-122"/>
                <a:cs typeface="Calibri" pitchFamily="34" charset="-120"/>
              </a:rPr>
              <a:t>How we keep it safe</a:t>
            </a:r>
            <a:endParaRPr lang="en-US" sz="1600" dirty="0"/>
          </a:p>
        </p:txBody>
      </p:sp>
      <p:sp>
        <p:nvSpPr>
          <p:cNvPr id="22" name="Text 19"/>
          <p:cNvSpPr txBox="1"/>
          <p:nvPr/>
        </p:nvSpPr>
        <p:spPr>
          <a:xfrm>
            <a:off x="8229600" y="2697480"/>
            <a:ext cx="3383280" cy="1600200"/>
          </a:xfrm>
          <a:prstGeom prst="rect">
            <a:avLst/>
          </a:prstGeom>
          <a:noFill/>
          <a:ln/>
        </p:spPr>
        <p:txBody>
          <a:bodyPr wrap="square" lIns="0" tIns="0" rIns="0" bIns="0" rtlCol="0" anchor="t"/>
          <a:lstStyle/>
          <a:p>
            <a:pPr algn="l" marL="342900" indent="-342900">
              <a:spcAft>
                <a:spcPts val="300"/>
              </a:spcAft>
              <a:buSzPct val="100000"/>
              <a:buChar char="•"/>
            </a:pPr>
            <a:r>
              <a:rPr lang="en-US" sz="1500" dirty="0">
                <a:solidFill>
                  <a:schemeClr val="tx1"/>
                </a:solidFill>
                <a:latin typeface="Calibri" pitchFamily="34" charset="0"/>
                <a:ea typeface="Calibri" pitchFamily="34" charset="-122"/>
                <a:cs typeface="Calibri" pitchFamily="34" charset="-120"/>
              </a:rPr>
              <a:t>ConcurrentHashMap</a:t>
            </a:r>
            <a:endParaRPr lang="en-US" sz="1500" dirty="0"/>
          </a:p>
          <a:p>
            <a:pPr algn="l" marL="342900" indent="-342900">
              <a:spcAft>
                <a:spcPts val="300"/>
              </a:spcAft>
              <a:buSzPct val="100000"/>
              <a:buChar char="•"/>
            </a:pPr>
            <a:r>
              <a:rPr lang="en-US" sz="1500" dirty="0">
                <a:solidFill>
                  <a:schemeClr val="tx1"/>
                </a:solidFill>
                <a:latin typeface="Calibri" pitchFamily="34" charset="0"/>
                <a:ea typeface="Calibri" pitchFamily="34" charset="-122"/>
                <a:cs typeface="Calibri" pitchFamily="34" charset="-120"/>
              </a:rPr>
              <a:t>putIfAbsent: one atomic step</a:t>
            </a:r>
            <a:endParaRPr lang="en-US" sz="1500" dirty="0"/>
          </a:p>
          <a:p>
            <a:pPr algn="l" marL="342900" indent="-342900">
              <a:spcAft>
                <a:spcPts val="300"/>
              </a:spcAft>
              <a:buSzPct val="100000"/>
              <a:buChar char="•"/>
            </a:pPr>
            <a:r>
              <a:rPr lang="en-US" sz="1500" dirty="0">
                <a:solidFill>
                  <a:schemeClr val="tx1"/>
                </a:solidFill>
                <a:latin typeface="Calibri" pitchFamily="34" charset="0"/>
                <a:ea typeface="Calibri" pitchFamily="34" charset="-122"/>
                <a:cs typeface="Calibri" pitchFamily="34" charset="-120"/>
              </a:rPr>
              <a:t>synchronizedList for results</a:t>
            </a:r>
            <a:endParaRPr lang="en-US" sz="1500" dirty="0"/>
          </a:p>
          <a:p>
            <a:pPr algn="l" marL="342900" indent="-342900">
              <a:spcAft>
                <a:spcPts val="300"/>
              </a:spcAft>
              <a:buSzPct val="100000"/>
              <a:buChar char="•"/>
            </a:pPr>
            <a:r>
              <a:rPr lang="en-US" sz="1500" dirty="0">
                <a:solidFill>
                  <a:schemeClr val="tx1"/>
                </a:solidFill>
                <a:latin typeface="Calibri" pitchFamily="34" charset="0"/>
                <a:ea typeface="Calibri" pitchFamily="34" charset="-122"/>
                <a:cs typeface="Calibri" pitchFamily="34" charset="-120"/>
              </a:rPr>
              <a:t>@Version on Account</a:t>
            </a:r>
            <a:endParaRPr lang="en-US" sz="1500" dirty="0"/>
          </a:p>
        </p:txBody>
      </p:sp>
      <p:sp>
        <p:nvSpPr>
          <p:cNvPr id="23" name="where parallelStream()"/>
          <p:cNvSpPr/>
          <p:nvPr/>
        </p:nvSpPr>
        <p:spPr>
          <a:xfrm>
            <a:off x="457200" y="4526280"/>
            <a:ext cx="2697480" cy="1371600"/>
          </a:xfrm>
          <a:prstGeom prst="roundRect">
            <a:avLst>
              <a:gd name="adj" fmla="val 8000"/>
            </a:avLst>
          </a:prstGeom>
          <a:solidFill>
            <a:schemeClr val="bg2"/>
          </a:solidFill>
          <a:ln/>
        </p:spPr>
      </p:sp>
      <p:sp>
        <p:nvSpPr>
          <p:cNvPr id="24" name="Text 21"/>
          <p:cNvSpPr txBox="1"/>
          <p:nvPr/>
        </p:nvSpPr>
        <p:spPr>
          <a:xfrm>
            <a:off x="594360" y="4572000"/>
            <a:ext cx="2423160" cy="365760"/>
          </a:xfrm>
          <a:prstGeom prst="rect">
            <a:avLst/>
          </a:prstGeom>
          <a:noFill/>
          <a:ln/>
        </p:spPr>
        <p:txBody>
          <a:bodyPr wrap="square" lIns="0" tIns="0" rIns="0" bIns="0" rtlCol="0" anchor="t"/>
          <a:lstStyle/>
          <a:p>
            <a:pPr algn="l" indent="0" marL="0">
              <a:buNone/>
            </a:pPr>
            <a:r>
              <a:rPr lang="en-US" sz="1400" b="1" dirty="0">
                <a:solidFill>
                  <a:schemeClr val="accent4"/>
                </a:solidFill>
                <a:latin typeface="Courier New" pitchFamily="34" charset="0"/>
                <a:ea typeface="Courier New" pitchFamily="34" charset="-122"/>
                <a:cs typeface="Courier New" pitchFamily="34" charset="-120"/>
              </a:rPr>
              <a:t>parallelStream()</a:t>
            </a:r>
            <a:endParaRPr lang="en-US" sz="1400" dirty="0"/>
          </a:p>
        </p:txBody>
      </p:sp>
      <p:sp>
        <p:nvSpPr>
          <p:cNvPr id="25" name="Text 22"/>
          <p:cNvSpPr txBox="1"/>
          <p:nvPr/>
        </p:nvSpPr>
        <p:spPr>
          <a:xfrm>
            <a:off x="594360" y="4937760"/>
            <a:ext cx="2423160" cy="960120"/>
          </a:xfrm>
          <a:prstGeom prst="rect">
            <a:avLst/>
          </a:prstGeom>
          <a:noFill/>
          <a:ln/>
        </p:spPr>
        <p:txBody>
          <a:bodyPr wrap="square" lIns="0" tIns="0" rIns="0" bIns="0" rtlCol="0" anchor="t"/>
          <a:lstStyle/>
          <a:p>
            <a:pPr algn="l" indent="0" marL="0">
              <a:buNone/>
            </a:pPr>
            <a:r>
              <a:rPr lang="en-US" sz="1350" dirty="0">
                <a:solidFill>
                  <a:schemeClr val="tx1"/>
                </a:solidFill>
                <a:latin typeface="Calibri" pitchFamily="34" charset="0"/>
                <a:ea typeface="Calibri" pitchFamily="34" charset="-122"/>
                <a:cs typeface="Calibri" pitchFamily="34" charset="-120"/>
              </a:rPr>
              <a:t>The flush uploads from all bridge phones at the same time (ApiController).</a:t>
            </a:r>
            <a:endParaRPr lang="en-US" sz="1350" dirty="0"/>
          </a:p>
        </p:txBody>
      </p:sp>
      <p:sp>
        <p:nvSpPr>
          <p:cNvPr id="26" name="where Web server threads"/>
          <p:cNvSpPr/>
          <p:nvPr/>
        </p:nvSpPr>
        <p:spPr>
          <a:xfrm>
            <a:off x="3291840" y="4526280"/>
            <a:ext cx="2697480" cy="1371600"/>
          </a:xfrm>
          <a:prstGeom prst="roundRect">
            <a:avLst>
              <a:gd name="adj" fmla="val 8000"/>
            </a:avLst>
          </a:prstGeom>
          <a:solidFill>
            <a:schemeClr val="bg2"/>
          </a:solidFill>
          <a:ln/>
        </p:spPr>
      </p:sp>
      <p:sp>
        <p:nvSpPr>
          <p:cNvPr id="27" name="Text 24"/>
          <p:cNvSpPr txBox="1"/>
          <p:nvPr/>
        </p:nvSpPr>
        <p:spPr>
          <a:xfrm>
            <a:off x="3429000" y="4572000"/>
            <a:ext cx="2423160" cy="365760"/>
          </a:xfrm>
          <a:prstGeom prst="rect">
            <a:avLst/>
          </a:prstGeom>
          <a:noFill/>
          <a:ln/>
        </p:spPr>
        <p:txBody>
          <a:bodyPr wrap="square" lIns="0" tIns="0" rIns="0" bIns="0" rtlCol="0" anchor="t"/>
          <a:lstStyle/>
          <a:p>
            <a:pPr algn="l" indent="0" marL="0">
              <a:buNone/>
            </a:pPr>
            <a:r>
              <a:rPr lang="en-US" sz="1400" b="1" dirty="0">
                <a:solidFill>
                  <a:schemeClr val="accent4"/>
                </a:solidFill>
                <a:latin typeface="Courier New" pitchFamily="34" charset="0"/>
                <a:ea typeface="Courier New" pitchFamily="34" charset="-122"/>
                <a:cs typeface="Courier New" pitchFamily="34" charset="-120"/>
              </a:rPr>
              <a:t>Web server threads</a:t>
            </a:r>
            <a:endParaRPr lang="en-US" sz="1400" dirty="0"/>
          </a:p>
        </p:txBody>
      </p:sp>
      <p:sp>
        <p:nvSpPr>
          <p:cNvPr id="28" name="Text 25"/>
          <p:cNvSpPr txBox="1"/>
          <p:nvPr/>
        </p:nvSpPr>
        <p:spPr>
          <a:xfrm>
            <a:off x="3429000" y="4937760"/>
            <a:ext cx="2423160" cy="960120"/>
          </a:xfrm>
          <a:prstGeom prst="rect">
            <a:avLst/>
          </a:prstGeom>
          <a:noFill/>
          <a:ln/>
        </p:spPr>
        <p:txBody>
          <a:bodyPr wrap="square" lIns="0" tIns="0" rIns="0" bIns="0" rtlCol="0" anchor="t"/>
          <a:lstStyle/>
          <a:p>
            <a:pPr algn="l" indent="0" marL="0">
              <a:buNone/>
            </a:pPr>
            <a:r>
              <a:rPr lang="en-US" sz="1350" dirty="0">
                <a:solidFill>
                  <a:schemeClr val="tx1"/>
                </a:solidFill>
                <a:latin typeface="Calibri" pitchFamily="34" charset="0"/>
                <a:ea typeface="Calibri" pitchFamily="34" charset="-122"/>
                <a:cs typeface="Calibri" pitchFamily="34" charset="-120"/>
              </a:rPr>
              <a:t>Each incoming request runs on its own thread, so real bridges can hit /ingest together.</a:t>
            </a:r>
            <a:endParaRPr lang="en-US" sz="1350" dirty="0"/>
          </a:p>
        </p:txBody>
      </p:sp>
      <p:sp>
        <p:nvSpPr>
          <p:cNvPr id="29" name="where @Scheduled"/>
          <p:cNvSpPr/>
          <p:nvPr/>
        </p:nvSpPr>
        <p:spPr>
          <a:xfrm>
            <a:off x="6126480" y="4526280"/>
            <a:ext cx="2697480" cy="1371600"/>
          </a:xfrm>
          <a:prstGeom prst="roundRect">
            <a:avLst>
              <a:gd name="adj" fmla="val 8000"/>
            </a:avLst>
          </a:prstGeom>
          <a:solidFill>
            <a:schemeClr val="bg2"/>
          </a:solidFill>
          <a:ln/>
        </p:spPr>
      </p:sp>
      <p:sp>
        <p:nvSpPr>
          <p:cNvPr id="30" name="Text 27"/>
          <p:cNvSpPr txBox="1"/>
          <p:nvPr/>
        </p:nvSpPr>
        <p:spPr>
          <a:xfrm>
            <a:off x="6263640" y="4572000"/>
            <a:ext cx="2423160" cy="365760"/>
          </a:xfrm>
          <a:prstGeom prst="rect">
            <a:avLst/>
          </a:prstGeom>
          <a:noFill/>
          <a:ln/>
        </p:spPr>
        <p:txBody>
          <a:bodyPr wrap="square" lIns="0" tIns="0" rIns="0" bIns="0" rtlCol="0" anchor="t"/>
          <a:lstStyle/>
          <a:p>
            <a:pPr algn="l" indent="0" marL="0">
              <a:buNone/>
            </a:pPr>
            <a:r>
              <a:rPr lang="en-US" sz="1400" b="1" dirty="0">
                <a:solidFill>
                  <a:schemeClr val="accent4"/>
                </a:solidFill>
                <a:latin typeface="Courier New" pitchFamily="34" charset="0"/>
                <a:ea typeface="Courier New" pitchFamily="34" charset="-122"/>
                <a:cs typeface="Courier New" pitchFamily="34" charset="-120"/>
              </a:rPr>
              <a:t>@Scheduled</a:t>
            </a:r>
            <a:endParaRPr lang="en-US" sz="1400" dirty="0"/>
          </a:p>
        </p:txBody>
      </p:sp>
      <p:sp>
        <p:nvSpPr>
          <p:cNvPr id="31" name="Text 28"/>
          <p:cNvSpPr txBox="1"/>
          <p:nvPr/>
        </p:nvSpPr>
        <p:spPr>
          <a:xfrm>
            <a:off x="6263640" y="4937760"/>
            <a:ext cx="2423160" cy="960120"/>
          </a:xfrm>
          <a:prstGeom prst="rect">
            <a:avLst/>
          </a:prstGeom>
          <a:noFill/>
          <a:ln/>
        </p:spPr>
        <p:txBody>
          <a:bodyPr wrap="square" lIns="0" tIns="0" rIns="0" bIns="0" rtlCol="0" anchor="t"/>
          <a:lstStyle/>
          <a:p>
            <a:pPr algn="l" indent="0" marL="0">
              <a:buNone/>
            </a:pPr>
            <a:r>
              <a:rPr lang="en-US" sz="1350" dirty="0">
                <a:solidFill>
                  <a:schemeClr val="tx1"/>
                </a:solidFill>
                <a:latin typeface="Calibri" pitchFamily="34" charset="0"/>
                <a:ea typeface="Calibri" pitchFamily="34" charset="-122"/>
                <a:cs typeface="Calibri" pitchFamily="34" charset="-120"/>
              </a:rPr>
              <a:t>A background thread removes old fingerprints every 60 seconds.</a:t>
            </a:r>
            <a:endParaRPr lang="en-US" sz="1350" dirty="0"/>
          </a:p>
        </p:txBody>
      </p:sp>
      <p:sp>
        <p:nvSpPr>
          <p:cNvPr id="32" name="where The test"/>
          <p:cNvSpPr/>
          <p:nvPr/>
        </p:nvSpPr>
        <p:spPr>
          <a:xfrm>
            <a:off x="8961120" y="4526280"/>
            <a:ext cx="2697480" cy="1371600"/>
          </a:xfrm>
          <a:prstGeom prst="roundRect">
            <a:avLst>
              <a:gd name="adj" fmla="val 8000"/>
            </a:avLst>
          </a:prstGeom>
          <a:solidFill>
            <a:schemeClr val="bg2"/>
          </a:solidFill>
          <a:ln/>
        </p:spPr>
      </p:sp>
      <p:sp>
        <p:nvSpPr>
          <p:cNvPr id="33" name="Text 30"/>
          <p:cNvSpPr txBox="1"/>
          <p:nvPr/>
        </p:nvSpPr>
        <p:spPr>
          <a:xfrm>
            <a:off x="9098280" y="4572000"/>
            <a:ext cx="2423160" cy="365760"/>
          </a:xfrm>
          <a:prstGeom prst="rect">
            <a:avLst/>
          </a:prstGeom>
          <a:noFill/>
          <a:ln/>
        </p:spPr>
        <p:txBody>
          <a:bodyPr wrap="square" lIns="0" tIns="0" rIns="0" bIns="0" rtlCol="0" anchor="t"/>
          <a:lstStyle/>
          <a:p>
            <a:pPr algn="l" indent="0" marL="0">
              <a:buNone/>
            </a:pPr>
            <a:r>
              <a:rPr lang="en-US" sz="1400" b="1" dirty="0">
                <a:solidFill>
                  <a:schemeClr val="accent4"/>
                </a:solidFill>
                <a:latin typeface="Courier New" pitchFamily="34" charset="0"/>
                <a:ea typeface="Courier New" pitchFamily="34" charset="-122"/>
                <a:cs typeface="Courier New" pitchFamily="34" charset="-120"/>
              </a:rPr>
              <a:t>The test</a:t>
            </a:r>
            <a:endParaRPr lang="en-US" sz="1400" dirty="0"/>
          </a:p>
        </p:txBody>
      </p:sp>
      <p:sp>
        <p:nvSpPr>
          <p:cNvPr id="34" name="Text 31"/>
          <p:cNvSpPr txBox="1"/>
          <p:nvPr/>
        </p:nvSpPr>
        <p:spPr>
          <a:xfrm>
            <a:off x="9098280" y="4937760"/>
            <a:ext cx="2423160" cy="960120"/>
          </a:xfrm>
          <a:prstGeom prst="rect">
            <a:avLst/>
          </a:prstGeom>
          <a:noFill/>
          <a:ln/>
        </p:spPr>
        <p:txBody>
          <a:bodyPr wrap="square" lIns="0" tIns="0" rIns="0" bIns="0" rtlCol="0" anchor="t"/>
          <a:lstStyle/>
          <a:p>
            <a:pPr algn="l" indent="0" marL="0">
              <a:buNone/>
            </a:pPr>
            <a:r>
              <a:rPr lang="en-US" sz="1350" dirty="0">
                <a:solidFill>
                  <a:schemeClr val="tx1"/>
                </a:solidFill>
                <a:latin typeface="Calibri" pitchFamily="34" charset="0"/>
                <a:ea typeface="Calibri" pitchFamily="34" charset="-122"/>
                <a:cs typeface="Calibri" pitchFamily="34" charset="-120"/>
              </a:rPr>
              <a:t>ExecutorService + CountDownLatch start 3 threads together.</a:t>
            </a:r>
            <a:endParaRPr lang="en-US" sz="135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JDBC: talking to the database directly</a:t>
            </a:r>
            <a:endParaRPr lang="en-US" sz="3400" dirty="0"/>
          </a:p>
        </p:txBody>
      </p:sp>
      <p:sp>
        <p:nvSpPr>
          <p:cNvPr id="4" name="two ways"/>
          <p:cNvSpPr/>
          <p:nvPr/>
        </p:nvSpPr>
        <p:spPr>
          <a:xfrm>
            <a:off x="457200" y="1280160"/>
            <a:ext cx="11274552" cy="640080"/>
          </a:xfrm>
          <a:prstGeom prst="roundRect">
            <a:avLst>
              <a:gd name="adj" fmla="val 17143"/>
            </a:avLst>
          </a:prstGeom>
          <a:solidFill>
            <a:srgbClr val="E1F1E7"/>
          </a:solidFill>
          <a:ln/>
        </p:spPr>
      </p:sp>
      <p:sp>
        <p:nvSpPr>
          <p:cNvPr id="5" name="Text 2"/>
          <p:cNvSpPr txBox="1"/>
          <p:nvPr/>
        </p:nvSpPr>
        <p:spPr>
          <a:xfrm>
            <a:off x="640080" y="1280160"/>
            <a:ext cx="10881360" cy="64008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Two ways in: JPA writes the settlement. Our own JDBC class (LedgerJdbcDao) reads reports and exports.</a:t>
            </a:r>
            <a:endParaRPr lang="en-US" sz="1600" dirty="0"/>
          </a:p>
        </p:txBody>
      </p:sp>
      <p:sp>
        <p:nvSpPr>
          <p:cNvPr id="6" name="node DataSource (connection pool)"/>
          <p:cNvSpPr/>
          <p:nvPr/>
        </p:nvSpPr>
        <p:spPr>
          <a:xfrm>
            <a:off x="457200" y="2103120"/>
            <a:ext cx="1920240" cy="868680"/>
          </a:xfrm>
          <a:prstGeom prst="roundRect">
            <a:avLst>
              <a:gd name="adj" fmla="val 10526"/>
            </a:avLst>
          </a:prstGeom>
          <a:solidFill>
            <a:schemeClr val="accent5"/>
          </a:solidFill>
          <a:ln/>
        </p:spPr>
      </p:sp>
      <p:sp>
        <p:nvSpPr>
          <p:cNvPr id="7" name="Text 4"/>
          <p:cNvSpPr txBox="1"/>
          <p:nvPr/>
        </p:nvSpPr>
        <p:spPr>
          <a:xfrm>
            <a:off x="530352" y="2103120"/>
            <a:ext cx="1773936"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DataSource</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(connection pool)</a:t>
            </a:r>
            <a:endParaRPr lang="en-US" sz="1400" dirty="0"/>
          </a:p>
        </p:txBody>
      </p:sp>
      <p:sp>
        <p:nvSpPr>
          <p:cNvPr id="8" name="arrow"/>
          <p:cNvSpPr/>
          <p:nvPr/>
        </p:nvSpPr>
        <p:spPr>
          <a:xfrm>
            <a:off x="2404872" y="2468880"/>
            <a:ext cx="310896" cy="0"/>
          </a:xfrm>
          <a:prstGeom prst="line">
            <a:avLst/>
          </a:prstGeom>
          <a:noFill/>
          <a:ln w="28575">
            <a:solidFill>
              <a:schemeClr val="accent5"/>
            </a:solidFill>
            <a:prstDash val="solid"/>
            <a:tailEnd type="triangle"/>
          </a:ln>
        </p:spPr>
      </p:sp>
      <p:sp>
        <p:nvSpPr>
          <p:cNvPr id="9" name="node Connection"/>
          <p:cNvSpPr/>
          <p:nvPr/>
        </p:nvSpPr>
        <p:spPr>
          <a:xfrm>
            <a:off x="2743200" y="2103120"/>
            <a:ext cx="1920240" cy="868680"/>
          </a:xfrm>
          <a:prstGeom prst="roundRect">
            <a:avLst>
              <a:gd name="adj" fmla="val 10526"/>
            </a:avLst>
          </a:prstGeom>
          <a:solidFill>
            <a:schemeClr val="accent4"/>
          </a:solidFill>
          <a:ln/>
        </p:spPr>
      </p:sp>
      <p:sp>
        <p:nvSpPr>
          <p:cNvPr id="10" name="Text 7"/>
          <p:cNvSpPr txBox="1"/>
          <p:nvPr/>
        </p:nvSpPr>
        <p:spPr>
          <a:xfrm>
            <a:off x="2816352" y="2103120"/>
            <a:ext cx="1773936"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Connection</a:t>
            </a:r>
            <a:endParaRPr lang="en-US" sz="1400" dirty="0"/>
          </a:p>
        </p:txBody>
      </p:sp>
      <p:sp>
        <p:nvSpPr>
          <p:cNvPr id="11" name="arrow"/>
          <p:cNvSpPr/>
          <p:nvPr/>
        </p:nvSpPr>
        <p:spPr>
          <a:xfrm>
            <a:off x="4690872" y="2468880"/>
            <a:ext cx="310896" cy="0"/>
          </a:xfrm>
          <a:prstGeom prst="line">
            <a:avLst/>
          </a:prstGeom>
          <a:noFill/>
          <a:ln w="28575">
            <a:solidFill>
              <a:schemeClr val="accent5"/>
            </a:solidFill>
            <a:prstDash val="solid"/>
            <a:tailEnd type="triangle"/>
          </a:ln>
        </p:spPr>
      </p:sp>
      <p:sp>
        <p:nvSpPr>
          <p:cNvPr id="12" name="node PreparedStatement with ? values"/>
          <p:cNvSpPr/>
          <p:nvPr/>
        </p:nvSpPr>
        <p:spPr>
          <a:xfrm>
            <a:off x="5029200" y="2103120"/>
            <a:ext cx="1920240" cy="868680"/>
          </a:xfrm>
          <a:prstGeom prst="roundRect">
            <a:avLst>
              <a:gd name="adj" fmla="val 10526"/>
            </a:avLst>
          </a:prstGeom>
          <a:solidFill>
            <a:schemeClr val="accent1"/>
          </a:solidFill>
          <a:ln/>
        </p:spPr>
      </p:sp>
      <p:sp>
        <p:nvSpPr>
          <p:cNvPr id="13" name="Text 10"/>
          <p:cNvSpPr txBox="1"/>
          <p:nvPr/>
        </p:nvSpPr>
        <p:spPr>
          <a:xfrm>
            <a:off x="5102352" y="2103120"/>
            <a:ext cx="1773936"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PreparedStatement</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with ? values</a:t>
            </a:r>
            <a:endParaRPr lang="en-US" sz="1400" dirty="0"/>
          </a:p>
        </p:txBody>
      </p:sp>
      <p:sp>
        <p:nvSpPr>
          <p:cNvPr id="14" name="arrow"/>
          <p:cNvSpPr/>
          <p:nvPr/>
        </p:nvSpPr>
        <p:spPr>
          <a:xfrm>
            <a:off x="6976872" y="2468880"/>
            <a:ext cx="310896" cy="0"/>
          </a:xfrm>
          <a:prstGeom prst="line">
            <a:avLst/>
          </a:prstGeom>
          <a:noFill/>
          <a:ln w="28575">
            <a:solidFill>
              <a:schemeClr val="accent5"/>
            </a:solidFill>
            <a:prstDash val="solid"/>
            <a:tailEnd type="triangle"/>
          </a:ln>
        </p:spPr>
      </p:sp>
      <p:sp>
        <p:nvSpPr>
          <p:cNvPr id="15" name="node ResultSet rs.next()"/>
          <p:cNvSpPr/>
          <p:nvPr/>
        </p:nvSpPr>
        <p:spPr>
          <a:xfrm>
            <a:off x="7315200" y="2103120"/>
            <a:ext cx="1920240" cy="868680"/>
          </a:xfrm>
          <a:prstGeom prst="roundRect">
            <a:avLst>
              <a:gd name="adj" fmla="val 10526"/>
            </a:avLst>
          </a:prstGeom>
          <a:solidFill>
            <a:schemeClr val="accent2"/>
          </a:solidFill>
          <a:ln/>
        </p:spPr>
      </p:sp>
      <p:sp>
        <p:nvSpPr>
          <p:cNvPr id="16" name="Text 13"/>
          <p:cNvSpPr txBox="1"/>
          <p:nvPr/>
        </p:nvSpPr>
        <p:spPr>
          <a:xfrm>
            <a:off x="7388352" y="2103120"/>
            <a:ext cx="1773936" cy="86868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ResultSet</a:t>
            </a:r>
            <a:endParaRPr lang="en-US" sz="1400" dirty="0"/>
          </a:p>
          <a:p>
            <a:pPr algn="ctr" indent="0" marL="0">
              <a:buNone/>
            </a:pPr>
            <a:r>
              <a:rPr lang="en-US" sz="1400" b="1" dirty="0">
                <a:solidFill>
                  <a:schemeClr val="tx1"/>
                </a:solidFill>
                <a:latin typeface="Calibri" pitchFamily="34" charset="0"/>
                <a:ea typeface="Calibri" pitchFamily="34" charset="-122"/>
                <a:cs typeface="Calibri" pitchFamily="34" charset="-120"/>
              </a:rPr>
              <a:t>rs.next()</a:t>
            </a:r>
            <a:endParaRPr lang="en-US" sz="1400" dirty="0"/>
          </a:p>
        </p:txBody>
      </p:sp>
      <p:sp>
        <p:nvSpPr>
          <p:cNvPr id="17" name="arrow"/>
          <p:cNvSpPr/>
          <p:nvPr/>
        </p:nvSpPr>
        <p:spPr>
          <a:xfrm>
            <a:off x="9262872" y="2468880"/>
            <a:ext cx="310896" cy="0"/>
          </a:xfrm>
          <a:prstGeom prst="line">
            <a:avLst/>
          </a:prstGeom>
          <a:noFill/>
          <a:ln w="28575">
            <a:solidFill>
              <a:schemeClr val="accent5"/>
            </a:solidFill>
            <a:prstDash val="solid"/>
            <a:tailEnd type="triangle"/>
          </a:ln>
        </p:spPr>
      </p:sp>
      <p:sp>
        <p:nvSpPr>
          <p:cNvPr id="18" name="node Close (try-with-resources)"/>
          <p:cNvSpPr/>
          <p:nvPr/>
        </p:nvSpPr>
        <p:spPr>
          <a:xfrm>
            <a:off x="9601200" y="2103120"/>
            <a:ext cx="1920240" cy="868680"/>
          </a:xfrm>
          <a:prstGeom prst="roundRect">
            <a:avLst>
              <a:gd name="adj" fmla="val 10526"/>
            </a:avLst>
          </a:prstGeom>
          <a:solidFill>
            <a:schemeClr val="accent6"/>
          </a:solidFill>
          <a:ln/>
        </p:spPr>
      </p:sp>
      <p:sp>
        <p:nvSpPr>
          <p:cNvPr id="19" name="Text 16"/>
          <p:cNvSpPr txBox="1"/>
          <p:nvPr/>
        </p:nvSpPr>
        <p:spPr>
          <a:xfrm>
            <a:off x="9674352" y="2103120"/>
            <a:ext cx="1773936"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Close</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(try-with-resources)</a:t>
            </a:r>
            <a:endParaRPr lang="en-US" sz="1400" dirty="0"/>
          </a:p>
        </p:txBody>
      </p:sp>
      <p:sp>
        <p:nvSpPr>
          <p:cNvPr id="20" name="code block"/>
          <p:cNvSpPr/>
          <p:nvPr/>
        </p:nvSpPr>
        <p:spPr>
          <a:xfrm>
            <a:off x="457200" y="3200400"/>
            <a:ext cx="5541264" cy="1965960"/>
          </a:xfrm>
          <a:prstGeom prst="roundRect">
            <a:avLst>
              <a:gd name="adj" fmla="val 4651"/>
            </a:avLst>
          </a:prstGeom>
          <a:solidFill>
            <a:schemeClr val="tx1"/>
          </a:solidFill>
          <a:ln/>
        </p:spPr>
      </p:sp>
      <p:sp>
        <p:nvSpPr>
          <p:cNvPr id="21" name="Text 18"/>
          <p:cNvSpPr txBox="1"/>
          <p:nvPr/>
        </p:nvSpPr>
        <p:spPr>
          <a:xfrm>
            <a:off x="640080" y="3337560"/>
            <a:ext cx="5175504" cy="1691640"/>
          </a:xfrm>
          <a:prstGeom prst="rect">
            <a:avLst/>
          </a:prstGeom>
          <a:noFill/>
          <a:ln/>
        </p:spPr>
        <p:txBody>
          <a:bodyPr wrap="square" lIns="0" tIns="0" rIns="0" bIns="0" rtlCol="0" anchor="ctr"/>
          <a:lstStyle/>
          <a:p>
            <a:pPr algn="l" indent="0" marL="0">
              <a:buNone/>
            </a:pPr>
            <a:r>
              <a:rPr lang="en-US" sz="1250" dirty="0">
                <a:solidFill>
                  <a:schemeClr val="bg1"/>
                </a:solidFill>
                <a:latin typeface="Courier New" pitchFamily="34" charset="0"/>
                <a:ea typeface="Courier New" pitchFamily="34" charset="-122"/>
                <a:cs typeface="Courier New" pitchFamily="34" charset="-120"/>
              </a:rPr>
              <a:t>try (Connection con = dataSource.getConnection();</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     PreparedStatement ps =</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         con.prepareStatement(SQL_BY_SENDER)) {</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   ps.setString(1, senderVpa);</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   ps.setInt(2, limit);</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   try (ResultSet rs = ps.executeQuery()) { ... }</a:t>
            </a:r>
            <a:endParaRPr lang="en-US" sz="1250" dirty="0"/>
          </a:p>
          <a:p>
            <a:pPr algn="l"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p:txBody>
      </p:sp>
      <p:sp>
        <p:nvSpPr>
          <p:cNvPr id="22" name="Text 19"/>
          <p:cNvSpPr txBox="1"/>
          <p:nvPr/>
        </p:nvSpPr>
        <p:spPr>
          <a:xfrm>
            <a:off x="6190488" y="3154680"/>
            <a:ext cx="5486400" cy="365760"/>
          </a:xfrm>
          <a:prstGeom prst="rect">
            <a:avLst/>
          </a:prstGeom>
          <a:noFill/>
          <a:ln/>
        </p:spPr>
        <p:txBody>
          <a:bodyPr wrap="square" lIns="0" tIns="0" rIns="0" bIns="0" rtlCol="0" anchor="t"/>
          <a:lstStyle/>
          <a:p>
            <a:pPr algn="l" indent="0" marL="0">
              <a:buNone/>
            </a:pPr>
            <a:r>
              <a:rPr lang="en-US" sz="1800" b="1" dirty="0">
                <a:solidFill>
                  <a:schemeClr val="tx2"/>
                </a:solidFill>
                <a:latin typeface="Calibri" pitchFamily="34" charset="0"/>
                <a:ea typeface="Calibri" pitchFamily="34" charset="-122"/>
                <a:cs typeface="Calibri" pitchFamily="34" charset="-120"/>
              </a:rPr>
              <a:t>What LedgerJdbcDao offers</a:t>
            </a:r>
            <a:endParaRPr lang="en-US" sz="1800" dirty="0"/>
          </a:p>
        </p:txBody>
      </p:sp>
      <p:sp>
        <p:nvSpPr>
          <p:cNvPr id="23" name="Text 20"/>
          <p:cNvSpPr txBox="1"/>
          <p:nvPr/>
        </p:nvSpPr>
        <p:spPr>
          <a:xfrm>
            <a:off x="6190488" y="3566160"/>
            <a:ext cx="5541264" cy="1600200"/>
          </a:xfrm>
          <a:prstGeom prst="rect">
            <a:avLst/>
          </a:prstGeom>
          <a:noFill/>
          <a:ln/>
        </p:spPr>
        <p:txBody>
          <a:bodyPr wrap="square" lIns="0" tIns="0" rIns="0" bIns="0" rtlCol="0" anchor="t"/>
          <a:lstStyle/>
          <a:p>
            <a:pPr algn="l" indent="0" marL="0">
              <a:spcAft>
                <a:spcPts val="400"/>
              </a:spcAft>
              <a:buNone/>
            </a:pPr>
            <a:r>
              <a:rPr lang="en-US" sz="1450" b="1" dirty="0">
                <a:solidFill>
                  <a:schemeClr val="accent4"/>
                </a:solidFill>
                <a:latin typeface="Courier New" pitchFamily="34" charset="0"/>
                <a:ea typeface="Courier New" pitchFamily="34" charset="-122"/>
                <a:cs typeface="Courier New" pitchFamily="34" charset="-120"/>
              </a:rPr>
              <a:t>summary()</a:t>
            </a:r>
            <a:pPr algn="l" indent="0" marL="0">
              <a:spcAft>
                <a:spcPts val="400"/>
              </a:spcAft>
              <a:buNone/>
            </a:pPr>
            <a:r>
              <a:rPr lang="en-US" sz="1450" dirty="0">
                <a:solidFill>
                  <a:schemeClr val="tx1"/>
                </a:solidFill>
                <a:latin typeface="Calibri" pitchFamily="34" charset="0"/>
                <a:ea typeface="Calibri" pitchFamily="34" charset="-122"/>
                <a:cs typeface="Calibri" pitchFamily="34" charset="-120"/>
              </a:rPr>
              <a:t>  totals with GROUP BY</a:t>
            </a:r>
            <a:endParaRPr lang="en-US" sz="1450" dirty="0"/>
          </a:p>
          <a:p>
            <a:pPr algn="l" indent="0" marL="0">
              <a:spcAft>
                <a:spcPts val="400"/>
              </a:spcAft>
              <a:buNone/>
            </a:pPr>
            <a:r>
              <a:rPr lang="en-US" sz="1450" b="1" dirty="0">
                <a:solidFill>
                  <a:schemeClr val="accent4"/>
                </a:solidFill>
                <a:latin typeface="Courier New" pitchFamily="34" charset="0"/>
                <a:ea typeface="Courier New" pitchFamily="34" charset="-122"/>
                <a:cs typeface="Courier New" pitchFamily="34" charset="-120"/>
              </a:rPr>
              <a:t>findBySender()</a:t>
            </a:r>
            <a:pPr algn="l" indent="0" marL="0">
              <a:spcAft>
                <a:spcPts val="400"/>
              </a:spcAft>
              <a:buNone/>
            </a:pPr>
            <a:r>
              <a:rPr lang="en-US" sz="1450" dirty="0">
                <a:solidFill>
                  <a:schemeClr val="tx1"/>
                </a:solidFill>
                <a:latin typeface="Calibri" pitchFamily="34" charset="0"/>
                <a:ea typeface="Calibri" pitchFamily="34" charset="-122"/>
                <a:cs typeface="Calibri" pitchFamily="34" charset="-120"/>
              </a:rPr>
              <a:t>  rows for one VPA</a:t>
            </a:r>
            <a:endParaRPr lang="en-US" sz="1450" dirty="0"/>
          </a:p>
          <a:p>
            <a:pPr algn="l" indent="0" marL="0">
              <a:spcAft>
                <a:spcPts val="400"/>
              </a:spcAft>
              <a:buNone/>
            </a:pPr>
            <a:r>
              <a:rPr lang="en-US" sz="1450" b="1" dirty="0">
                <a:solidFill>
                  <a:schemeClr val="accent4"/>
                </a:solidFill>
                <a:latin typeface="Courier New" pitchFamily="34" charset="0"/>
                <a:ea typeface="Courier New" pitchFamily="34" charset="-122"/>
                <a:cs typeface="Courier New" pitchFamily="34" charset="-120"/>
              </a:rPr>
              <a:t>forEachTransaction()</a:t>
            </a:r>
            <a:pPr algn="l" indent="0" marL="0">
              <a:spcAft>
                <a:spcPts val="400"/>
              </a:spcAft>
              <a:buNone/>
            </a:pPr>
            <a:r>
              <a:rPr lang="en-US" sz="1450" dirty="0">
                <a:solidFill>
                  <a:schemeClr val="tx1"/>
                </a:solidFill>
                <a:latin typeface="Calibri" pitchFamily="34" charset="0"/>
                <a:ea typeface="Calibri" pitchFamily="34" charset="-122"/>
                <a:cs typeface="Calibri" pitchFamily="34" charset="-120"/>
              </a:rPr>
              <a:t>  streams every row</a:t>
            </a:r>
            <a:endParaRPr lang="en-US" sz="1450" dirty="0"/>
          </a:p>
          <a:p>
            <a:pPr algn="l" indent="0" marL="0">
              <a:spcAft>
                <a:spcPts val="400"/>
              </a:spcAft>
              <a:buNone/>
            </a:pPr>
            <a:r>
              <a:rPr lang="en-US" sz="1450" b="1" dirty="0">
                <a:solidFill>
                  <a:schemeClr val="accent4"/>
                </a:solidFill>
                <a:latin typeface="Courier New" pitchFamily="34" charset="0"/>
                <a:ea typeface="Courier New" pitchFamily="34" charset="-122"/>
                <a:cs typeface="Courier New" pitchFamily="34" charset="-120"/>
              </a:rPr>
              <a:t>databaseInfo()</a:t>
            </a:r>
            <a:pPr algn="l" indent="0" marL="0">
              <a:spcAft>
                <a:spcPts val="400"/>
              </a:spcAft>
              <a:buNone/>
            </a:pPr>
            <a:r>
              <a:rPr lang="en-US" sz="1450" dirty="0">
                <a:solidFill>
                  <a:schemeClr val="tx1"/>
                </a:solidFill>
                <a:latin typeface="Calibri" pitchFamily="34" charset="0"/>
                <a:ea typeface="Calibri" pitchFamily="34" charset="-122"/>
                <a:cs typeface="Calibri" pitchFamily="34" charset="-120"/>
              </a:rPr>
              <a:t>  which database is this?</a:t>
            </a:r>
            <a:endParaRPr lang="en-US" sz="1450" dirty="0"/>
          </a:p>
        </p:txBody>
      </p:sp>
      <p:sp>
        <p:nvSpPr>
          <p:cNvPr id="24" name="jdbc rules"/>
          <p:cNvSpPr/>
          <p:nvPr/>
        </p:nvSpPr>
        <p:spPr>
          <a:xfrm>
            <a:off x="457200" y="5349240"/>
            <a:ext cx="11274552" cy="777240"/>
          </a:xfrm>
          <a:prstGeom prst="roundRect">
            <a:avLst>
              <a:gd name="adj" fmla="val 14118"/>
            </a:avLst>
          </a:prstGeom>
          <a:solidFill>
            <a:srgbClr val="FDF1DC"/>
          </a:solidFill>
          <a:ln/>
        </p:spPr>
      </p:sp>
      <p:sp>
        <p:nvSpPr>
          <p:cNvPr id="25" name="Text 22"/>
          <p:cNvSpPr txBox="1"/>
          <p:nvPr/>
        </p:nvSpPr>
        <p:spPr>
          <a:xfrm>
            <a:off x="640080" y="5349240"/>
            <a:ext cx="10881360" cy="777240"/>
          </a:xfrm>
          <a:prstGeom prst="rect">
            <a:avLst/>
          </a:prstGeom>
          <a:noFill/>
          <a:ln/>
        </p:spPr>
        <p:txBody>
          <a:bodyPr wrap="square" lIns="0" tIns="0" rIns="0" bIns="0" rtlCol="0" anchor="ctr"/>
          <a:lstStyle/>
          <a:p>
            <a:pPr algn="l" indent="0" marL="0">
              <a:buNone/>
            </a:pPr>
            <a:r>
              <a:rPr lang="en-US" sz="1450" dirty="0">
                <a:solidFill>
                  <a:schemeClr val="tx2"/>
                </a:solidFill>
                <a:latin typeface="Calibri" pitchFamily="34" charset="0"/>
                <a:ea typeface="Calibri" pitchFamily="34" charset="-122"/>
                <a:cs typeface="Calibri" pitchFamily="34" charset="-120"/>
              </a:rPr>
              <a:t>Safety: ? values stop SQL injection. SQLException is wrapped in DataAccessLayerException. The same class works on H2 and MySQL because it reads the tables JPA created.</a:t>
            </a:r>
            <a:endParaRPr lang="en-US" sz="145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Database integration: H2 or MySQL</a:t>
            </a:r>
            <a:endParaRPr lang="en-US" sz="3400" dirty="0"/>
          </a:p>
        </p:txBody>
      </p:sp>
      <p:sp>
        <p:nvSpPr>
          <p:cNvPr id="4" name="two databases"/>
          <p:cNvSpPr/>
          <p:nvPr/>
        </p:nvSpPr>
        <p:spPr>
          <a:xfrm>
            <a:off x="457200" y="1280160"/>
            <a:ext cx="11274552" cy="685800"/>
          </a:xfrm>
          <a:prstGeom prst="roundRect">
            <a:avLst>
              <a:gd name="adj" fmla="val 16000"/>
            </a:avLst>
          </a:prstGeom>
          <a:solidFill>
            <a:srgbClr val="E1F1E7"/>
          </a:solidFill>
          <a:ln/>
        </p:spPr>
      </p:sp>
      <p:sp>
        <p:nvSpPr>
          <p:cNvPr id="5" name="Text 2"/>
          <p:cNvSpPr txBox="1"/>
          <p:nvPr/>
        </p:nvSpPr>
        <p:spPr>
          <a:xfrm>
            <a:off x="640080" y="1280160"/>
            <a:ext cx="10881360" cy="68580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Default: H2 in memory, zero setup.   Permanent: MySQL, switched on with the mysql profile.</a:t>
            </a:r>
            <a:endParaRPr lang="en-US" sz="1600" dirty="0"/>
          </a:p>
        </p:txBody>
      </p:sp>
      <p:sp>
        <p:nvSpPr>
          <p:cNvPr id="6" name="accounts table"/>
          <p:cNvSpPr/>
          <p:nvPr/>
        </p:nvSpPr>
        <p:spPr>
          <a:xfrm>
            <a:off x="457200" y="2103120"/>
            <a:ext cx="4846320" cy="2926080"/>
          </a:xfrm>
          <a:prstGeom prst="roundRect">
            <a:avLst>
              <a:gd name="adj" fmla="val 3750"/>
            </a:avLst>
          </a:prstGeom>
          <a:solidFill>
            <a:schemeClr val="bg2"/>
          </a:solidFill>
          <a:ln/>
        </p:spPr>
      </p:sp>
      <p:sp>
        <p:nvSpPr>
          <p:cNvPr id="7" name="Text 4"/>
          <p:cNvSpPr txBox="1"/>
          <p:nvPr/>
        </p:nvSpPr>
        <p:spPr>
          <a:xfrm>
            <a:off x="640080" y="2176272"/>
            <a:ext cx="4480560" cy="365760"/>
          </a:xfrm>
          <a:prstGeom prst="rect">
            <a:avLst/>
          </a:prstGeom>
          <a:noFill/>
          <a:ln/>
        </p:spPr>
        <p:txBody>
          <a:bodyPr wrap="square" lIns="0" tIns="0" rIns="0" bIns="0" rtlCol="0" anchor="t"/>
          <a:lstStyle/>
          <a:p>
            <a:pPr algn="l" indent="0" marL="0">
              <a:buNone/>
            </a:pPr>
            <a:r>
              <a:rPr lang="en-US" sz="1800" b="1" dirty="0">
                <a:solidFill>
                  <a:schemeClr val="accent4"/>
                </a:solidFill>
                <a:latin typeface="Courier New" pitchFamily="34" charset="0"/>
                <a:ea typeface="Courier New" pitchFamily="34" charset="-122"/>
                <a:cs typeface="Courier New" pitchFamily="34" charset="-120"/>
              </a:rPr>
              <a:t>accounts</a:t>
            </a:r>
            <a:endParaRPr lang="en-US" sz="1800" dirty="0"/>
          </a:p>
        </p:txBody>
      </p:sp>
      <p:sp>
        <p:nvSpPr>
          <p:cNvPr id="8" name="Text 5"/>
          <p:cNvSpPr txBox="1"/>
          <p:nvPr/>
        </p:nvSpPr>
        <p:spPr>
          <a:xfrm>
            <a:off x="640080" y="2606040"/>
            <a:ext cx="4480560" cy="1554480"/>
          </a:xfrm>
          <a:prstGeom prst="rect">
            <a:avLst/>
          </a:prstGeom>
          <a:noFill/>
          <a:ln/>
        </p:spPr>
        <p:txBody>
          <a:bodyPr wrap="square" lIns="0" tIns="0" rIns="0" bIns="0" rtlCol="0" anchor="t"/>
          <a:lstStyle/>
          <a:p>
            <a:pPr algn="l" indent="0" marL="0">
              <a:spcAft>
                <a:spcPts val="400"/>
              </a:spcAft>
              <a:buNone/>
            </a:pPr>
            <a:r>
              <a:rPr lang="en-US" sz="1400" b="1" dirty="0">
                <a:solidFill>
                  <a:schemeClr val="accent4"/>
                </a:solidFill>
                <a:latin typeface="Courier New" pitchFamily="34" charset="0"/>
                <a:ea typeface="Courier New" pitchFamily="34" charset="-122"/>
                <a:cs typeface="Courier New" pitchFamily="34" charset="-120"/>
              </a:rPr>
              <a:t>vpa</a:t>
            </a:r>
            <a:pPr algn="l" indent="0" marL="0">
              <a:spcAft>
                <a:spcPts val="400"/>
              </a:spcAft>
              <a:buNone/>
            </a:pPr>
            <a:r>
              <a:rPr lang="en-US" sz="1400" dirty="0">
                <a:solidFill>
                  <a:schemeClr val="tx1"/>
                </a:solidFill>
                <a:latin typeface="Calibri" pitchFamily="34" charset="0"/>
                <a:ea typeface="Calibri" pitchFamily="34" charset="-122"/>
                <a:cs typeface="Calibri" pitchFamily="34" charset="-120"/>
              </a:rPr>
              <a:t>  main ID, like alice@demo</a:t>
            </a:r>
            <a:endParaRPr lang="en-US" sz="1400" dirty="0"/>
          </a:p>
          <a:p>
            <a:pPr algn="l" indent="0" marL="0">
              <a:spcAft>
                <a:spcPts val="400"/>
              </a:spcAft>
              <a:buNone/>
            </a:pPr>
            <a:r>
              <a:rPr lang="en-US" sz="1400" b="1" dirty="0">
                <a:solidFill>
                  <a:schemeClr val="accent4"/>
                </a:solidFill>
                <a:latin typeface="Courier New" pitchFamily="34" charset="0"/>
                <a:ea typeface="Courier New" pitchFamily="34" charset="-122"/>
                <a:cs typeface="Courier New" pitchFamily="34" charset="-120"/>
              </a:rPr>
              <a:t>holderName</a:t>
            </a:r>
            <a:pPr algn="l" indent="0" marL="0">
              <a:spcAft>
                <a:spcPts val="400"/>
              </a:spcAft>
              <a:buNone/>
            </a:pPr>
            <a:r>
              <a:rPr lang="en-US" sz="1400" dirty="0">
                <a:solidFill>
                  <a:schemeClr val="tx1"/>
                </a:solidFill>
                <a:latin typeface="Calibri" pitchFamily="34" charset="0"/>
                <a:ea typeface="Calibri" pitchFamily="34" charset="-122"/>
                <a:cs typeface="Calibri" pitchFamily="34" charset="-120"/>
              </a:rPr>
              <a:t>  who owns it</a:t>
            </a:r>
            <a:endParaRPr lang="en-US" sz="1400" dirty="0"/>
          </a:p>
          <a:p>
            <a:pPr algn="l" indent="0" marL="0">
              <a:spcAft>
                <a:spcPts val="400"/>
              </a:spcAft>
              <a:buNone/>
            </a:pPr>
            <a:r>
              <a:rPr lang="en-US" sz="1400" b="1" dirty="0">
                <a:solidFill>
                  <a:schemeClr val="accent4"/>
                </a:solidFill>
                <a:latin typeface="Courier New" pitchFamily="34" charset="0"/>
                <a:ea typeface="Courier New" pitchFamily="34" charset="-122"/>
                <a:cs typeface="Courier New" pitchFamily="34" charset="-120"/>
              </a:rPr>
              <a:t>balance</a:t>
            </a:r>
            <a:pPr algn="l" indent="0" marL="0">
              <a:spcAft>
                <a:spcPts val="400"/>
              </a:spcAft>
              <a:buNone/>
            </a:pPr>
            <a:r>
              <a:rPr lang="en-US" sz="1400" dirty="0">
                <a:solidFill>
                  <a:schemeClr val="tx1"/>
                </a:solidFill>
                <a:latin typeface="Calibri" pitchFamily="34" charset="0"/>
                <a:ea typeface="Calibri" pitchFamily="34" charset="-122"/>
                <a:cs typeface="Calibri" pitchFamily="34" charset="-120"/>
              </a:rPr>
              <a:t>  money, exact decimal</a:t>
            </a:r>
            <a:endParaRPr lang="en-US" sz="1400" dirty="0"/>
          </a:p>
          <a:p>
            <a:pPr algn="l" indent="0" marL="0">
              <a:spcAft>
                <a:spcPts val="400"/>
              </a:spcAft>
              <a:buNone/>
            </a:pPr>
            <a:r>
              <a:rPr lang="en-US" sz="1400" b="1" dirty="0">
                <a:solidFill>
                  <a:schemeClr val="accent4"/>
                </a:solidFill>
                <a:latin typeface="Courier New" pitchFamily="34" charset="0"/>
                <a:ea typeface="Courier New" pitchFamily="34" charset="-122"/>
                <a:cs typeface="Courier New" pitchFamily="34" charset="-120"/>
              </a:rPr>
              <a:t>version</a:t>
            </a:r>
            <a:pPr algn="l" indent="0" marL="0">
              <a:spcAft>
                <a:spcPts val="400"/>
              </a:spcAft>
              <a:buNone/>
            </a:pPr>
            <a:r>
              <a:rPr lang="en-US" sz="1400" dirty="0">
                <a:solidFill>
                  <a:schemeClr val="tx1"/>
                </a:solidFill>
                <a:latin typeface="Calibri" pitchFamily="34" charset="0"/>
                <a:ea typeface="Calibri" pitchFamily="34" charset="-122"/>
                <a:cs typeface="Calibri" pitchFamily="34" charset="-120"/>
              </a:rPr>
              <a:t>  catches two updates at once</a:t>
            </a:r>
            <a:endParaRPr lang="en-US" sz="1400" dirty="0"/>
          </a:p>
        </p:txBody>
      </p:sp>
      <p:sp>
        <p:nvSpPr>
          <p:cNvPr id="9" name="Text 6"/>
          <p:cNvSpPr txBox="1"/>
          <p:nvPr/>
        </p:nvSpPr>
        <p:spPr>
          <a:xfrm>
            <a:off x="640080" y="4206240"/>
            <a:ext cx="4480560" cy="731520"/>
          </a:xfrm>
          <a:prstGeom prst="rect">
            <a:avLst/>
          </a:prstGeom>
          <a:noFill/>
          <a:ln/>
        </p:spPr>
        <p:txBody>
          <a:bodyPr wrap="square" lIns="0" tIns="0" rIns="0" bIns="0" rtlCol="0" anchor="t"/>
          <a:lstStyle/>
          <a:p>
            <a:pPr algn="l" indent="0" marL="0">
              <a:buNone/>
            </a:pPr>
            <a:r>
              <a:rPr lang="en-US" sz="1400" i="1" dirty="0">
                <a:solidFill>
                  <a:schemeClr val="accent5"/>
                </a:solidFill>
                <a:latin typeface="Calibri" pitchFamily="34" charset="0"/>
                <a:ea typeface="Calibri" pitchFamily="34" charset="-122"/>
                <a:cs typeface="Calibri" pitchFamily="34" charset="-120"/>
              </a:rPr>
              <a:t>4 demo accounts: alice ₹5000, bob ₹1000, carol ₹2500, dave ₹500</a:t>
            </a:r>
            <a:endParaRPr lang="en-US" sz="1400" dirty="0"/>
          </a:p>
        </p:txBody>
      </p:sp>
      <p:sp>
        <p:nvSpPr>
          <p:cNvPr id="10" name="transactions table"/>
          <p:cNvSpPr/>
          <p:nvPr/>
        </p:nvSpPr>
        <p:spPr>
          <a:xfrm>
            <a:off x="5513832" y="2103120"/>
            <a:ext cx="6217920" cy="2926080"/>
          </a:xfrm>
          <a:prstGeom prst="roundRect">
            <a:avLst>
              <a:gd name="adj" fmla="val 3750"/>
            </a:avLst>
          </a:prstGeom>
          <a:solidFill>
            <a:schemeClr val="bg2"/>
          </a:solidFill>
          <a:ln/>
        </p:spPr>
      </p:sp>
      <p:sp>
        <p:nvSpPr>
          <p:cNvPr id="11" name="Text 8"/>
          <p:cNvSpPr txBox="1"/>
          <p:nvPr/>
        </p:nvSpPr>
        <p:spPr>
          <a:xfrm>
            <a:off x="5696712" y="2176272"/>
            <a:ext cx="5852160" cy="365760"/>
          </a:xfrm>
          <a:prstGeom prst="rect">
            <a:avLst/>
          </a:prstGeom>
          <a:noFill/>
          <a:ln/>
        </p:spPr>
        <p:txBody>
          <a:bodyPr wrap="square" lIns="0" tIns="0" rIns="0" bIns="0" rtlCol="0" anchor="t"/>
          <a:lstStyle/>
          <a:p>
            <a:pPr algn="l" indent="0" marL="0">
              <a:buNone/>
            </a:pPr>
            <a:r>
              <a:rPr lang="en-US" sz="1800" b="1" dirty="0">
                <a:solidFill>
                  <a:schemeClr val="accent4"/>
                </a:solidFill>
                <a:latin typeface="Courier New" pitchFamily="34" charset="0"/>
                <a:ea typeface="Courier New" pitchFamily="34" charset="-122"/>
                <a:cs typeface="Courier New" pitchFamily="34" charset="-120"/>
              </a:rPr>
              <a:t>transactions  (one row per payment)</a:t>
            </a:r>
            <a:endParaRPr lang="en-US" sz="1800" dirty="0"/>
          </a:p>
        </p:txBody>
      </p:sp>
      <p:sp>
        <p:nvSpPr>
          <p:cNvPr id="12" name="Text 9"/>
          <p:cNvSpPr txBox="1"/>
          <p:nvPr/>
        </p:nvSpPr>
        <p:spPr>
          <a:xfrm>
            <a:off x="5696712" y="2606040"/>
            <a:ext cx="5852160" cy="2286000"/>
          </a:xfrm>
          <a:prstGeom prst="rect">
            <a:avLst/>
          </a:prstGeom>
          <a:noFill/>
          <a:ln/>
        </p:spPr>
        <p:txBody>
          <a:bodyPr wrap="square" lIns="0" tIns="0" rIns="0" bIns="0" rtlCol="0" anchor="t"/>
          <a:lstStyle/>
          <a:p>
            <a:pPr algn="l" indent="0" marL="0">
              <a:spcAft>
                <a:spcPts val="400"/>
              </a:spcAft>
              <a:buNone/>
            </a:pPr>
            <a:r>
              <a:rPr lang="en-US" sz="1400" b="1" dirty="0">
                <a:solidFill>
                  <a:schemeClr val="accent4"/>
                </a:solidFill>
                <a:latin typeface="Courier New" pitchFamily="34" charset="0"/>
                <a:ea typeface="Courier New" pitchFamily="34" charset="-122"/>
                <a:cs typeface="Courier New" pitchFamily="34" charset="-120"/>
              </a:rPr>
              <a:t>id, packetHash</a:t>
            </a:r>
            <a:pPr algn="l" indent="0" marL="0">
              <a:spcAft>
                <a:spcPts val="400"/>
              </a:spcAft>
              <a:buNone/>
            </a:pPr>
            <a:r>
              <a:rPr lang="en-US" sz="1400" dirty="0">
                <a:solidFill>
                  <a:schemeClr val="tx1"/>
                </a:solidFill>
                <a:latin typeface="Calibri" pitchFamily="34" charset="0"/>
                <a:ea typeface="Calibri" pitchFamily="34" charset="-122"/>
                <a:cs typeface="Calibri" pitchFamily="34" charset="-120"/>
              </a:rPr>
              <a:t>  hash is UNIQUE (the fingerprint)</a:t>
            </a:r>
            <a:endParaRPr lang="en-US" sz="1400" dirty="0"/>
          </a:p>
          <a:p>
            <a:pPr algn="l" indent="0" marL="0">
              <a:spcAft>
                <a:spcPts val="400"/>
              </a:spcAft>
              <a:buNone/>
            </a:pPr>
            <a:r>
              <a:rPr lang="en-US" sz="1400" b="1" dirty="0">
                <a:solidFill>
                  <a:schemeClr val="accent4"/>
                </a:solidFill>
                <a:latin typeface="Courier New" pitchFamily="34" charset="0"/>
                <a:ea typeface="Courier New" pitchFamily="34" charset="-122"/>
                <a:cs typeface="Courier New" pitchFamily="34" charset="-120"/>
              </a:rPr>
              <a:t>senderVpa, receiverVpa, amount</a:t>
            </a:r>
            <a:pPr algn="l" indent="0" marL="0">
              <a:spcAft>
                <a:spcPts val="400"/>
              </a:spcAft>
              <a:buNone/>
            </a:pPr>
            <a:r>
              <a:rPr lang="en-US" sz="1400" dirty="0">
                <a:solidFill>
                  <a:schemeClr val="tx1"/>
                </a:solidFill>
                <a:latin typeface="Calibri" pitchFamily="34" charset="0"/>
                <a:ea typeface="Calibri" pitchFamily="34" charset="-122"/>
                <a:cs typeface="Calibri" pitchFamily="34" charset="-120"/>
              </a:rPr>
              <a:t>  who paid whom</a:t>
            </a:r>
            <a:endParaRPr lang="en-US" sz="1400" dirty="0"/>
          </a:p>
          <a:p>
            <a:pPr algn="l" indent="0" marL="0">
              <a:spcAft>
                <a:spcPts val="400"/>
              </a:spcAft>
              <a:buNone/>
            </a:pPr>
            <a:r>
              <a:rPr lang="en-US" sz="1400" b="1" dirty="0">
                <a:solidFill>
                  <a:schemeClr val="accent4"/>
                </a:solidFill>
                <a:latin typeface="Courier New" pitchFamily="34" charset="0"/>
                <a:ea typeface="Courier New" pitchFamily="34" charset="-122"/>
                <a:cs typeface="Courier New" pitchFamily="34" charset="-120"/>
              </a:rPr>
              <a:t>signedAt, settledAt</a:t>
            </a:r>
            <a:pPr algn="l" indent="0" marL="0">
              <a:spcAft>
                <a:spcPts val="400"/>
              </a:spcAft>
              <a:buNone/>
            </a:pPr>
            <a:r>
              <a:rPr lang="en-US" sz="1400" dirty="0">
                <a:solidFill>
                  <a:schemeClr val="tx1"/>
                </a:solidFill>
                <a:latin typeface="Calibri" pitchFamily="34" charset="0"/>
                <a:ea typeface="Calibri" pitchFamily="34" charset="-122"/>
                <a:cs typeface="Calibri" pitchFamily="34" charset="-120"/>
              </a:rPr>
              <a:t>  when signed / when settled</a:t>
            </a:r>
            <a:endParaRPr lang="en-US" sz="1400" dirty="0"/>
          </a:p>
          <a:p>
            <a:pPr algn="l" indent="0" marL="0">
              <a:spcAft>
                <a:spcPts val="400"/>
              </a:spcAft>
              <a:buNone/>
            </a:pPr>
            <a:r>
              <a:rPr lang="en-US" sz="1400" b="1" dirty="0">
                <a:solidFill>
                  <a:schemeClr val="accent4"/>
                </a:solidFill>
                <a:latin typeface="Courier New" pitchFamily="34" charset="0"/>
                <a:ea typeface="Courier New" pitchFamily="34" charset="-122"/>
                <a:cs typeface="Courier New" pitchFamily="34" charset="-120"/>
              </a:rPr>
              <a:t>bridgeNodeId, hopCount</a:t>
            </a:r>
            <a:pPr algn="l" indent="0" marL="0">
              <a:spcAft>
                <a:spcPts val="400"/>
              </a:spcAft>
              <a:buNone/>
            </a:pPr>
            <a:r>
              <a:rPr lang="en-US" sz="1400" dirty="0">
                <a:solidFill>
                  <a:schemeClr val="tx1"/>
                </a:solidFill>
                <a:latin typeface="Calibri" pitchFamily="34" charset="0"/>
                <a:ea typeface="Calibri" pitchFamily="34" charset="-122"/>
                <a:cs typeface="Calibri" pitchFamily="34" charset="-120"/>
              </a:rPr>
              <a:t>  how it arrived</a:t>
            </a:r>
            <a:endParaRPr lang="en-US" sz="1400" dirty="0"/>
          </a:p>
          <a:p>
            <a:pPr algn="l" indent="0" marL="0">
              <a:spcAft>
                <a:spcPts val="400"/>
              </a:spcAft>
              <a:buNone/>
            </a:pPr>
            <a:r>
              <a:rPr lang="en-US" sz="1400" b="1" dirty="0">
                <a:solidFill>
                  <a:schemeClr val="accent4"/>
                </a:solidFill>
                <a:latin typeface="Courier New" pitchFamily="34" charset="0"/>
                <a:ea typeface="Courier New" pitchFamily="34" charset="-122"/>
                <a:cs typeface="Courier New" pitchFamily="34" charset="-120"/>
              </a:rPr>
              <a:t>status</a:t>
            </a:r>
            <a:pPr algn="l" indent="0" marL="0">
              <a:spcAft>
                <a:spcPts val="400"/>
              </a:spcAft>
              <a:buNone/>
            </a:pPr>
            <a:r>
              <a:rPr lang="en-US" sz="1400" dirty="0">
                <a:solidFill>
                  <a:schemeClr val="tx1"/>
                </a:solidFill>
                <a:latin typeface="Calibri" pitchFamily="34" charset="0"/>
                <a:ea typeface="Calibri" pitchFamily="34" charset="-122"/>
                <a:cs typeface="Calibri" pitchFamily="34" charset="-120"/>
              </a:rPr>
              <a:t>  SETTLED or REJECTED</a:t>
            </a:r>
            <a:endParaRPr lang="en-US" sz="1400" dirty="0"/>
          </a:p>
        </p:txBody>
      </p:sp>
      <p:sp>
        <p:nvSpPr>
          <p:cNvPr id="13" name="node Application"/>
          <p:cNvSpPr/>
          <p:nvPr/>
        </p:nvSpPr>
        <p:spPr>
          <a:xfrm>
            <a:off x="457200" y="5212080"/>
            <a:ext cx="2011680" cy="594360"/>
          </a:xfrm>
          <a:prstGeom prst="roundRect">
            <a:avLst>
              <a:gd name="adj" fmla="val 15385"/>
            </a:avLst>
          </a:prstGeom>
          <a:solidFill>
            <a:schemeClr val="accent1"/>
          </a:solidFill>
          <a:ln/>
        </p:spPr>
      </p:sp>
      <p:sp>
        <p:nvSpPr>
          <p:cNvPr id="14" name="Text 11"/>
          <p:cNvSpPr txBox="1"/>
          <p:nvPr/>
        </p:nvSpPr>
        <p:spPr>
          <a:xfrm>
            <a:off x="530352" y="5212080"/>
            <a:ext cx="1865376" cy="5943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Application</a:t>
            </a:r>
            <a:endParaRPr lang="en-US" sz="1500" dirty="0"/>
          </a:p>
        </p:txBody>
      </p:sp>
      <p:sp>
        <p:nvSpPr>
          <p:cNvPr id="15" name="arrow"/>
          <p:cNvSpPr/>
          <p:nvPr/>
        </p:nvSpPr>
        <p:spPr>
          <a:xfrm>
            <a:off x="2514600" y="5413248"/>
            <a:ext cx="365760" cy="0"/>
          </a:xfrm>
          <a:prstGeom prst="line">
            <a:avLst/>
          </a:prstGeom>
          <a:noFill/>
          <a:ln w="28575">
            <a:solidFill>
              <a:schemeClr val="accent5"/>
            </a:solidFill>
            <a:prstDash val="solid"/>
            <a:tailEnd type="triangle"/>
          </a:ln>
        </p:spPr>
      </p:sp>
      <p:sp>
        <p:nvSpPr>
          <p:cNvPr id="16" name="node JPA + our JDBC"/>
          <p:cNvSpPr/>
          <p:nvPr/>
        </p:nvSpPr>
        <p:spPr>
          <a:xfrm>
            <a:off x="2926080" y="5212080"/>
            <a:ext cx="2377440" cy="594360"/>
          </a:xfrm>
          <a:prstGeom prst="roundRect">
            <a:avLst>
              <a:gd name="adj" fmla="val 15385"/>
            </a:avLst>
          </a:prstGeom>
          <a:solidFill>
            <a:schemeClr val="accent4"/>
          </a:solidFill>
          <a:ln/>
        </p:spPr>
      </p:sp>
      <p:sp>
        <p:nvSpPr>
          <p:cNvPr id="17" name="Text 14"/>
          <p:cNvSpPr txBox="1"/>
          <p:nvPr/>
        </p:nvSpPr>
        <p:spPr>
          <a:xfrm>
            <a:off x="2999232" y="5212080"/>
            <a:ext cx="2231136" cy="5943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JPA + our JDBC</a:t>
            </a:r>
            <a:endParaRPr lang="en-US" sz="1500" dirty="0"/>
          </a:p>
        </p:txBody>
      </p:sp>
      <p:sp>
        <p:nvSpPr>
          <p:cNvPr id="18" name="arrow"/>
          <p:cNvSpPr/>
          <p:nvPr/>
        </p:nvSpPr>
        <p:spPr>
          <a:xfrm>
            <a:off x="5349240" y="5413248"/>
            <a:ext cx="365760" cy="0"/>
          </a:xfrm>
          <a:prstGeom prst="line">
            <a:avLst/>
          </a:prstGeom>
          <a:noFill/>
          <a:ln w="28575">
            <a:solidFill>
              <a:schemeClr val="accent5"/>
            </a:solidFill>
            <a:prstDash val="solid"/>
            <a:tailEnd type="triangle"/>
          </a:ln>
        </p:spPr>
      </p:sp>
      <p:sp>
        <p:nvSpPr>
          <p:cNvPr id="19" name="node H2  (default)"/>
          <p:cNvSpPr/>
          <p:nvPr/>
        </p:nvSpPr>
        <p:spPr>
          <a:xfrm>
            <a:off x="5760720" y="5212080"/>
            <a:ext cx="2377440" cy="594360"/>
          </a:xfrm>
          <a:prstGeom prst="roundRect">
            <a:avLst>
              <a:gd name="adj" fmla="val 15385"/>
            </a:avLst>
          </a:prstGeom>
          <a:solidFill>
            <a:schemeClr val="accent6"/>
          </a:solidFill>
          <a:ln/>
        </p:spPr>
      </p:sp>
      <p:sp>
        <p:nvSpPr>
          <p:cNvPr id="20" name="Text 17"/>
          <p:cNvSpPr txBox="1"/>
          <p:nvPr/>
        </p:nvSpPr>
        <p:spPr>
          <a:xfrm>
            <a:off x="5833872" y="5212080"/>
            <a:ext cx="2231136" cy="59436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H2  (default)</a:t>
            </a:r>
            <a:endParaRPr lang="en-US" sz="1500" dirty="0"/>
          </a:p>
        </p:txBody>
      </p:sp>
      <p:sp>
        <p:nvSpPr>
          <p:cNvPr id="21" name="Text 18"/>
          <p:cNvSpPr txBox="1"/>
          <p:nvPr/>
        </p:nvSpPr>
        <p:spPr>
          <a:xfrm>
            <a:off x="8183880" y="5212080"/>
            <a:ext cx="457200" cy="594360"/>
          </a:xfrm>
          <a:prstGeom prst="rect">
            <a:avLst/>
          </a:prstGeom>
          <a:noFill/>
          <a:ln/>
        </p:spPr>
        <p:txBody>
          <a:bodyPr wrap="square" lIns="0" tIns="0" rIns="0" bIns="0" rtlCol="0" anchor="ctr"/>
          <a:lstStyle/>
          <a:p>
            <a:pPr algn="ctr" indent="0" marL="0">
              <a:buNone/>
            </a:pPr>
            <a:r>
              <a:rPr lang="en-US" sz="1500" i="1" dirty="0">
                <a:solidFill>
                  <a:schemeClr val="accent5"/>
                </a:solidFill>
                <a:latin typeface="Calibri" pitchFamily="34" charset="0"/>
                <a:ea typeface="Calibri" pitchFamily="34" charset="-122"/>
                <a:cs typeface="Calibri" pitchFamily="34" charset="-120"/>
              </a:rPr>
              <a:t>or</a:t>
            </a:r>
            <a:endParaRPr lang="en-US" sz="1500" dirty="0"/>
          </a:p>
        </p:txBody>
      </p:sp>
      <p:sp>
        <p:nvSpPr>
          <p:cNvPr id="22" name="node MySQL  (mysql profile)"/>
          <p:cNvSpPr/>
          <p:nvPr/>
        </p:nvSpPr>
        <p:spPr>
          <a:xfrm>
            <a:off x="8686800" y="5212080"/>
            <a:ext cx="3044952" cy="594360"/>
          </a:xfrm>
          <a:prstGeom prst="roundRect">
            <a:avLst>
              <a:gd name="adj" fmla="val 15385"/>
            </a:avLst>
          </a:prstGeom>
          <a:solidFill>
            <a:schemeClr val="accent2"/>
          </a:solidFill>
          <a:ln/>
        </p:spPr>
      </p:sp>
      <p:sp>
        <p:nvSpPr>
          <p:cNvPr id="23" name="Text 20"/>
          <p:cNvSpPr txBox="1"/>
          <p:nvPr/>
        </p:nvSpPr>
        <p:spPr>
          <a:xfrm>
            <a:off x="8759952" y="5212080"/>
            <a:ext cx="2898648" cy="594360"/>
          </a:xfrm>
          <a:prstGeom prst="rect">
            <a:avLst/>
          </a:prstGeom>
          <a:noFill/>
          <a:ln/>
        </p:spPr>
        <p:txBody>
          <a:bodyPr wrap="square" lIns="0" tIns="0" rIns="0" bIns="0"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MySQL  (mysql profile)</a:t>
            </a:r>
            <a:endParaRPr lang="en-US" sz="1500" dirty="0"/>
          </a:p>
        </p:txBody>
      </p:sp>
      <p:sp>
        <p:nvSpPr>
          <p:cNvPr id="24" name="Text 21"/>
          <p:cNvSpPr txBox="1"/>
          <p:nvPr/>
        </p:nvSpPr>
        <p:spPr>
          <a:xfrm>
            <a:off x="457200" y="5897880"/>
            <a:ext cx="11247120" cy="548640"/>
          </a:xfrm>
          <a:prstGeom prst="rect">
            <a:avLst/>
          </a:prstGeom>
          <a:noFill/>
          <a:ln/>
        </p:spPr>
        <p:txBody>
          <a:bodyPr wrap="square" lIns="0" tIns="0" rIns="0" bIns="0" rtlCol="0" anchor="t"/>
          <a:lstStyle/>
          <a:p>
            <a:pPr algn="l" indent="0" marL="0">
              <a:buNone/>
            </a:pPr>
            <a:r>
              <a:rPr lang="en-US" sz="1300" i="1" dirty="0">
                <a:solidFill>
                  <a:schemeClr val="accent3"/>
                </a:solidFill>
                <a:latin typeface="Calibri" pitchFamily="34" charset="0"/>
                <a:ea typeface="Calibri" pitchFamily="34" charset="-122"/>
                <a:cs typeface="Calibri" pitchFamily="34" charset="-120"/>
              </a:rPr>
              <a:t>Run MySQL: docker compose up -d, then start with the mysql profile. Tables now survive restarts (ddl-auto=update). The idempotency cache is still in memory, so the UNIQUE hash is the safety net after a restart.</a:t>
            </a:r>
            <a:endParaRPr lang="en-US" sz="13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Servlets: real servlets beside Spring</a:t>
            </a:r>
            <a:endParaRPr lang="en-US" sz="3400" dirty="0"/>
          </a:p>
        </p:txBody>
      </p:sp>
      <p:sp>
        <p:nvSpPr>
          <p:cNvPr id="4" name="we write servlets"/>
          <p:cNvSpPr/>
          <p:nvPr/>
        </p:nvSpPr>
        <p:spPr>
          <a:xfrm>
            <a:off x="457200" y="1280160"/>
            <a:ext cx="11274552" cy="685800"/>
          </a:xfrm>
          <a:prstGeom prst="roundRect">
            <a:avLst>
              <a:gd name="adj" fmla="val 16000"/>
            </a:avLst>
          </a:prstGeom>
          <a:solidFill>
            <a:srgbClr val="E1F1E7"/>
          </a:solidFill>
          <a:ln/>
        </p:spPr>
      </p:sp>
      <p:sp>
        <p:nvSpPr>
          <p:cNvPr id="5" name="Text 2"/>
          <p:cNvSpPr txBox="1"/>
          <p:nvPr/>
        </p:nvSpPr>
        <p:spPr>
          <a:xfrm>
            <a:off x="640080" y="1280160"/>
            <a:ext cx="10881360" cy="68580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We write 3 servlets (extending HttpServlet) and 1 Filter. The /api endpoints still use Spring controllers.</a:t>
            </a:r>
            <a:endParaRPr lang="en-US" sz="1600" dirty="0"/>
          </a:p>
        </p:txBody>
      </p:sp>
      <p:sp>
        <p:nvSpPr>
          <p:cNvPr id="6" name="node Browser"/>
          <p:cNvSpPr/>
          <p:nvPr/>
        </p:nvSpPr>
        <p:spPr>
          <a:xfrm>
            <a:off x="457200" y="2148840"/>
            <a:ext cx="1920240" cy="1005840"/>
          </a:xfrm>
          <a:prstGeom prst="roundRect">
            <a:avLst>
              <a:gd name="adj" fmla="val 9091"/>
            </a:avLst>
          </a:prstGeom>
          <a:solidFill>
            <a:schemeClr val="accent5"/>
          </a:solidFill>
          <a:ln/>
        </p:spPr>
      </p:sp>
      <p:sp>
        <p:nvSpPr>
          <p:cNvPr id="7" name="Text 4"/>
          <p:cNvSpPr txBox="1"/>
          <p:nvPr/>
        </p:nvSpPr>
        <p:spPr>
          <a:xfrm>
            <a:off x="530352" y="2148840"/>
            <a:ext cx="1773936" cy="10058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Browser</a:t>
            </a:r>
            <a:endParaRPr lang="en-US" sz="1400" dirty="0"/>
          </a:p>
        </p:txBody>
      </p:sp>
      <p:sp>
        <p:nvSpPr>
          <p:cNvPr id="8" name="arrow"/>
          <p:cNvSpPr/>
          <p:nvPr/>
        </p:nvSpPr>
        <p:spPr>
          <a:xfrm>
            <a:off x="2404872" y="2651760"/>
            <a:ext cx="310896" cy="0"/>
          </a:xfrm>
          <a:prstGeom prst="line">
            <a:avLst/>
          </a:prstGeom>
          <a:noFill/>
          <a:ln w="28575">
            <a:solidFill>
              <a:schemeClr val="accent5"/>
            </a:solidFill>
            <a:prstDash val="solid"/>
            <a:tailEnd type="triangle"/>
          </a:ln>
        </p:spPr>
      </p:sp>
      <p:sp>
        <p:nvSpPr>
          <p:cNvPr id="9" name="node RequestLogFilter /servlet/*"/>
          <p:cNvSpPr/>
          <p:nvPr/>
        </p:nvSpPr>
        <p:spPr>
          <a:xfrm>
            <a:off x="2743200" y="2148840"/>
            <a:ext cx="1920240" cy="1005840"/>
          </a:xfrm>
          <a:prstGeom prst="roundRect">
            <a:avLst>
              <a:gd name="adj" fmla="val 9091"/>
            </a:avLst>
          </a:prstGeom>
          <a:solidFill>
            <a:schemeClr val="accent2"/>
          </a:solidFill>
          <a:ln/>
        </p:spPr>
      </p:sp>
      <p:sp>
        <p:nvSpPr>
          <p:cNvPr id="10" name="Text 7"/>
          <p:cNvSpPr txBox="1"/>
          <p:nvPr/>
        </p:nvSpPr>
        <p:spPr>
          <a:xfrm>
            <a:off x="2816352" y="2148840"/>
            <a:ext cx="1773936" cy="10058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RequestLogFilter</a:t>
            </a:r>
            <a:endParaRPr lang="en-US" sz="1400" dirty="0"/>
          </a:p>
          <a:p>
            <a:pPr algn="ctr" indent="0" marL="0">
              <a:buNone/>
            </a:pPr>
            <a:r>
              <a:rPr lang="en-US" sz="1400" b="1" dirty="0">
                <a:solidFill>
                  <a:schemeClr val="tx1"/>
                </a:solidFill>
                <a:latin typeface="Calibri" pitchFamily="34" charset="0"/>
                <a:ea typeface="Calibri" pitchFamily="34" charset="-122"/>
                <a:cs typeface="Calibri" pitchFamily="34" charset="-120"/>
              </a:rPr>
              <a:t>/servlet/*</a:t>
            </a:r>
            <a:endParaRPr lang="en-US" sz="1400" dirty="0"/>
          </a:p>
        </p:txBody>
      </p:sp>
      <p:sp>
        <p:nvSpPr>
          <p:cNvPr id="11" name="arrow"/>
          <p:cNvSpPr/>
          <p:nvPr/>
        </p:nvSpPr>
        <p:spPr>
          <a:xfrm>
            <a:off x="4690872" y="2651760"/>
            <a:ext cx="310896" cy="0"/>
          </a:xfrm>
          <a:prstGeom prst="line">
            <a:avLst/>
          </a:prstGeom>
          <a:noFill/>
          <a:ln w="28575">
            <a:solidFill>
              <a:schemeClr val="accent5"/>
            </a:solidFill>
            <a:prstDash val="solid"/>
            <a:tailEnd type="triangle"/>
          </a:ln>
        </p:spPr>
      </p:sp>
      <p:sp>
        <p:nvSpPr>
          <p:cNvPr id="12" name="node LedgerExportServlet doGet() / doPost()"/>
          <p:cNvSpPr/>
          <p:nvPr/>
        </p:nvSpPr>
        <p:spPr>
          <a:xfrm>
            <a:off x="5029200" y="2148840"/>
            <a:ext cx="1920240" cy="1005840"/>
          </a:xfrm>
          <a:prstGeom prst="roundRect">
            <a:avLst>
              <a:gd name="adj" fmla="val 9091"/>
            </a:avLst>
          </a:prstGeom>
          <a:solidFill>
            <a:schemeClr val="accent1"/>
          </a:solidFill>
          <a:ln/>
        </p:spPr>
      </p:sp>
      <p:sp>
        <p:nvSpPr>
          <p:cNvPr id="13" name="Text 10"/>
          <p:cNvSpPr txBox="1"/>
          <p:nvPr/>
        </p:nvSpPr>
        <p:spPr>
          <a:xfrm>
            <a:off x="5102352" y="2148840"/>
            <a:ext cx="1773936" cy="10058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LedgerExportServlet</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doGet() / doPost()</a:t>
            </a:r>
            <a:endParaRPr lang="en-US" sz="1400" dirty="0"/>
          </a:p>
        </p:txBody>
      </p:sp>
      <p:sp>
        <p:nvSpPr>
          <p:cNvPr id="14" name="arrow"/>
          <p:cNvSpPr/>
          <p:nvPr/>
        </p:nvSpPr>
        <p:spPr>
          <a:xfrm>
            <a:off x="6976872" y="2651760"/>
            <a:ext cx="310896" cy="0"/>
          </a:xfrm>
          <a:prstGeom prst="line">
            <a:avLst/>
          </a:prstGeom>
          <a:noFill/>
          <a:ln w="28575">
            <a:solidFill>
              <a:schemeClr val="accent5"/>
            </a:solidFill>
            <a:prstDash val="solid"/>
            <a:tailEnd type="triangle"/>
          </a:ln>
        </p:spPr>
      </p:sp>
      <p:sp>
        <p:nvSpPr>
          <p:cNvPr id="15" name="node LedgerFileService + LedgerJdbcDao"/>
          <p:cNvSpPr/>
          <p:nvPr/>
        </p:nvSpPr>
        <p:spPr>
          <a:xfrm>
            <a:off x="7315200" y="2148840"/>
            <a:ext cx="1920240" cy="1005840"/>
          </a:xfrm>
          <a:prstGeom prst="roundRect">
            <a:avLst>
              <a:gd name="adj" fmla="val 9091"/>
            </a:avLst>
          </a:prstGeom>
          <a:solidFill>
            <a:schemeClr val="accent4"/>
          </a:solidFill>
          <a:ln/>
        </p:spPr>
      </p:sp>
      <p:sp>
        <p:nvSpPr>
          <p:cNvPr id="16" name="Text 13"/>
          <p:cNvSpPr txBox="1"/>
          <p:nvPr/>
        </p:nvSpPr>
        <p:spPr>
          <a:xfrm>
            <a:off x="7388352" y="2148840"/>
            <a:ext cx="1773936" cy="10058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LedgerFileService</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 LedgerJdbcDao</a:t>
            </a:r>
            <a:endParaRPr lang="en-US" sz="1400" dirty="0"/>
          </a:p>
        </p:txBody>
      </p:sp>
      <p:sp>
        <p:nvSpPr>
          <p:cNvPr id="17" name="arrow"/>
          <p:cNvSpPr/>
          <p:nvPr/>
        </p:nvSpPr>
        <p:spPr>
          <a:xfrm>
            <a:off x="9262872" y="2651760"/>
            <a:ext cx="310896" cy="0"/>
          </a:xfrm>
          <a:prstGeom prst="line">
            <a:avLst/>
          </a:prstGeom>
          <a:noFill/>
          <a:ln w="28575">
            <a:solidFill>
              <a:schemeClr val="accent5"/>
            </a:solidFill>
            <a:prstDash val="solid"/>
            <a:tailEnd type="triangle"/>
          </a:ln>
        </p:spPr>
      </p:sp>
      <p:sp>
        <p:nvSpPr>
          <p:cNvPr id="18" name="node Database"/>
          <p:cNvSpPr/>
          <p:nvPr/>
        </p:nvSpPr>
        <p:spPr>
          <a:xfrm>
            <a:off x="9601200" y="2148840"/>
            <a:ext cx="1920240" cy="1005840"/>
          </a:xfrm>
          <a:prstGeom prst="roundRect">
            <a:avLst>
              <a:gd name="adj" fmla="val 9091"/>
            </a:avLst>
          </a:prstGeom>
          <a:solidFill>
            <a:schemeClr val="accent6"/>
          </a:solidFill>
          <a:ln/>
        </p:spPr>
      </p:sp>
      <p:sp>
        <p:nvSpPr>
          <p:cNvPr id="19" name="Text 16"/>
          <p:cNvSpPr txBox="1"/>
          <p:nvPr/>
        </p:nvSpPr>
        <p:spPr>
          <a:xfrm>
            <a:off x="9674352" y="2148840"/>
            <a:ext cx="1773936" cy="10058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Database</a:t>
            </a:r>
            <a:endParaRPr lang="en-US" sz="1400" dirty="0"/>
          </a:p>
        </p:txBody>
      </p:sp>
      <p:sp>
        <p:nvSpPr>
          <p:cNvPr id="20" name="Text 17"/>
          <p:cNvSpPr txBox="1"/>
          <p:nvPr/>
        </p:nvSpPr>
        <p:spPr>
          <a:xfrm>
            <a:off x="457200" y="3218688"/>
            <a:ext cx="11247120" cy="320040"/>
          </a:xfrm>
          <a:prstGeom prst="rect">
            <a:avLst/>
          </a:prstGeom>
          <a:noFill/>
          <a:ln/>
        </p:spPr>
        <p:txBody>
          <a:bodyPr wrap="square" lIns="0" tIns="0" rIns="0" bIns="0" rtlCol="0" anchor="t"/>
          <a:lstStyle/>
          <a:p>
            <a:pPr algn="l" indent="0" marL="0">
              <a:buNone/>
            </a:pPr>
            <a:r>
              <a:rPr lang="en-US" sz="1400" i="1" dirty="0">
                <a:solidFill>
                  <a:schemeClr val="accent5"/>
                </a:solidFill>
                <a:latin typeface="Calibri" pitchFamily="34" charset="0"/>
                <a:ea typeface="Calibri" pitchFamily="34" charset="-122"/>
                <a:cs typeface="Calibri" pitchFamily="34" charset="-120"/>
              </a:rPr>
              <a:t>Request goes in →   CSV or JSON comes back ←</a:t>
            </a:r>
            <a:endParaRPr lang="en-US" sz="1400" dirty="0"/>
          </a:p>
        </p:txBody>
      </p:sp>
      <p:graphicFrame>
        <p:nvGraphicFramePr>
          <p:cNvPr id="27" name="servlet table"/>
          <p:cNvGraphicFramePr>
            <a:graphicFrameLocks noGrp="1"/>
          </p:cNvGraphicFramePr>
          <p:nvPr>
            <p:extLst>
              <p:ext uri="{D42A27DB-BD31-4B8C-83A1-F6EECF244321}">
                <p14:modId xmlns:p14="http://schemas.microsoft.com/office/powerpoint/2010/main" val="1579011935"/>
              </p:ext>
            </p:extLst>
          </p:nvPr>
        </p:nvGraphicFramePr>
        <p:xfrm>
          <a:off x="457200" y="3657600"/>
          <a:ext cx="11274552" cy="914400"/>
        </p:xfrm>
        <a:graphic>
          <a:graphicData uri="http://schemas.openxmlformats.org/drawingml/2006/table">
            <a:tbl>
              <a:tblPr/>
              <a:tblGrid>
                <a:gridCol w="2103120"/>
                <a:gridCol w="2926080"/>
                <a:gridCol w="1188720"/>
                <a:gridCol w="5056632"/>
              </a:tblGrid>
              <a:tr h="36576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URL</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Servlet</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chemeClr val="accent1"/>
                    </a:solidFill>
                  </a:tcPr>
                </a:tc>
              </a:tr>
              <a:tr h="365760">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/servlet/health</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HealthServlet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doGet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Database in use + ledger totals (JSON)</a:t>
                      </a:r>
                      <a:endParaRPr lang="en-US" sz="135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365760">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/servlet/export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LedgerExportServlet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doGet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Live ledger as a CSV download</a:t>
                      </a:r>
                      <a:endParaRPr lang="en-US" sz="135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r h="365760">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/servlet/export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LedgerExportServlet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doPost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Save a CSV file on the server (201)</a:t>
                      </a:r>
                      <a:endParaRPr lang="en-US" sz="135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r>
              <a:tr h="365760">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/servlet/audit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AuditLogServlet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250" dirty="0">
                          <a:solidFill>
                            <a:schemeClr val="accent4"/>
                          </a:solidFill>
                          <a:latin typeface="Courier New" pitchFamily="34" charset="0"/>
                          <a:ea typeface="Courier New" pitchFamily="34" charset="-122"/>
                          <a:cs typeface="Courier New" pitchFamily="34" charset="-120"/>
                        </a:rPr>
                        <a:t>doGet</a:t>
                      </a:r>
                      <a:endParaRPr lang="en-US" sz="1250" dirty="0">
                        <a:latin typeface="Courier New" charset="0"/>
                        <a:ea typeface="Courier New" charset="0"/>
                        <a:cs typeface="Courier New"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Last lines of the audit log</a:t>
                      </a:r>
                      <a:endParaRPr lang="en-US" sz="1350" dirty="0">
                        <a:latin typeface="Calibri" charset="0"/>
                        <a:ea typeface="Calibri" charset="0"/>
                        <a:cs typeface="Calibri" charset="0"/>
                      </a:endParaRPr>
                    </a:p>
                  </a:txBody>
                  <a:tcPr marL="109728" marR="109728" marT="0" marB="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4F8F7"/>
                    </a:solidFill>
                  </a:tcPr>
                </a:tc>
              </a:tr>
            </a:tbl>
          </a:graphicData>
        </a:graphic>
      </p:graphicFrame>
      <p:sp>
        <p:nvSpPr>
          <p:cNvPr id="22" name="Text 18"/>
          <p:cNvSpPr txBox="1"/>
          <p:nvPr/>
        </p:nvSpPr>
        <p:spPr>
          <a:xfrm>
            <a:off x="457200" y="5577840"/>
            <a:ext cx="11247120" cy="640080"/>
          </a:xfrm>
          <a:prstGeom prst="rect">
            <a:avLst/>
          </a:prstGeom>
          <a:noFill/>
          <a:ln/>
        </p:spPr>
        <p:txBody>
          <a:bodyPr wrap="square" lIns="0" tIns="0" rIns="0" bIns="0" rtlCol="0" anchor="t"/>
          <a:lstStyle/>
          <a:p>
            <a:pPr algn="l" indent="0" marL="0">
              <a:buNone/>
            </a:pPr>
            <a:r>
              <a:rPr lang="en-US" sz="1400" i="1" dirty="0">
                <a:solidFill>
                  <a:schemeClr val="accent5"/>
                </a:solidFill>
                <a:latin typeface="Calibri" pitchFamily="34" charset="0"/>
                <a:ea typeface="Calibri" pitchFamily="34" charset="-122"/>
                <a:cs typeface="Calibri" pitchFamily="34" charset="-120"/>
              </a:rPr>
              <a:t>Registered in ServletConfig. RequestLogFilter adds an X-Request-Id header and logs time taken. The 9 /api endpoints go through Spring's DispatcherServlet to controllers.</a:t>
            </a:r>
            <a:endParaRPr lang="en-US" sz="14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Complete architecture</a:t>
            </a:r>
            <a:endParaRPr lang="en-US" sz="3400" dirty="0"/>
          </a:p>
        </p:txBody>
      </p:sp>
      <p:sp>
        <p:nvSpPr>
          <p:cNvPr id="4" name="offline zone"/>
          <p:cNvSpPr/>
          <p:nvPr/>
        </p:nvSpPr>
        <p:spPr>
          <a:xfrm>
            <a:off x="457200" y="1280160"/>
            <a:ext cx="2377440" cy="4892040"/>
          </a:xfrm>
          <a:prstGeom prst="roundRect">
            <a:avLst>
              <a:gd name="adj" fmla="val 4615"/>
            </a:avLst>
          </a:prstGeom>
          <a:solidFill>
            <a:srgbClr val="FBEBE3"/>
          </a:solidFill>
          <a:ln/>
        </p:spPr>
      </p:sp>
      <p:sp>
        <p:nvSpPr>
          <p:cNvPr id="5" name="Text 2"/>
          <p:cNvSpPr txBox="1"/>
          <p:nvPr/>
        </p:nvSpPr>
        <p:spPr>
          <a:xfrm>
            <a:off x="594360" y="1371600"/>
            <a:ext cx="2103120" cy="320040"/>
          </a:xfrm>
          <a:prstGeom prst="rect">
            <a:avLst/>
          </a:prstGeom>
          <a:noFill/>
          <a:ln/>
        </p:spPr>
        <p:txBody>
          <a:bodyPr wrap="square" lIns="0" tIns="0" rIns="0" bIns="0" rtlCol="0" anchor="t"/>
          <a:lstStyle/>
          <a:p>
            <a:pPr algn="l" indent="0" marL="0">
              <a:buNone/>
            </a:pPr>
            <a:r>
              <a:rPr lang="en-US" sz="1400" b="1" dirty="0">
                <a:solidFill>
                  <a:schemeClr val="accent3"/>
                </a:solidFill>
                <a:latin typeface="Calibri" pitchFamily="34" charset="0"/>
                <a:ea typeface="Calibri" pitchFamily="34" charset="-122"/>
                <a:cs typeface="Calibri" pitchFamily="34" charset="-120"/>
              </a:rPr>
              <a:t>OFFLINE</a:t>
            </a:r>
            <a:endParaRPr lang="en-US" sz="1400" dirty="0"/>
          </a:p>
        </p:txBody>
      </p:sp>
      <p:sp>
        <p:nvSpPr>
          <p:cNvPr id="6" name="node Alice's phone locks packet"/>
          <p:cNvSpPr/>
          <p:nvPr/>
        </p:nvSpPr>
        <p:spPr>
          <a:xfrm>
            <a:off x="640080" y="1828800"/>
            <a:ext cx="2011680" cy="777240"/>
          </a:xfrm>
          <a:prstGeom prst="roundRect">
            <a:avLst>
              <a:gd name="adj" fmla="val 11765"/>
            </a:avLst>
          </a:prstGeom>
          <a:solidFill>
            <a:schemeClr val="accent1"/>
          </a:solidFill>
          <a:ln/>
        </p:spPr>
      </p:sp>
      <p:sp>
        <p:nvSpPr>
          <p:cNvPr id="7" name="Text 4"/>
          <p:cNvSpPr txBox="1"/>
          <p:nvPr/>
        </p:nvSpPr>
        <p:spPr>
          <a:xfrm>
            <a:off x="713232" y="1828800"/>
            <a:ext cx="1865376" cy="7772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Alice's phone</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locks packet</a:t>
            </a:r>
            <a:endParaRPr lang="en-US" sz="1400" dirty="0"/>
          </a:p>
        </p:txBody>
      </p:sp>
      <p:sp>
        <p:nvSpPr>
          <p:cNvPr id="8" name="arrow"/>
          <p:cNvSpPr/>
          <p:nvPr/>
        </p:nvSpPr>
        <p:spPr>
          <a:xfrm>
            <a:off x="1645920" y="2651760"/>
            <a:ext cx="0" cy="365760"/>
          </a:xfrm>
          <a:prstGeom prst="line">
            <a:avLst/>
          </a:prstGeom>
          <a:noFill/>
          <a:ln w="28575">
            <a:solidFill>
              <a:schemeClr val="accent5"/>
            </a:solidFill>
            <a:prstDash val="solid"/>
            <a:tailEnd type="triangle"/>
          </a:ln>
        </p:spPr>
      </p:sp>
      <p:sp>
        <p:nvSpPr>
          <p:cNvPr id="9" name="node Gossip phone to phone"/>
          <p:cNvSpPr/>
          <p:nvPr/>
        </p:nvSpPr>
        <p:spPr>
          <a:xfrm>
            <a:off x="640080" y="3063240"/>
            <a:ext cx="2011680" cy="777240"/>
          </a:xfrm>
          <a:prstGeom prst="roundRect">
            <a:avLst>
              <a:gd name="adj" fmla="val 11765"/>
            </a:avLst>
          </a:prstGeom>
          <a:solidFill>
            <a:schemeClr val="accent5"/>
          </a:solidFill>
          <a:ln/>
        </p:spPr>
      </p:sp>
      <p:sp>
        <p:nvSpPr>
          <p:cNvPr id="10" name="Text 7"/>
          <p:cNvSpPr txBox="1"/>
          <p:nvPr/>
        </p:nvSpPr>
        <p:spPr>
          <a:xfrm>
            <a:off x="713232" y="3063240"/>
            <a:ext cx="1865376" cy="7772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Gossip</a:t>
            </a:r>
            <a:endParaRPr lang="en-US" sz="1400" dirty="0"/>
          </a:p>
          <a:p>
            <a:pPr algn="ctr" indent="0" marL="0">
              <a:buNone/>
            </a:pPr>
            <a:r>
              <a:rPr lang="en-US" sz="1400" b="1" dirty="0">
                <a:solidFill>
                  <a:schemeClr val="bg1"/>
                </a:solidFill>
                <a:latin typeface="Calibri" pitchFamily="34" charset="0"/>
                <a:ea typeface="Calibri" pitchFamily="34" charset="-122"/>
                <a:cs typeface="Calibri" pitchFamily="34" charset="-120"/>
              </a:rPr>
              <a:t>phone to phone</a:t>
            </a:r>
            <a:endParaRPr lang="en-US" sz="1400" dirty="0"/>
          </a:p>
        </p:txBody>
      </p:sp>
      <p:sp>
        <p:nvSpPr>
          <p:cNvPr id="11" name="arrow"/>
          <p:cNvSpPr/>
          <p:nvPr/>
        </p:nvSpPr>
        <p:spPr>
          <a:xfrm>
            <a:off x="1645920" y="3886200"/>
            <a:ext cx="0" cy="365760"/>
          </a:xfrm>
          <a:prstGeom prst="line">
            <a:avLst/>
          </a:prstGeom>
          <a:noFill/>
          <a:ln w="28575">
            <a:solidFill>
              <a:schemeClr val="accent5"/>
            </a:solidFill>
            <a:prstDash val="solid"/>
            <a:tailEnd type="triangle"/>
          </a:ln>
        </p:spPr>
      </p:sp>
      <p:sp>
        <p:nvSpPr>
          <p:cNvPr id="12" name="node Bridge phone (has internet)"/>
          <p:cNvSpPr/>
          <p:nvPr/>
        </p:nvSpPr>
        <p:spPr>
          <a:xfrm>
            <a:off x="640080" y="4297680"/>
            <a:ext cx="2011680" cy="777240"/>
          </a:xfrm>
          <a:prstGeom prst="roundRect">
            <a:avLst>
              <a:gd name="adj" fmla="val 11765"/>
            </a:avLst>
          </a:prstGeom>
          <a:solidFill>
            <a:schemeClr val="accent2"/>
          </a:solidFill>
          <a:ln/>
        </p:spPr>
      </p:sp>
      <p:sp>
        <p:nvSpPr>
          <p:cNvPr id="13" name="Text 10"/>
          <p:cNvSpPr txBox="1"/>
          <p:nvPr/>
        </p:nvSpPr>
        <p:spPr>
          <a:xfrm>
            <a:off x="713232" y="4297680"/>
            <a:ext cx="1865376" cy="77724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Bridge phone</a:t>
            </a:r>
            <a:endParaRPr lang="en-US" sz="1400" dirty="0"/>
          </a:p>
          <a:p>
            <a:pPr algn="ctr" indent="0" marL="0">
              <a:buNone/>
            </a:pPr>
            <a:r>
              <a:rPr lang="en-US" sz="1400" b="1" dirty="0">
                <a:solidFill>
                  <a:schemeClr val="tx1"/>
                </a:solidFill>
                <a:latin typeface="Calibri" pitchFamily="34" charset="0"/>
                <a:ea typeface="Calibri" pitchFamily="34" charset="-122"/>
                <a:cs typeface="Calibri" pitchFamily="34" charset="-120"/>
              </a:rPr>
              <a:t>(has internet)</a:t>
            </a:r>
            <a:endParaRPr lang="en-US" sz="1400" dirty="0"/>
          </a:p>
        </p:txBody>
      </p:sp>
      <p:sp>
        <p:nvSpPr>
          <p:cNvPr id="14" name="Text 11"/>
          <p:cNvSpPr txBox="1"/>
          <p:nvPr/>
        </p:nvSpPr>
        <p:spPr>
          <a:xfrm>
            <a:off x="640080" y="5166360"/>
            <a:ext cx="2011680" cy="822960"/>
          </a:xfrm>
          <a:prstGeom prst="rect">
            <a:avLst/>
          </a:prstGeom>
          <a:noFill/>
          <a:ln/>
        </p:spPr>
        <p:txBody>
          <a:bodyPr wrap="square" lIns="0" tIns="0" rIns="0" bIns="0" rtlCol="0" anchor="t"/>
          <a:lstStyle/>
          <a:p>
            <a:pPr algn="l" indent="0" marL="0">
              <a:buNone/>
            </a:pPr>
            <a:r>
              <a:rPr lang="en-US" sz="1250" i="1" dirty="0">
                <a:solidFill>
                  <a:schemeClr val="accent5"/>
                </a:solidFill>
                <a:latin typeface="Calibri" pitchFamily="34" charset="0"/>
                <a:ea typeface="Calibri" pitchFamily="34" charset="-122"/>
                <a:cs typeface="Calibri" pitchFamily="34" charset="-120"/>
              </a:rPr>
              <a:t>simulated by MeshSimulatorService</a:t>
            </a:r>
            <a:endParaRPr lang="en-US" sz="1250" dirty="0"/>
          </a:p>
        </p:txBody>
      </p:sp>
      <p:sp>
        <p:nvSpPr>
          <p:cNvPr id="15" name="arrow"/>
          <p:cNvSpPr/>
          <p:nvPr/>
        </p:nvSpPr>
        <p:spPr>
          <a:xfrm>
            <a:off x="2880360" y="4681728"/>
            <a:ext cx="502920" cy="0"/>
          </a:xfrm>
          <a:prstGeom prst="line">
            <a:avLst/>
          </a:prstGeom>
          <a:noFill/>
          <a:ln w="28575">
            <a:solidFill>
              <a:schemeClr val="accent5"/>
            </a:solidFill>
            <a:prstDash val="solid"/>
            <a:tailEnd type="triangle"/>
          </a:ln>
        </p:spPr>
      </p:sp>
      <p:sp>
        <p:nvSpPr>
          <p:cNvPr id="16" name="backend zone"/>
          <p:cNvSpPr/>
          <p:nvPr/>
        </p:nvSpPr>
        <p:spPr>
          <a:xfrm>
            <a:off x="3429000" y="1280160"/>
            <a:ext cx="8302752" cy="4892040"/>
          </a:xfrm>
          <a:prstGeom prst="roundRect">
            <a:avLst>
              <a:gd name="adj" fmla="val 2243"/>
            </a:avLst>
          </a:prstGeom>
          <a:solidFill>
            <a:schemeClr val="bg2"/>
          </a:solidFill>
          <a:ln/>
        </p:spPr>
      </p:sp>
      <p:sp>
        <p:nvSpPr>
          <p:cNvPr id="17" name="Text 14"/>
          <p:cNvSpPr txBox="1"/>
          <p:nvPr/>
        </p:nvSpPr>
        <p:spPr>
          <a:xfrm>
            <a:off x="3611880" y="1371600"/>
            <a:ext cx="3657600" cy="320040"/>
          </a:xfrm>
          <a:prstGeom prst="rect">
            <a:avLst/>
          </a:prstGeom>
          <a:noFill/>
          <a:ln/>
        </p:spPr>
        <p:txBody>
          <a:bodyPr wrap="square" lIns="0" tIns="0" rIns="0" bIns="0" rtlCol="0" anchor="t"/>
          <a:lstStyle/>
          <a:p>
            <a:pPr algn="l" indent="0" marL="0">
              <a:buNone/>
            </a:pPr>
            <a:r>
              <a:rPr lang="en-US" sz="1400" b="1" dirty="0">
                <a:solidFill>
                  <a:schemeClr val="accent4"/>
                </a:solidFill>
                <a:latin typeface="Calibri" pitchFamily="34" charset="0"/>
                <a:ea typeface="Calibri" pitchFamily="34" charset="-122"/>
                <a:cs typeface="Calibri" pitchFamily="34" charset="-120"/>
              </a:rPr>
              <a:t>BACKEND (Spring Boot)</a:t>
            </a:r>
            <a:endParaRPr lang="en-US" sz="1400" dirty="0"/>
          </a:p>
        </p:txBody>
      </p:sp>
      <p:sp>
        <p:nvSpPr>
          <p:cNvPr id="18" name="node ApiController: entry point for /api/* requests"/>
          <p:cNvSpPr/>
          <p:nvPr/>
        </p:nvSpPr>
        <p:spPr>
          <a:xfrm>
            <a:off x="4572000" y="1783080"/>
            <a:ext cx="6035040" cy="548640"/>
          </a:xfrm>
          <a:prstGeom prst="roundRect">
            <a:avLst>
              <a:gd name="adj" fmla="val 16667"/>
            </a:avLst>
          </a:prstGeom>
          <a:solidFill>
            <a:schemeClr val="accent4"/>
          </a:solidFill>
          <a:ln/>
        </p:spPr>
      </p:sp>
      <p:sp>
        <p:nvSpPr>
          <p:cNvPr id="19" name="Text 16"/>
          <p:cNvSpPr txBox="1"/>
          <p:nvPr/>
        </p:nvSpPr>
        <p:spPr>
          <a:xfrm>
            <a:off x="4645152" y="1783080"/>
            <a:ext cx="5888736"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ApiController: entry point for /api/* requests</a:t>
            </a:r>
            <a:endParaRPr lang="en-US" sz="1400" dirty="0"/>
          </a:p>
        </p:txBody>
      </p:sp>
      <p:sp>
        <p:nvSpPr>
          <p:cNvPr id="20" name="arrow"/>
          <p:cNvSpPr/>
          <p:nvPr/>
        </p:nvSpPr>
        <p:spPr>
          <a:xfrm>
            <a:off x="7589520" y="2359152"/>
            <a:ext cx="0" cy="274320"/>
          </a:xfrm>
          <a:prstGeom prst="line">
            <a:avLst/>
          </a:prstGeom>
          <a:noFill/>
          <a:ln w="28575">
            <a:solidFill>
              <a:schemeClr val="accent5"/>
            </a:solidFill>
            <a:prstDash val="solid"/>
            <a:tailEnd type="triangle"/>
          </a:ln>
        </p:spPr>
      </p:sp>
      <p:sp>
        <p:nvSpPr>
          <p:cNvPr id="21" name="node BridgeIngestionService (the pipeline)"/>
          <p:cNvSpPr/>
          <p:nvPr/>
        </p:nvSpPr>
        <p:spPr>
          <a:xfrm>
            <a:off x="4572000" y="2697480"/>
            <a:ext cx="6035040" cy="548640"/>
          </a:xfrm>
          <a:prstGeom prst="roundRect">
            <a:avLst>
              <a:gd name="adj" fmla="val 16667"/>
            </a:avLst>
          </a:prstGeom>
          <a:solidFill>
            <a:schemeClr val="accent1"/>
          </a:solidFill>
          <a:ln/>
        </p:spPr>
      </p:sp>
      <p:sp>
        <p:nvSpPr>
          <p:cNvPr id="22" name="Text 19"/>
          <p:cNvSpPr txBox="1"/>
          <p:nvPr/>
        </p:nvSpPr>
        <p:spPr>
          <a:xfrm>
            <a:off x="4645152" y="2697480"/>
            <a:ext cx="5888736"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BridgeIngestionService (the pipeline)</a:t>
            </a:r>
            <a:endParaRPr lang="en-US" sz="1400" dirty="0"/>
          </a:p>
        </p:txBody>
      </p:sp>
      <p:sp>
        <p:nvSpPr>
          <p:cNvPr id="23" name="arrow"/>
          <p:cNvSpPr/>
          <p:nvPr/>
        </p:nvSpPr>
        <p:spPr>
          <a:xfrm>
            <a:off x="7589520" y="3273552"/>
            <a:ext cx="0" cy="274320"/>
          </a:xfrm>
          <a:prstGeom prst="line">
            <a:avLst/>
          </a:prstGeom>
          <a:noFill/>
          <a:ln w="28575">
            <a:solidFill>
              <a:schemeClr val="accent5"/>
            </a:solidFill>
            <a:prstDash val="solid"/>
            <a:tailEnd type="triangle"/>
          </a:ln>
        </p:spPr>
      </p:sp>
      <p:sp>
        <p:nvSpPr>
          <p:cNvPr id="24" name="node IdempotencyService fingerprint claim"/>
          <p:cNvSpPr/>
          <p:nvPr/>
        </p:nvSpPr>
        <p:spPr>
          <a:xfrm>
            <a:off x="3611880" y="3657600"/>
            <a:ext cx="2286000" cy="914400"/>
          </a:xfrm>
          <a:prstGeom prst="roundRect">
            <a:avLst>
              <a:gd name="adj" fmla="val 10000"/>
            </a:avLst>
          </a:prstGeom>
          <a:solidFill>
            <a:schemeClr val="accent2"/>
          </a:solidFill>
          <a:ln/>
        </p:spPr>
      </p:sp>
      <p:sp>
        <p:nvSpPr>
          <p:cNvPr id="25" name="Text 22"/>
          <p:cNvSpPr txBox="1"/>
          <p:nvPr/>
        </p:nvSpPr>
        <p:spPr>
          <a:xfrm>
            <a:off x="3685032" y="3657600"/>
            <a:ext cx="2139696" cy="914400"/>
          </a:xfrm>
          <a:prstGeom prst="rect">
            <a:avLst/>
          </a:prstGeom>
          <a:noFill/>
          <a:ln/>
        </p:spPr>
        <p:txBody>
          <a:bodyPr wrap="square" lIns="0" tIns="0" rIns="0" bIns="0" rtlCol="0" anchor="ctr"/>
          <a:lstStyle/>
          <a:p>
            <a:pPr algn="ctr" indent="0" marL="0">
              <a:buNone/>
            </a:pPr>
            <a:r>
              <a:rPr lang="en-US" sz="1350" b="1" dirty="0">
                <a:solidFill>
                  <a:schemeClr val="tx1"/>
                </a:solidFill>
                <a:latin typeface="Calibri" pitchFamily="34" charset="0"/>
                <a:ea typeface="Calibri" pitchFamily="34" charset="-122"/>
                <a:cs typeface="Calibri" pitchFamily="34" charset="-120"/>
              </a:rPr>
              <a:t>IdempotencyService</a:t>
            </a:r>
            <a:endParaRPr lang="en-US" sz="1350" dirty="0"/>
          </a:p>
          <a:p>
            <a:pPr algn="ctr" indent="0" marL="0">
              <a:buNone/>
            </a:pPr>
            <a:r>
              <a:rPr lang="en-US" sz="1350" b="1" dirty="0">
                <a:solidFill>
                  <a:schemeClr val="tx1"/>
                </a:solidFill>
                <a:latin typeface="Calibri" pitchFamily="34" charset="0"/>
                <a:ea typeface="Calibri" pitchFamily="34" charset="-122"/>
                <a:cs typeface="Calibri" pitchFamily="34" charset="-120"/>
              </a:rPr>
              <a:t>fingerprint claim</a:t>
            </a:r>
            <a:endParaRPr lang="en-US" sz="1350" dirty="0"/>
          </a:p>
        </p:txBody>
      </p:sp>
      <p:sp>
        <p:nvSpPr>
          <p:cNvPr id="26" name="node HybridCryptoService unlock + verify"/>
          <p:cNvSpPr/>
          <p:nvPr/>
        </p:nvSpPr>
        <p:spPr>
          <a:xfrm>
            <a:off x="6080760" y="3657600"/>
            <a:ext cx="2286000" cy="914400"/>
          </a:xfrm>
          <a:prstGeom prst="roundRect">
            <a:avLst>
              <a:gd name="adj" fmla="val 10000"/>
            </a:avLst>
          </a:prstGeom>
          <a:solidFill>
            <a:schemeClr val="accent2"/>
          </a:solidFill>
          <a:ln/>
        </p:spPr>
      </p:sp>
      <p:sp>
        <p:nvSpPr>
          <p:cNvPr id="27" name="Text 24"/>
          <p:cNvSpPr txBox="1"/>
          <p:nvPr/>
        </p:nvSpPr>
        <p:spPr>
          <a:xfrm>
            <a:off x="6153912" y="3657600"/>
            <a:ext cx="2139696" cy="914400"/>
          </a:xfrm>
          <a:prstGeom prst="rect">
            <a:avLst/>
          </a:prstGeom>
          <a:noFill/>
          <a:ln/>
        </p:spPr>
        <p:txBody>
          <a:bodyPr wrap="square" lIns="0" tIns="0" rIns="0" bIns="0" rtlCol="0" anchor="ctr"/>
          <a:lstStyle/>
          <a:p>
            <a:pPr algn="ctr" indent="0" marL="0">
              <a:buNone/>
            </a:pPr>
            <a:r>
              <a:rPr lang="en-US" sz="1350" b="1" dirty="0">
                <a:solidFill>
                  <a:schemeClr val="tx1"/>
                </a:solidFill>
                <a:latin typeface="Calibri" pitchFamily="34" charset="0"/>
                <a:ea typeface="Calibri" pitchFamily="34" charset="-122"/>
                <a:cs typeface="Calibri" pitchFamily="34" charset="-120"/>
              </a:rPr>
              <a:t>HybridCryptoService</a:t>
            </a:r>
            <a:endParaRPr lang="en-US" sz="1350" dirty="0"/>
          </a:p>
          <a:p>
            <a:pPr algn="ctr" indent="0" marL="0">
              <a:buNone/>
            </a:pPr>
            <a:r>
              <a:rPr lang="en-US" sz="1350" b="1" dirty="0">
                <a:solidFill>
                  <a:schemeClr val="tx1"/>
                </a:solidFill>
                <a:latin typeface="Calibri" pitchFamily="34" charset="0"/>
                <a:ea typeface="Calibri" pitchFamily="34" charset="-122"/>
                <a:cs typeface="Calibri" pitchFamily="34" charset="-120"/>
              </a:rPr>
              <a:t>unlock + verify</a:t>
            </a:r>
            <a:endParaRPr lang="en-US" sz="1350" dirty="0"/>
          </a:p>
        </p:txBody>
      </p:sp>
      <p:sp>
        <p:nvSpPr>
          <p:cNvPr id="28" name="node SettlementService @Transactional"/>
          <p:cNvSpPr/>
          <p:nvPr/>
        </p:nvSpPr>
        <p:spPr>
          <a:xfrm>
            <a:off x="8549640" y="3657600"/>
            <a:ext cx="3017520" cy="914400"/>
          </a:xfrm>
          <a:prstGeom prst="roundRect">
            <a:avLst>
              <a:gd name="adj" fmla="val 10000"/>
            </a:avLst>
          </a:prstGeom>
          <a:solidFill>
            <a:schemeClr val="accent2"/>
          </a:solidFill>
          <a:ln/>
        </p:spPr>
      </p:sp>
      <p:sp>
        <p:nvSpPr>
          <p:cNvPr id="29" name="Text 26"/>
          <p:cNvSpPr txBox="1"/>
          <p:nvPr/>
        </p:nvSpPr>
        <p:spPr>
          <a:xfrm>
            <a:off x="8622792" y="3657600"/>
            <a:ext cx="2871216" cy="914400"/>
          </a:xfrm>
          <a:prstGeom prst="rect">
            <a:avLst/>
          </a:prstGeom>
          <a:noFill/>
          <a:ln/>
        </p:spPr>
        <p:txBody>
          <a:bodyPr wrap="square" lIns="0" tIns="0" rIns="0" bIns="0" rtlCol="0" anchor="ctr"/>
          <a:lstStyle/>
          <a:p>
            <a:pPr algn="ctr" indent="0" marL="0">
              <a:buNone/>
            </a:pPr>
            <a:r>
              <a:rPr lang="en-US" sz="1350" b="1" dirty="0">
                <a:solidFill>
                  <a:schemeClr val="tx1"/>
                </a:solidFill>
                <a:latin typeface="Calibri" pitchFamily="34" charset="0"/>
                <a:ea typeface="Calibri" pitchFamily="34" charset="-122"/>
                <a:cs typeface="Calibri" pitchFamily="34" charset="-120"/>
              </a:rPr>
              <a:t>SettlementService</a:t>
            </a:r>
            <a:endParaRPr lang="en-US" sz="1350" dirty="0"/>
          </a:p>
          <a:p>
            <a:pPr algn="ctr" indent="0" marL="0">
              <a:buNone/>
            </a:pPr>
            <a:r>
              <a:rPr lang="en-US" sz="1350" b="1" dirty="0">
                <a:solidFill>
                  <a:schemeClr val="tx1"/>
                </a:solidFill>
                <a:latin typeface="Calibri" pitchFamily="34" charset="0"/>
                <a:ea typeface="Calibri" pitchFamily="34" charset="-122"/>
                <a:cs typeface="Calibri" pitchFamily="34" charset="-120"/>
              </a:rPr>
              <a:t>@Transactional</a:t>
            </a:r>
            <a:endParaRPr lang="en-US" sz="1350" dirty="0"/>
          </a:p>
        </p:txBody>
      </p:sp>
      <p:sp>
        <p:nvSpPr>
          <p:cNvPr id="30" name="arrow"/>
          <p:cNvSpPr/>
          <p:nvPr/>
        </p:nvSpPr>
        <p:spPr>
          <a:xfrm>
            <a:off x="10049256" y="4617720"/>
            <a:ext cx="0" cy="320040"/>
          </a:xfrm>
          <a:prstGeom prst="line">
            <a:avLst/>
          </a:prstGeom>
          <a:noFill/>
          <a:ln w="28575">
            <a:solidFill>
              <a:schemeClr val="accent5"/>
            </a:solidFill>
            <a:prstDash val="solid"/>
            <a:tailEnd type="triangle"/>
          </a:ln>
        </p:spPr>
      </p:sp>
      <p:sp>
        <p:nvSpPr>
          <p:cNvPr id="31" name="node Repositories + JDBC DAO"/>
          <p:cNvSpPr/>
          <p:nvPr/>
        </p:nvSpPr>
        <p:spPr>
          <a:xfrm>
            <a:off x="8549640" y="4983480"/>
            <a:ext cx="3017520" cy="502920"/>
          </a:xfrm>
          <a:prstGeom prst="roundRect">
            <a:avLst>
              <a:gd name="adj" fmla="val 18182"/>
            </a:avLst>
          </a:prstGeom>
          <a:solidFill>
            <a:schemeClr val="accent5"/>
          </a:solidFill>
          <a:ln/>
        </p:spPr>
      </p:sp>
      <p:sp>
        <p:nvSpPr>
          <p:cNvPr id="32" name="Text 29"/>
          <p:cNvSpPr txBox="1"/>
          <p:nvPr/>
        </p:nvSpPr>
        <p:spPr>
          <a:xfrm>
            <a:off x="8622792" y="4983480"/>
            <a:ext cx="2871216" cy="502920"/>
          </a:xfrm>
          <a:prstGeom prst="rect">
            <a:avLst/>
          </a:prstGeom>
          <a:noFill/>
          <a:ln/>
        </p:spPr>
        <p:txBody>
          <a:bodyPr wrap="square" lIns="0" tIns="0" rIns="0" bIns="0" rtlCol="0" anchor="ctr"/>
          <a:lstStyle/>
          <a:p>
            <a:pPr algn="ctr" indent="0" marL="0">
              <a:buNone/>
            </a:pPr>
            <a:r>
              <a:rPr lang="en-US" sz="1350" b="1" dirty="0">
                <a:solidFill>
                  <a:schemeClr val="bg1"/>
                </a:solidFill>
                <a:latin typeface="Calibri" pitchFamily="34" charset="0"/>
                <a:ea typeface="Calibri" pitchFamily="34" charset="-122"/>
                <a:cs typeface="Calibri" pitchFamily="34" charset="-120"/>
              </a:rPr>
              <a:t>Repositories + JDBC DAO</a:t>
            </a:r>
            <a:endParaRPr lang="en-US" sz="1350" dirty="0"/>
          </a:p>
        </p:txBody>
      </p:sp>
      <p:sp>
        <p:nvSpPr>
          <p:cNvPr id="33" name="arrow"/>
          <p:cNvSpPr/>
          <p:nvPr/>
        </p:nvSpPr>
        <p:spPr>
          <a:xfrm>
            <a:off x="10049256" y="5532120"/>
            <a:ext cx="0" cy="274320"/>
          </a:xfrm>
          <a:prstGeom prst="line">
            <a:avLst/>
          </a:prstGeom>
          <a:noFill/>
          <a:ln w="28575">
            <a:solidFill>
              <a:schemeClr val="accent5"/>
            </a:solidFill>
            <a:prstDash val="solid"/>
            <a:tailEnd type="triangle"/>
          </a:ln>
        </p:spPr>
      </p:sp>
      <p:sp>
        <p:nvSpPr>
          <p:cNvPr id="34" name="node H2 or MySQL"/>
          <p:cNvSpPr/>
          <p:nvPr/>
        </p:nvSpPr>
        <p:spPr>
          <a:xfrm>
            <a:off x="8549640" y="5760720"/>
            <a:ext cx="3017520" cy="365760"/>
          </a:xfrm>
          <a:prstGeom prst="roundRect">
            <a:avLst>
              <a:gd name="adj" fmla="val 25000"/>
            </a:avLst>
          </a:prstGeom>
          <a:solidFill>
            <a:schemeClr val="accent6"/>
          </a:solidFill>
          <a:ln/>
        </p:spPr>
      </p:sp>
      <p:sp>
        <p:nvSpPr>
          <p:cNvPr id="35" name="Text 32"/>
          <p:cNvSpPr txBox="1"/>
          <p:nvPr/>
        </p:nvSpPr>
        <p:spPr>
          <a:xfrm>
            <a:off x="8622792" y="5760720"/>
            <a:ext cx="2871216" cy="365760"/>
          </a:xfrm>
          <a:prstGeom prst="rect">
            <a:avLst/>
          </a:prstGeom>
          <a:noFill/>
          <a:ln/>
        </p:spPr>
        <p:txBody>
          <a:bodyPr wrap="square" lIns="0" tIns="0" rIns="0" bIns="0" rtlCol="0" anchor="ctr"/>
          <a:lstStyle/>
          <a:p>
            <a:pPr algn="ctr" indent="0" marL="0">
              <a:buNone/>
            </a:pPr>
            <a:r>
              <a:rPr lang="en-US" sz="1350" b="1" dirty="0">
                <a:solidFill>
                  <a:schemeClr val="bg1"/>
                </a:solidFill>
                <a:latin typeface="Calibri" pitchFamily="34" charset="0"/>
                <a:ea typeface="Calibri" pitchFamily="34" charset="-122"/>
                <a:cs typeface="Calibri" pitchFamily="34" charset="-120"/>
              </a:rPr>
              <a:t>H2 or MySQL</a:t>
            </a:r>
            <a:endParaRPr lang="en-US" sz="1350" dirty="0"/>
          </a:p>
        </p:txBody>
      </p:sp>
      <p:sp>
        <p:nvSpPr>
          <p:cNvPr id="36" name="node Servlets + Filter  (/servlet/*) CSV export, health, audit log"/>
          <p:cNvSpPr/>
          <p:nvPr/>
        </p:nvSpPr>
        <p:spPr>
          <a:xfrm>
            <a:off x="3611880" y="4846320"/>
            <a:ext cx="4480560" cy="640080"/>
          </a:xfrm>
          <a:prstGeom prst="roundRect">
            <a:avLst>
              <a:gd name="adj" fmla="val 14286"/>
            </a:avLst>
          </a:prstGeom>
          <a:solidFill>
            <a:schemeClr val="accent4"/>
          </a:solidFill>
          <a:ln/>
        </p:spPr>
      </p:sp>
      <p:sp>
        <p:nvSpPr>
          <p:cNvPr id="37" name="Text 34"/>
          <p:cNvSpPr txBox="1"/>
          <p:nvPr/>
        </p:nvSpPr>
        <p:spPr>
          <a:xfrm>
            <a:off x="3685032" y="4846320"/>
            <a:ext cx="4334256" cy="6400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Servlets + Filter  (/servlet/*)</a:t>
            </a:r>
            <a:endParaRPr lang="en-US" sz="1300" dirty="0"/>
          </a:p>
          <a:p>
            <a:pPr algn="ctr" indent="0" marL="0">
              <a:buNone/>
            </a:pPr>
            <a:r>
              <a:rPr lang="en-US" sz="1300" b="1" dirty="0">
                <a:solidFill>
                  <a:schemeClr val="bg1"/>
                </a:solidFill>
                <a:latin typeface="Calibri" pitchFamily="34" charset="0"/>
                <a:ea typeface="Calibri" pitchFamily="34" charset="-122"/>
                <a:cs typeface="Calibri" pitchFamily="34" charset="-120"/>
              </a:rPr>
              <a:t>CSV export, health, audit log</a:t>
            </a:r>
            <a:endParaRPr lang="en-US" sz="1300" dirty="0"/>
          </a:p>
        </p:txBody>
      </p:sp>
      <p:sp>
        <p:nvSpPr>
          <p:cNvPr id="38" name="arrow"/>
          <p:cNvSpPr/>
          <p:nvPr/>
        </p:nvSpPr>
        <p:spPr>
          <a:xfrm>
            <a:off x="8138160" y="5138928"/>
            <a:ext cx="365760" cy="0"/>
          </a:xfrm>
          <a:prstGeom prst="line">
            <a:avLst/>
          </a:prstGeom>
          <a:noFill/>
          <a:ln w="28575">
            <a:solidFill>
              <a:schemeClr val="accent5"/>
            </a:solidFill>
            <a:prstDash val="solid"/>
            <a:tailEnd type="triangle"/>
          </a:ln>
        </p:spPr>
      </p:sp>
      <p:sp>
        <p:nvSpPr>
          <p:cNvPr id="39" name="Text 36"/>
          <p:cNvSpPr txBox="1"/>
          <p:nvPr/>
        </p:nvSpPr>
        <p:spPr>
          <a:xfrm>
            <a:off x="3611880" y="5577840"/>
            <a:ext cx="4892040" cy="594360"/>
          </a:xfrm>
          <a:prstGeom prst="rect">
            <a:avLst/>
          </a:prstGeom>
          <a:noFill/>
          <a:ln/>
        </p:spPr>
        <p:txBody>
          <a:bodyPr wrap="square" lIns="0" tIns="0" rIns="0" bIns="0" rtlCol="0" anchor="t"/>
          <a:lstStyle/>
          <a:p>
            <a:pPr algn="l" indent="0" marL="0">
              <a:buNone/>
            </a:pPr>
            <a:r>
              <a:rPr lang="en-US" sz="1250" dirty="0">
                <a:solidFill>
                  <a:schemeClr val="accent5"/>
                </a:solidFill>
                <a:latin typeface="Calibri" pitchFamily="34" charset="0"/>
                <a:ea typeface="Calibri" pitchFamily="34" charset="-122"/>
                <a:cs typeface="Calibri" pitchFamily="34" charset="-120"/>
              </a:rPr>
              <a:t>Classes: Account, Transaction, MeshPacket, PaymentInstruction.</a:t>
            </a:r>
            <a:endParaRPr lang="en-US" sz="1250" dirty="0"/>
          </a:p>
          <a:p>
            <a:pPr algn="l" indent="0" marL="0">
              <a:buNone/>
            </a:pPr>
            <a:r>
              <a:rPr lang="en-US" sz="1250" dirty="0">
                <a:solidFill>
                  <a:schemeClr val="accent5"/>
                </a:solidFill>
                <a:latin typeface="Calibri" pitchFamily="34" charset="0"/>
                <a:ea typeface="Calibri" pitchFamily="34" charset="-122"/>
                <a:cs typeface="Calibri" pitchFamily="34" charset="-120"/>
              </a:rPr>
              <a:t>Many requests run at once. Responses go back as JSON or CSV.</a:t>
            </a:r>
            <a:endParaRPr lang="en-US" sz="125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One payment, start to finish</a:t>
            </a:r>
            <a:endParaRPr lang="en-US" sz="3400" dirty="0"/>
          </a:p>
        </p:txBody>
      </p:sp>
      <p:sp>
        <p:nvSpPr>
          <p:cNvPr id="4" name="step 1"/>
          <p:cNvSpPr/>
          <p:nvPr/>
        </p:nvSpPr>
        <p:spPr>
          <a:xfrm>
            <a:off x="457200" y="1280160"/>
            <a:ext cx="3630168" cy="1344168"/>
          </a:xfrm>
          <a:prstGeom prst="roundRect">
            <a:avLst>
              <a:gd name="adj" fmla="val 8163"/>
            </a:avLst>
          </a:prstGeom>
          <a:solidFill>
            <a:schemeClr val="bg2"/>
          </a:solidFill>
          <a:ln/>
        </p:spPr>
      </p:sp>
      <p:sp>
        <p:nvSpPr>
          <p:cNvPr id="5" name="step num"/>
          <p:cNvSpPr/>
          <p:nvPr/>
        </p:nvSpPr>
        <p:spPr>
          <a:xfrm>
            <a:off x="640080" y="1463040"/>
            <a:ext cx="548640" cy="548640"/>
          </a:xfrm>
          <a:prstGeom prst="ellipse">
            <a:avLst/>
          </a:prstGeom>
          <a:solidFill>
            <a:schemeClr val="accent1"/>
          </a:solidFill>
          <a:ln/>
        </p:spPr>
      </p:sp>
      <p:sp>
        <p:nvSpPr>
          <p:cNvPr id="6" name="Text 3"/>
          <p:cNvSpPr txBox="1"/>
          <p:nvPr/>
        </p:nvSpPr>
        <p:spPr>
          <a:xfrm>
            <a:off x="64008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371600" y="1444752"/>
            <a:ext cx="2606040" cy="59436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Alice taps Pay ₹500</a:t>
            </a:r>
            <a:endParaRPr lang="en-US" sz="1700" dirty="0"/>
          </a:p>
        </p:txBody>
      </p:sp>
      <p:sp>
        <p:nvSpPr>
          <p:cNvPr id="8" name="Text 5"/>
          <p:cNvSpPr txBox="1"/>
          <p:nvPr/>
        </p:nvSpPr>
        <p:spPr>
          <a:xfrm>
            <a:off x="640080" y="2084832"/>
            <a:ext cx="3264408" cy="502920"/>
          </a:xfrm>
          <a:prstGeom prst="rect">
            <a:avLst/>
          </a:prstGeom>
          <a:noFill/>
          <a:ln/>
        </p:spPr>
        <p:txBody>
          <a:bodyPr wrap="square" lIns="0" tIns="0" rIns="0" bIns="0" rtlCol="0" anchor="t"/>
          <a:lstStyle/>
          <a:p>
            <a:pPr algn="l" indent="0" marL="0">
              <a:buNone/>
            </a:pPr>
            <a:r>
              <a:rPr lang="en-US" sz="1450" dirty="0">
                <a:solidFill>
                  <a:schemeClr val="tx1"/>
                </a:solidFill>
                <a:latin typeface="Calibri" pitchFamily="34" charset="0"/>
                <a:ea typeface="Calibri" pitchFamily="34" charset="-122"/>
                <a:cs typeface="Calibri" pitchFamily="34" charset="-120"/>
              </a:rPr>
              <a:t>Phone builds and locks the packet.</a:t>
            </a:r>
            <a:endParaRPr lang="en-US" sz="1450" dirty="0"/>
          </a:p>
        </p:txBody>
      </p:sp>
      <p:sp>
        <p:nvSpPr>
          <p:cNvPr id="9" name="step 2"/>
          <p:cNvSpPr/>
          <p:nvPr/>
        </p:nvSpPr>
        <p:spPr>
          <a:xfrm>
            <a:off x="4279392" y="1280160"/>
            <a:ext cx="3630168" cy="1344168"/>
          </a:xfrm>
          <a:prstGeom prst="roundRect">
            <a:avLst>
              <a:gd name="adj" fmla="val 8163"/>
            </a:avLst>
          </a:prstGeom>
          <a:solidFill>
            <a:schemeClr val="bg2"/>
          </a:solidFill>
          <a:ln/>
        </p:spPr>
      </p:sp>
      <p:sp>
        <p:nvSpPr>
          <p:cNvPr id="10" name="step num"/>
          <p:cNvSpPr/>
          <p:nvPr/>
        </p:nvSpPr>
        <p:spPr>
          <a:xfrm>
            <a:off x="4462272" y="1463040"/>
            <a:ext cx="548640" cy="548640"/>
          </a:xfrm>
          <a:prstGeom prst="ellipse">
            <a:avLst/>
          </a:prstGeom>
          <a:solidFill>
            <a:schemeClr val="accent1"/>
          </a:solidFill>
          <a:ln/>
        </p:spPr>
      </p:sp>
      <p:sp>
        <p:nvSpPr>
          <p:cNvPr id="11" name="Text 8"/>
          <p:cNvSpPr txBox="1"/>
          <p:nvPr/>
        </p:nvSpPr>
        <p:spPr>
          <a:xfrm>
            <a:off x="4462272"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2" name="Text 9"/>
          <p:cNvSpPr txBox="1"/>
          <p:nvPr/>
        </p:nvSpPr>
        <p:spPr>
          <a:xfrm>
            <a:off x="5193792" y="1444752"/>
            <a:ext cx="2606040" cy="59436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Phones gossip</a:t>
            </a:r>
            <a:endParaRPr lang="en-US" sz="1700" dirty="0"/>
          </a:p>
        </p:txBody>
      </p:sp>
      <p:sp>
        <p:nvSpPr>
          <p:cNvPr id="13" name="Text 10"/>
          <p:cNvSpPr txBox="1"/>
          <p:nvPr/>
        </p:nvSpPr>
        <p:spPr>
          <a:xfrm>
            <a:off x="4462272" y="2084832"/>
            <a:ext cx="3264408" cy="502920"/>
          </a:xfrm>
          <a:prstGeom prst="rect">
            <a:avLst/>
          </a:prstGeom>
          <a:noFill/>
          <a:ln/>
        </p:spPr>
        <p:txBody>
          <a:bodyPr wrap="square" lIns="0" tIns="0" rIns="0" bIns="0" rtlCol="0" anchor="t"/>
          <a:lstStyle/>
          <a:p>
            <a:pPr algn="l" indent="0" marL="0">
              <a:buNone/>
            </a:pPr>
            <a:r>
              <a:rPr lang="en-US" sz="1450" dirty="0">
                <a:solidFill>
                  <a:schemeClr val="tx1"/>
                </a:solidFill>
                <a:latin typeface="Calibri" pitchFamily="34" charset="0"/>
                <a:ea typeface="Calibri" pitchFamily="34" charset="-122"/>
                <a:cs typeface="Calibri" pitchFamily="34" charset="-120"/>
              </a:rPr>
              <a:t>Copies spread, TTL 5 → 4 → 3.</a:t>
            </a:r>
            <a:endParaRPr lang="en-US" sz="1450" dirty="0"/>
          </a:p>
        </p:txBody>
      </p:sp>
      <p:sp>
        <p:nvSpPr>
          <p:cNvPr id="14" name="step 3"/>
          <p:cNvSpPr/>
          <p:nvPr/>
        </p:nvSpPr>
        <p:spPr>
          <a:xfrm>
            <a:off x="8101584" y="1280160"/>
            <a:ext cx="3630168" cy="1344168"/>
          </a:xfrm>
          <a:prstGeom prst="roundRect">
            <a:avLst>
              <a:gd name="adj" fmla="val 8163"/>
            </a:avLst>
          </a:prstGeom>
          <a:solidFill>
            <a:schemeClr val="bg2"/>
          </a:solidFill>
          <a:ln/>
        </p:spPr>
      </p:sp>
      <p:sp>
        <p:nvSpPr>
          <p:cNvPr id="15" name="step num"/>
          <p:cNvSpPr/>
          <p:nvPr/>
        </p:nvSpPr>
        <p:spPr>
          <a:xfrm>
            <a:off x="8284464" y="1463040"/>
            <a:ext cx="548640" cy="548640"/>
          </a:xfrm>
          <a:prstGeom prst="ellipse">
            <a:avLst/>
          </a:prstGeom>
          <a:solidFill>
            <a:schemeClr val="accent1"/>
          </a:solidFill>
          <a:ln/>
        </p:spPr>
      </p:sp>
      <p:sp>
        <p:nvSpPr>
          <p:cNvPr id="16" name="Text 13"/>
          <p:cNvSpPr txBox="1"/>
          <p:nvPr/>
        </p:nvSpPr>
        <p:spPr>
          <a:xfrm>
            <a:off x="8284464"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9015984" y="1444752"/>
            <a:ext cx="2606040" cy="59436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Bridge gets signal</a:t>
            </a:r>
            <a:endParaRPr lang="en-US" sz="1700" dirty="0"/>
          </a:p>
        </p:txBody>
      </p:sp>
      <p:sp>
        <p:nvSpPr>
          <p:cNvPr id="18" name="Text 15"/>
          <p:cNvSpPr txBox="1"/>
          <p:nvPr/>
        </p:nvSpPr>
        <p:spPr>
          <a:xfrm>
            <a:off x="8284464" y="2084832"/>
            <a:ext cx="3264408" cy="502920"/>
          </a:xfrm>
          <a:prstGeom prst="rect">
            <a:avLst/>
          </a:prstGeom>
          <a:noFill/>
          <a:ln/>
        </p:spPr>
        <p:txBody>
          <a:bodyPr wrap="square" lIns="0" tIns="0" rIns="0" bIns="0" rtlCol="0" anchor="t"/>
          <a:lstStyle/>
          <a:p>
            <a:pPr algn="l" indent="0" marL="0">
              <a:buNone/>
            </a:pPr>
            <a:r>
              <a:rPr lang="en-US" sz="1450" dirty="0">
                <a:solidFill>
                  <a:schemeClr val="tx1"/>
                </a:solidFill>
                <a:latin typeface="Calibri" pitchFamily="34" charset="0"/>
                <a:ea typeface="Calibri" pitchFamily="34" charset="-122"/>
                <a:cs typeface="Calibri" pitchFamily="34" charset="-120"/>
              </a:rPr>
              <a:t>It POSTs to /api/bridge/ingest.</a:t>
            </a:r>
            <a:endParaRPr lang="en-US" sz="1450" dirty="0"/>
          </a:p>
        </p:txBody>
      </p:sp>
      <p:sp>
        <p:nvSpPr>
          <p:cNvPr id="19" name="step 4"/>
          <p:cNvSpPr/>
          <p:nvPr/>
        </p:nvSpPr>
        <p:spPr>
          <a:xfrm>
            <a:off x="457200" y="2761488"/>
            <a:ext cx="3630168" cy="1344168"/>
          </a:xfrm>
          <a:prstGeom prst="roundRect">
            <a:avLst>
              <a:gd name="adj" fmla="val 8163"/>
            </a:avLst>
          </a:prstGeom>
          <a:solidFill>
            <a:schemeClr val="bg2"/>
          </a:solidFill>
          <a:ln/>
        </p:spPr>
      </p:sp>
      <p:sp>
        <p:nvSpPr>
          <p:cNvPr id="20" name="step num"/>
          <p:cNvSpPr/>
          <p:nvPr/>
        </p:nvSpPr>
        <p:spPr>
          <a:xfrm>
            <a:off x="640080" y="2944368"/>
            <a:ext cx="548640" cy="548640"/>
          </a:xfrm>
          <a:prstGeom prst="ellipse">
            <a:avLst/>
          </a:prstGeom>
          <a:solidFill>
            <a:schemeClr val="accent1"/>
          </a:solidFill>
          <a:ln/>
        </p:spPr>
      </p:sp>
      <p:sp>
        <p:nvSpPr>
          <p:cNvPr id="21" name="Text 18"/>
          <p:cNvSpPr txBox="1"/>
          <p:nvPr/>
        </p:nvSpPr>
        <p:spPr>
          <a:xfrm>
            <a:off x="640080" y="2944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22" name="Text 19"/>
          <p:cNvSpPr txBox="1"/>
          <p:nvPr/>
        </p:nvSpPr>
        <p:spPr>
          <a:xfrm>
            <a:off x="1371600" y="2926080"/>
            <a:ext cx="2606040" cy="59436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Controller receives</a:t>
            </a:r>
            <a:endParaRPr lang="en-US" sz="1700" dirty="0"/>
          </a:p>
        </p:txBody>
      </p:sp>
      <p:sp>
        <p:nvSpPr>
          <p:cNvPr id="23" name="Text 20"/>
          <p:cNvSpPr txBox="1"/>
          <p:nvPr/>
        </p:nvSpPr>
        <p:spPr>
          <a:xfrm>
            <a:off x="640080" y="3566160"/>
            <a:ext cx="3264408" cy="502920"/>
          </a:xfrm>
          <a:prstGeom prst="rect">
            <a:avLst/>
          </a:prstGeom>
          <a:noFill/>
          <a:ln/>
        </p:spPr>
        <p:txBody>
          <a:bodyPr wrap="square" lIns="0" tIns="0" rIns="0" bIns="0" rtlCol="0" anchor="t"/>
          <a:lstStyle/>
          <a:p>
            <a:pPr algn="l" indent="0" marL="0">
              <a:buNone/>
            </a:pPr>
            <a:r>
              <a:rPr lang="en-US" sz="1450" dirty="0">
                <a:solidFill>
                  <a:schemeClr val="tx1"/>
                </a:solidFill>
                <a:latin typeface="Calibri" pitchFamily="34" charset="0"/>
                <a:ea typeface="Calibri" pitchFamily="34" charset="-122"/>
                <a:cs typeface="Calibri" pitchFamily="34" charset="-120"/>
              </a:rPr>
              <a:t>Reads node ID and hop count.</a:t>
            </a:r>
            <a:endParaRPr lang="en-US" sz="1450" dirty="0"/>
          </a:p>
        </p:txBody>
      </p:sp>
      <p:sp>
        <p:nvSpPr>
          <p:cNvPr id="24" name="step 5"/>
          <p:cNvSpPr/>
          <p:nvPr/>
        </p:nvSpPr>
        <p:spPr>
          <a:xfrm>
            <a:off x="4279392" y="2761488"/>
            <a:ext cx="3630168" cy="1344168"/>
          </a:xfrm>
          <a:prstGeom prst="roundRect">
            <a:avLst>
              <a:gd name="adj" fmla="val 8163"/>
            </a:avLst>
          </a:prstGeom>
          <a:solidFill>
            <a:srgbClr val="FDF1DC"/>
          </a:solidFill>
          <a:ln/>
        </p:spPr>
      </p:sp>
      <p:sp>
        <p:nvSpPr>
          <p:cNvPr id="25" name="step num"/>
          <p:cNvSpPr/>
          <p:nvPr/>
        </p:nvSpPr>
        <p:spPr>
          <a:xfrm>
            <a:off x="4462272" y="2944368"/>
            <a:ext cx="548640" cy="548640"/>
          </a:xfrm>
          <a:prstGeom prst="ellipse">
            <a:avLst/>
          </a:prstGeom>
          <a:solidFill>
            <a:schemeClr val="accent3"/>
          </a:solidFill>
          <a:ln/>
        </p:spPr>
      </p:sp>
      <p:sp>
        <p:nvSpPr>
          <p:cNvPr id="26" name="Text 23"/>
          <p:cNvSpPr txBox="1"/>
          <p:nvPr/>
        </p:nvSpPr>
        <p:spPr>
          <a:xfrm>
            <a:off x="4462272" y="2944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27" name="Text 24"/>
          <p:cNvSpPr txBox="1"/>
          <p:nvPr/>
        </p:nvSpPr>
        <p:spPr>
          <a:xfrm>
            <a:off x="5193792" y="2926080"/>
            <a:ext cx="2606040" cy="59436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Fingerprint claimed</a:t>
            </a:r>
            <a:endParaRPr lang="en-US" sz="1700" dirty="0"/>
          </a:p>
        </p:txBody>
      </p:sp>
      <p:sp>
        <p:nvSpPr>
          <p:cNvPr id="28" name="Text 25"/>
          <p:cNvSpPr txBox="1"/>
          <p:nvPr/>
        </p:nvSpPr>
        <p:spPr>
          <a:xfrm>
            <a:off x="4462272" y="3566160"/>
            <a:ext cx="3264408" cy="502920"/>
          </a:xfrm>
          <a:prstGeom prst="rect">
            <a:avLst/>
          </a:prstGeom>
          <a:noFill/>
          <a:ln/>
        </p:spPr>
        <p:txBody>
          <a:bodyPr wrap="square" lIns="0" tIns="0" rIns="0" bIns="0" rtlCol="0" anchor="t"/>
          <a:lstStyle/>
          <a:p>
            <a:pPr algn="l" indent="0" marL="0">
              <a:buNone/>
            </a:pPr>
            <a:r>
              <a:rPr lang="en-US" sz="1450" dirty="0">
                <a:solidFill>
                  <a:schemeClr val="tx1"/>
                </a:solidFill>
                <a:latin typeface="Calibri" pitchFamily="34" charset="0"/>
                <a:ea typeface="Calibri" pitchFamily="34" charset="-122"/>
                <a:cs typeface="Calibri" pitchFamily="34" charset="-120"/>
              </a:rPr>
              <a:t>First copy wins. Later copies are dropped.</a:t>
            </a:r>
            <a:endParaRPr lang="en-US" sz="1450" dirty="0"/>
          </a:p>
        </p:txBody>
      </p:sp>
      <p:sp>
        <p:nvSpPr>
          <p:cNvPr id="29" name="step 6"/>
          <p:cNvSpPr/>
          <p:nvPr/>
        </p:nvSpPr>
        <p:spPr>
          <a:xfrm>
            <a:off x="8101584" y="2761488"/>
            <a:ext cx="3630168" cy="1344168"/>
          </a:xfrm>
          <a:prstGeom prst="roundRect">
            <a:avLst>
              <a:gd name="adj" fmla="val 8163"/>
            </a:avLst>
          </a:prstGeom>
          <a:solidFill>
            <a:srgbClr val="FDF1DC"/>
          </a:solidFill>
          <a:ln/>
        </p:spPr>
      </p:sp>
      <p:sp>
        <p:nvSpPr>
          <p:cNvPr id="30" name="step num"/>
          <p:cNvSpPr/>
          <p:nvPr/>
        </p:nvSpPr>
        <p:spPr>
          <a:xfrm>
            <a:off x="8284464" y="2944368"/>
            <a:ext cx="548640" cy="548640"/>
          </a:xfrm>
          <a:prstGeom prst="ellipse">
            <a:avLst/>
          </a:prstGeom>
          <a:solidFill>
            <a:schemeClr val="accent3"/>
          </a:solidFill>
          <a:ln/>
        </p:spPr>
      </p:sp>
      <p:sp>
        <p:nvSpPr>
          <p:cNvPr id="31" name="Text 28"/>
          <p:cNvSpPr txBox="1"/>
          <p:nvPr/>
        </p:nvSpPr>
        <p:spPr>
          <a:xfrm>
            <a:off x="8284464" y="2944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6</a:t>
            </a:r>
            <a:endParaRPr lang="en-US" sz="1800" dirty="0"/>
          </a:p>
        </p:txBody>
      </p:sp>
      <p:sp>
        <p:nvSpPr>
          <p:cNvPr id="32" name="Text 29"/>
          <p:cNvSpPr txBox="1"/>
          <p:nvPr/>
        </p:nvSpPr>
        <p:spPr>
          <a:xfrm>
            <a:off x="9015984" y="2926080"/>
            <a:ext cx="2606040" cy="59436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Server unlocks packet</a:t>
            </a:r>
            <a:endParaRPr lang="en-US" sz="1700" dirty="0"/>
          </a:p>
        </p:txBody>
      </p:sp>
      <p:sp>
        <p:nvSpPr>
          <p:cNvPr id="33" name="Text 30"/>
          <p:cNvSpPr txBox="1"/>
          <p:nvPr/>
        </p:nvSpPr>
        <p:spPr>
          <a:xfrm>
            <a:off x="8284464" y="3566160"/>
            <a:ext cx="3264408" cy="502920"/>
          </a:xfrm>
          <a:prstGeom prst="rect">
            <a:avLst/>
          </a:prstGeom>
          <a:noFill/>
          <a:ln/>
        </p:spPr>
        <p:txBody>
          <a:bodyPr wrap="square" lIns="0" tIns="0" rIns="0" bIns="0" rtlCol="0" anchor="t"/>
          <a:lstStyle/>
          <a:p>
            <a:pPr algn="l" indent="0" marL="0">
              <a:buNone/>
            </a:pPr>
            <a:r>
              <a:rPr lang="en-US" sz="1450" dirty="0">
                <a:solidFill>
                  <a:schemeClr val="tx1"/>
                </a:solidFill>
                <a:latin typeface="Calibri" pitchFamily="34" charset="0"/>
                <a:ea typeface="Calibri" pitchFamily="34" charset="-122"/>
                <a:cs typeface="Calibri" pitchFamily="34" charset="-120"/>
              </a:rPr>
              <a:t>Tampered? Rejected right here.</a:t>
            </a:r>
            <a:endParaRPr lang="en-US" sz="1450" dirty="0"/>
          </a:p>
        </p:txBody>
      </p:sp>
      <p:sp>
        <p:nvSpPr>
          <p:cNvPr id="34" name="step 7"/>
          <p:cNvSpPr/>
          <p:nvPr/>
        </p:nvSpPr>
        <p:spPr>
          <a:xfrm>
            <a:off x="457200" y="4242816"/>
            <a:ext cx="3630168" cy="1344168"/>
          </a:xfrm>
          <a:prstGeom prst="roundRect">
            <a:avLst>
              <a:gd name="adj" fmla="val 8163"/>
            </a:avLst>
          </a:prstGeom>
          <a:solidFill>
            <a:schemeClr val="bg2"/>
          </a:solidFill>
          <a:ln/>
        </p:spPr>
      </p:sp>
      <p:sp>
        <p:nvSpPr>
          <p:cNvPr id="35" name="step num"/>
          <p:cNvSpPr/>
          <p:nvPr/>
        </p:nvSpPr>
        <p:spPr>
          <a:xfrm>
            <a:off x="640080" y="4425696"/>
            <a:ext cx="548640" cy="548640"/>
          </a:xfrm>
          <a:prstGeom prst="ellipse">
            <a:avLst/>
          </a:prstGeom>
          <a:solidFill>
            <a:schemeClr val="accent3"/>
          </a:solidFill>
          <a:ln/>
        </p:spPr>
      </p:sp>
      <p:sp>
        <p:nvSpPr>
          <p:cNvPr id="36" name="Text 33"/>
          <p:cNvSpPr txBox="1"/>
          <p:nvPr/>
        </p:nvSpPr>
        <p:spPr>
          <a:xfrm>
            <a:off x="640080" y="442569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7</a:t>
            </a:r>
            <a:endParaRPr lang="en-US" sz="1800" dirty="0"/>
          </a:p>
        </p:txBody>
      </p:sp>
      <p:sp>
        <p:nvSpPr>
          <p:cNvPr id="37" name="Text 34"/>
          <p:cNvSpPr txBox="1"/>
          <p:nvPr/>
        </p:nvSpPr>
        <p:spPr>
          <a:xfrm>
            <a:off x="1371600" y="4407408"/>
            <a:ext cx="2606040" cy="59436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Freshness check</a:t>
            </a:r>
            <a:endParaRPr lang="en-US" sz="1700" dirty="0"/>
          </a:p>
        </p:txBody>
      </p:sp>
      <p:sp>
        <p:nvSpPr>
          <p:cNvPr id="38" name="Text 35"/>
          <p:cNvSpPr txBox="1"/>
          <p:nvPr/>
        </p:nvSpPr>
        <p:spPr>
          <a:xfrm>
            <a:off x="640080" y="5047488"/>
            <a:ext cx="3264408" cy="502920"/>
          </a:xfrm>
          <a:prstGeom prst="rect">
            <a:avLst/>
          </a:prstGeom>
          <a:noFill/>
          <a:ln/>
        </p:spPr>
        <p:txBody>
          <a:bodyPr wrap="square" lIns="0" tIns="0" rIns="0" bIns="0" rtlCol="0" anchor="t"/>
          <a:lstStyle/>
          <a:p>
            <a:pPr algn="l" indent="0" marL="0">
              <a:buNone/>
            </a:pPr>
            <a:r>
              <a:rPr lang="en-US" sz="1450" dirty="0">
                <a:solidFill>
                  <a:schemeClr val="tx1"/>
                </a:solidFill>
                <a:latin typeface="Calibri" pitchFamily="34" charset="0"/>
                <a:ea typeface="Calibri" pitchFamily="34" charset="-122"/>
                <a:cs typeface="Calibri" pitchFamily="34" charset="-120"/>
              </a:rPr>
              <a:t>Within 24 hours? Not future-dated?</a:t>
            </a:r>
            <a:endParaRPr lang="en-US" sz="1450" dirty="0"/>
          </a:p>
        </p:txBody>
      </p:sp>
      <p:sp>
        <p:nvSpPr>
          <p:cNvPr id="39" name="step 8"/>
          <p:cNvSpPr/>
          <p:nvPr/>
        </p:nvSpPr>
        <p:spPr>
          <a:xfrm>
            <a:off x="4279392" y="4242816"/>
            <a:ext cx="3630168" cy="1344168"/>
          </a:xfrm>
          <a:prstGeom prst="roundRect">
            <a:avLst>
              <a:gd name="adj" fmla="val 8163"/>
            </a:avLst>
          </a:prstGeom>
          <a:solidFill>
            <a:schemeClr val="bg2"/>
          </a:solidFill>
          <a:ln/>
        </p:spPr>
      </p:sp>
      <p:sp>
        <p:nvSpPr>
          <p:cNvPr id="40" name="step num"/>
          <p:cNvSpPr/>
          <p:nvPr/>
        </p:nvSpPr>
        <p:spPr>
          <a:xfrm>
            <a:off x="4462272" y="4425696"/>
            <a:ext cx="548640" cy="548640"/>
          </a:xfrm>
          <a:prstGeom prst="ellipse">
            <a:avLst/>
          </a:prstGeom>
          <a:solidFill>
            <a:schemeClr val="accent1"/>
          </a:solidFill>
          <a:ln/>
        </p:spPr>
      </p:sp>
      <p:sp>
        <p:nvSpPr>
          <p:cNvPr id="41" name="Text 38"/>
          <p:cNvSpPr txBox="1"/>
          <p:nvPr/>
        </p:nvSpPr>
        <p:spPr>
          <a:xfrm>
            <a:off x="4462272" y="442569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8</a:t>
            </a:r>
            <a:endParaRPr lang="en-US" sz="1800" dirty="0"/>
          </a:p>
        </p:txBody>
      </p:sp>
      <p:sp>
        <p:nvSpPr>
          <p:cNvPr id="42" name="Text 39"/>
          <p:cNvSpPr txBox="1"/>
          <p:nvPr/>
        </p:nvSpPr>
        <p:spPr>
          <a:xfrm>
            <a:off x="5193792" y="4407408"/>
            <a:ext cx="2606040" cy="59436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Money moves</a:t>
            </a:r>
            <a:endParaRPr lang="en-US" sz="1700" dirty="0"/>
          </a:p>
        </p:txBody>
      </p:sp>
      <p:sp>
        <p:nvSpPr>
          <p:cNvPr id="43" name="Text 40"/>
          <p:cNvSpPr txBox="1"/>
          <p:nvPr/>
        </p:nvSpPr>
        <p:spPr>
          <a:xfrm>
            <a:off x="4462272" y="5047488"/>
            <a:ext cx="3264408" cy="502920"/>
          </a:xfrm>
          <a:prstGeom prst="rect">
            <a:avLst/>
          </a:prstGeom>
          <a:noFill/>
          <a:ln/>
        </p:spPr>
        <p:txBody>
          <a:bodyPr wrap="square" lIns="0" tIns="0" rIns="0" bIns="0" rtlCol="0" anchor="t"/>
          <a:lstStyle/>
          <a:p>
            <a:pPr algn="l" indent="0" marL="0">
              <a:buNone/>
            </a:pPr>
            <a:r>
              <a:rPr lang="en-US" sz="1450" dirty="0">
                <a:solidFill>
                  <a:schemeClr val="tx1"/>
                </a:solidFill>
                <a:latin typeface="Calibri" pitchFamily="34" charset="0"/>
                <a:ea typeface="Calibri" pitchFamily="34" charset="-122"/>
                <a:cs typeface="Calibri" pitchFamily="34" charset="-120"/>
              </a:rPr>
              <a:t>Alice −500, Bob +500, ledger row saved.</a:t>
            </a:r>
            <a:endParaRPr lang="en-US" sz="1450" dirty="0"/>
          </a:p>
        </p:txBody>
      </p:sp>
      <p:sp>
        <p:nvSpPr>
          <p:cNvPr id="44" name="step 9"/>
          <p:cNvSpPr/>
          <p:nvPr/>
        </p:nvSpPr>
        <p:spPr>
          <a:xfrm>
            <a:off x="8101584" y="4242816"/>
            <a:ext cx="3630168" cy="1344168"/>
          </a:xfrm>
          <a:prstGeom prst="roundRect">
            <a:avLst>
              <a:gd name="adj" fmla="val 8163"/>
            </a:avLst>
          </a:prstGeom>
          <a:solidFill>
            <a:schemeClr val="bg2"/>
          </a:solidFill>
          <a:ln/>
        </p:spPr>
      </p:sp>
      <p:sp>
        <p:nvSpPr>
          <p:cNvPr id="45" name="step num"/>
          <p:cNvSpPr/>
          <p:nvPr/>
        </p:nvSpPr>
        <p:spPr>
          <a:xfrm>
            <a:off x="8284464" y="4425696"/>
            <a:ext cx="548640" cy="548640"/>
          </a:xfrm>
          <a:prstGeom prst="ellipse">
            <a:avLst/>
          </a:prstGeom>
          <a:solidFill>
            <a:schemeClr val="accent1"/>
          </a:solidFill>
          <a:ln/>
        </p:spPr>
      </p:sp>
      <p:sp>
        <p:nvSpPr>
          <p:cNvPr id="46" name="Text 43"/>
          <p:cNvSpPr txBox="1"/>
          <p:nvPr/>
        </p:nvSpPr>
        <p:spPr>
          <a:xfrm>
            <a:off x="8284464" y="442569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9</a:t>
            </a:r>
            <a:endParaRPr lang="en-US" sz="1800" dirty="0"/>
          </a:p>
        </p:txBody>
      </p:sp>
      <p:sp>
        <p:nvSpPr>
          <p:cNvPr id="47" name="Text 44"/>
          <p:cNvSpPr txBox="1"/>
          <p:nvPr/>
        </p:nvSpPr>
        <p:spPr>
          <a:xfrm>
            <a:off x="9015984" y="4407408"/>
            <a:ext cx="2606040" cy="594360"/>
          </a:xfrm>
          <a:prstGeom prst="rect">
            <a:avLst/>
          </a:prstGeom>
          <a:noFill/>
          <a:ln/>
        </p:spPr>
        <p:txBody>
          <a:bodyPr wrap="square" lIns="0" tIns="0" rIns="0" bIns="0" rtlCol="0" anchor="ctr"/>
          <a:lstStyle/>
          <a:p>
            <a:pPr algn="l" indent="0" marL="0">
              <a:buNone/>
            </a:pPr>
            <a:r>
              <a:rPr lang="en-US" sz="1700" b="1" dirty="0">
                <a:solidFill>
                  <a:schemeClr val="tx2"/>
                </a:solidFill>
                <a:latin typeface="Calibri" pitchFamily="34" charset="0"/>
                <a:ea typeface="Calibri" pitchFamily="34" charset="-122"/>
                <a:cs typeface="Calibri" pitchFamily="34" charset="-120"/>
              </a:rPr>
              <a:t>Answer returns</a:t>
            </a:r>
            <a:endParaRPr lang="en-US" sz="1700" dirty="0"/>
          </a:p>
        </p:txBody>
      </p:sp>
      <p:sp>
        <p:nvSpPr>
          <p:cNvPr id="48" name="Text 45"/>
          <p:cNvSpPr txBox="1"/>
          <p:nvPr/>
        </p:nvSpPr>
        <p:spPr>
          <a:xfrm>
            <a:off x="8284464" y="5047488"/>
            <a:ext cx="3264408" cy="502920"/>
          </a:xfrm>
          <a:prstGeom prst="rect">
            <a:avLst/>
          </a:prstGeom>
          <a:noFill/>
          <a:ln/>
        </p:spPr>
        <p:txBody>
          <a:bodyPr wrap="square" lIns="0" tIns="0" rIns="0" bIns="0" rtlCol="0" anchor="t"/>
          <a:lstStyle/>
          <a:p>
            <a:pPr algn="l" indent="0" marL="0">
              <a:buNone/>
            </a:pPr>
            <a:r>
              <a:rPr lang="en-US" sz="1450" dirty="0">
                <a:solidFill>
                  <a:schemeClr val="tx1"/>
                </a:solidFill>
                <a:latin typeface="Calibri" pitchFamily="34" charset="0"/>
                <a:ea typeface="Calibri" pitchFamily="34" charset="-122"/>
                <a:cs typeface="Calibri" pitchFamily="34" charset="-120"/>
              </a:rPr>
              <a:t>SETTLED. Dashboard shows new balances.</a:t>
            </a:r>
            <a:endParaRPr lang="en-US" sz="1450" dirty="0"/>
          </a:p>
        </p:txBody>
      </p:sp>
      <p:sp>
        <p:nvSpPr>
          <p:cNvPr id="49" name="takeaway"/>
          <p:cNvSpPr/>
          <p:nvPr/>
        </p:nvSpPr>
        <p:spPr>
          <a:xfrm>
            <a:off x="457200" y="5806440"/>
            <a:ext cx="11274552" cy="502920"/>
          </a:xfrm>
          <a:prstGeom prst="roundRect">
            <a:avLst>
              <a:gd name="adj" fmla="val 21818"/>
            </a:avLst>
          </a:prstGeom>
          <a:solidFill>
            <a:srgbClr val="FDF1DC"/>
          </a:solidFill>
          <a:ln/>
        </p:spPr>
      </p:sp>
      <p:sp>
        <p:nvSpPr>
          <p:cNvPr id="50" name="Text 47"/>
          <p:cNvSpPr txBox="1"/>
          <p:nvPr/>
        </p:nvSpPr>
        <p:spPr>
          <a:xfrm>
            <a:off x="640080" y="5806440"/>
            <a:ext cx="10881360" cy="502920"/>
          </a:xfrm>
          <a:prstGeom prst="rect">
            <a:avLst/>
          </a:prstGeom>
          <a:noFill/>
          <a:ln/>
        </p:spPr>
        <p:txBody>
          <a:bodyPr wrap="square" lIns="0" tIns="0" rIns="0" bIns="0" rtlCol="0" anchor="ctr"/>
          <a:lstStyle/>
          <a:p>
            <a:pPr algn="l" indent="0" marL="0">
              <a:buNone/>
            </a:pPr>
            <a:r>
              <a:rPr lang="en-US" sz="1600" b="1" dirty="0">
                <a:solidFill>
                  <a:schemeClr val="tx2"/>
                </a:solidFill>
                <a:latin typeface="Calibri" pitchFamily="34" charset="0"/>
                <a:ea typeface="Calibri" pitchFamily="34" charset="-122"/>
                <a:cs typeface="Calibri" pitchFamily="34" charset="-120"/>
              </a:rPr>
              <a:t>A copy at step 5 is dropped. A tampered packet stops at step 6. Money moves only at step 8.</a:t>
            </a:r>
            <a:endParaRPr lang="en-US" sz="16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What we achieved</a:t>
            </a:r>
            <a:endParaRPr lang="en-US" sz="3400" dirty="0"/>
          </a:p>
        </p:txBody>
      </p:sp>
      <p:sp>
        <p:nvSpPr>
          <p:cNvPr id="4" name="tile Four problems solved"/>
          <p:cNvSpPr/>
          <p:nvPr/>
        </p:nvSpPr>
        <p:spPr>
          <a:xfrm>
            <a:off x="457200" y="1325880"/>
            <a:ext cx="3630168" cy="2011680"/>
          </a:xfrm>
          <a:prstGeom prst="roundRect">
            <a:avLst>
              <a:gd name="adj" fmla="val 5455"/>
            </a:avLst>
          </a:prstGeom>
          <a:solidFill>
            <a:schemeClr val="bg2"/>
          </a:solidFill>
          <a:ln/>
        </p:spPr>
      </p:sp>
      <p:sp>
        <p:nvSpPr>
          <p:cNvPr id="5" name="Four problems solved circle"/>
          <p:cNvSpPr/>
          <p:nvPr/>
        </p:nvSpPr>
        <p:spPr>
          <a:xfrm>
            <a:off x="685800" y="1554480"/>
            <a:ext cx="685800" cy="685800"/>
          </a:xfrm>
          <a:prstGeom prst="ellipse">
            <a:avLst/>
          </a:prstGeom>
          <a:solidFill>
            <a:schemeClr val="accent1"/>
          </a:solidFill>
          <a:ln/>
        </p:spPr>
      </p:sp>
      <p:pic>
        <p:nvPicPr>
          <p:cNvPr id="6" name="Image 0" descr="Four problems solved">    </p:cNvPr>
          <p:cNvPicPr>
            <a:picLocks noChangeAspect="1"/>
          </p:cNvPicPr>
          <p:nvPr/>
        </p:nvPicPr>
        <p:blipFill>
          <a:blip r:embed="rId1"/>
          <a:stretch>
            <a:fillRect/>
          </a:stretch>
        </p:blipFill>
        <p:spPr>
          <a:xfrm>
            <a:off x="836676" y="1705356"/>
            <a:ext cx="384048" cy="384048"/>
          </a:xfrm>
          <a:prstGeom prst="rect">
            <a:avLst/>
          </a:prstGeom>
        </p:spPr>
      </p:pic>
      <p:sp>
        <p:nvSpPr>
          <p:cNvPr id="7" name="Text 3"/>
          <p:cNvSpPr txBox="1"/>
          <p:nvPr/>
        </p:nvSpPr>
        <p:spPr>
          <a:xfrm>
            <a:off x="1554480" y="1554480"/>
            <a:ext cx="2377440" cy="685800"/>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Four problems solved</a:t>
            </a:r>
            <a:endParaRPr lang="en-US" sz="1900" dirty="0"/>
          </a:p>
        </p:txBody>
      </p:sp>
      <p:sp>
        <p:nvSpPr>
          <p:cNvPr id="8" name="Text 4"/>
          <p:cNvSpPr txBox="1"/>
          <p:nvPr/>
        </p:nvSpPr>
        <p:spPr>
          <a:xfrm>
            <a:off x="685800" y="2423160"/>
            <a:ext cx="3200400" cy="86868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No internet, strangers, duplicates, correct money.</a:t>
            </a:r>
            <a:endParaRPr lang="en-US" sz="1600" dirty="0"/>
          </a:p>
        </p:txBody>
      </p:sp>
      <p:sp>
        <p:nvSpPr>
          <p:cNvPr id="9" name="tile Secure"/>
          <p:cNvSpPr/>
          <p:nvPr/>
        </p:nvSpPr>
        <p:spPr>
          <a:xfrm>
            <a:off x="4279392" y="1325880"/>
            <a:ext cx="3630168" cy="2011680"/>
          </a:xfrm>
          <a:prstGeom prst="roundRect">
            <a:avLst>
              <a:gd name="adj" fmla="val 5455"/>
            </a:avLst>
          </a:prstGeom>
          <a:solidFill>
            <a:schemeClr val="bg2"/>
          </a:solidFill>
          <a:ln/>
        </p:spPr>
      </p:sp>
      <p:sp>
        <p:nvSpPr>
          <p:cNvPr id="10" name="Secure circle"/>
          <p:cNvSpPr/>
          <p:nvPr/>
        </p:nvSpPr>
        <p:spPr>
          <a:xfrm>
            <a:off x="4507992" y="1554480"/>
            <a:ext cx="685800" cy="685800"/>
          </a:xfrm>
          <a:prstGeom prst="ellipse">
            <a:avLst/>
          </a:prstGeom>
          <a:solidFill>
            <a:schemeClr val="accent1"/>
          </a:solidFill>
          <a:ln/>
        </p:spPr>
      </p:sp>
      <p:pic>
        <p:nvPicPr>
          <p:cNvPr id="11" name="Image 1" descr="Secure">    </p:cNvPr>
          <p:cNvPicPr>
            <a:picLocks noChangeAspect="1"/>
          </p:cNvPicPr>
          <p:nvPr/>
        </p:nvPicPr>
        <p:blipFill>
          <a:blip r:embed="rId2"/>
          <a:stretch>
            <a:fillRect/>
          </a:stretch>
        </p:blipFill>
        <p:spPr>
          <a:xfrm>
            <a:off x="4658868" y="1705356"/>
            <a:ext cx="384048" cy="384048"/>
          </a:xfrm>
          <a:prstGeom prst="rect">
            <a:avLst/>
          </a:prstGeom>
        </p:spPr>
      </p:pic>
      <p:sp>
        <p:nvSpPr>
          <p:cNvPr id="12" name="Text 7"/>
          <p:cNvSpPr txBox="1"/>
          <p:nvPr/>
        </p:nvSpPr>
        <p:spPr>
          <a:xfrm>
            <a:off x="5376672" y="1554480"/>
            <a:ext cx="2377440" cy="685800"/>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Secure</a:t>
            </a:r>
            <a:endParaRPr lang="en-US" sz="1900" dirty="0"/>
          </a:p>
        </p:txBody>
      </p:sp>
      <p:sp>
        <p:nvSpPr>
          <p:cNvPr id="13" name="Text 8"/>
          <p:cNvSpPr txBox="1"/>
          <p:nvPr/>
        </p:nvSpPr>
        <p:spPr>
          <a:xfrm>
            <a:off x="4507992" y="2423160"/>
            <a:ext cx="3200400" cy="86868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Locked packets, tamper detection, 24-hour freshness window.</a:t>
            </a:r>
            <a:endParaRPr lang="en-US" sz="1600" dirty="0"/>
          </a:p>
        </p:txBody>
      </p:sp>
      <p:sp>
        <p:nvSpPr>
          <p:cNvPr id="14" name="tile Reliable"/>
          <p:cNvSpPr/>
          <p:nvPr/>
        </p:nvSpPr>
        <p:spPr>
          <a:xfrm>
            <a:off x="8101584" y="1325880"/>
            <a:ext cx="3630168" cy="2011680"/>
          </a:xfrm>
          <a:prstGeom prst="roundRect">
            <a:avLst>
              <a:gd name="adj" fmla="val 5455"/>
            </a:avLst>
          </a:prstGeom>
          <a:solidFill>
            <a:schemeClr val="bg2"/>
          </a:solidFill>
          <a:ln/>
        </p:spPr>
      </p:sp>
      <p:sp>
        <p:nvSpPr>
          <p:cNvPr id="15" name="Reliable circle"/>
          <p:cNvSpPr/>
          <p:nvPr/>
        </p:nvSpPr>
        <p:spPr>
          <a:xfrm>
            <a:off x="8330184" y="1554480"/>
            <a:ext cx="685800" cy="685800"/>
          </a:xfrm>
          <a:prstGeom prst="ellipse">
            <a:avLst/>
          </a:prstGeom>
          <a:solidFill>
            <a:schemeClr val="accent1"/>
          </a:solidFill>
          <a:ln/>
        </p:spPr>
      </p:sp>
      <p:pic>
        <p:nvPicPr>
          <p:cNvPr id="16" name="Image 2" descr="Reliable">    </p:cNvPr>
          <p:cNvPicPr>
            <a:picLocks noChangeAspect="1"/>
          </p:cNvPicPr>
          <p:nvPr/>
        </p:nvPicPr>
        <p:blipFill>
          <a:blip r:embed="rId3"/>
          <a:stretch>
            <a:fillRect/>
          </a:stretch>
        </p:blipFill>
        <p:spPr>
          <a:xfrm>
            <a:off x="8481060" y="1705356"/>
            <a:ext cx="384048" cy="384048"/>
          </a:xfrm>
          <a:prstGeom prst="rect">
            <a:avLst/>
          </a:prstGeom>
        </p:spPr>
      </p:pic>
      <p:sp>
        <p:nvSpPr>
          <p:cNvPr id="17" name="Text 11"/>
          <p:cNvSpPr txBox="1"/>
          <p:nvPr/>
        </p:nvSpPr>
        <p:spPr>
          <a:xfrm>
            <a:off x="9198864" y="1554480"/>
            <a:ext cx="2377440" cy="685800"/>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Reliable</a:t>
            </a:r>
            <a:endParaRPr lang="en-US" sz="1900" dirty="0"/>
          </a:p>
        </p:txBody>
      </p:sp>
      <p:sp>
        <p:nvSpPr>
          <p:cNvPr id="18" name="Text 12"/>
          <p:cNvSpPr txBox="1"/>
          <p:nvPr/>
        </p:nvSpPr>
        <p:spPr>
          <a:xfrm>
            <a:off x="8330184" y="2423160"/>
            <a:ext cx="3200400" cy="86868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Exactly-once settlement, all-or-nothing transactions.</a:t>
            </a:r>
            <a:endParaRPr lang="en-US" sz="1600" dirty="0"/>
          </a:p>
        </p:txBody>
      </p:sp>
      <p:sp>
        <p:nvSpPr>
          <p:cNvPr id="19" name="tile Database integrated"/>
          <p:cNvSpPr/>
          <p:nvPr/>
        </p:nvSpPr>
        <p:spPr>
          <a:xfrm>
            <a:off x="457200" y="3520440"/>
            <a:ext cx="3630168" cy="2011680"/>
          </a:xfrm>
          <a:prstGeom prst="roundRect">
            <a:avLst>
              <a:gd name="adj" fmla="val 5455"/>
            </a:avLst>
          </a:prstGeom>
          <a:solidFill>
            <a:schemeClr val="bg2"/>
          </a:solidFill>
          <a:ln/>
        </p:spPr>
      </p:sp>
      <p:sp>
        <p:nvSpPr>
          <p:cNvPr id="20" name="Database integrated circle"/>
          <p:cNvSpPr/>
          <p:nvPr/>
        </p:nvSpPr>
        <p:spPr>
          <a:xfrm>
            <a:off x="685800" y="3749040"/>
            <a:ext cx="685800" cy="685800"/>
          </a:xfrm>
          <a:prstGeom prst="ellipse">
            <a:avLst/>
          </a:prstGeom>
          <a:solidFill>
            <a:schemeClr val="accent1"/>
          </a:solidFill>
          <a:ln/>
        </p:spPr>
      </p:sp>
      <p:pic>
        <p:nvPicPr>
          <p:cNvPr id="21" name="Image 3" descr="Database integrated">    </p:cNvPr>
          <p:cNvPicPr>
            <a:picLocks noChangeAspect="1"/>
          </p:cNvPicPr>
          <p:nvPr/>
        </p:nvPicPr>
        <p:blipFill>
          <a:blip r:embed="rId4"/>
          <a:stretch>
            <a:fillRect/>
          </a:stretch>
        </p:blipFill>
        <p:spPr>
          <a:xfrm>
            <a:off x="836676" y="3899916"/>
            <a:ext cx="384048" cy="384048"/>
          </a:xfrm>
          <a:prstGeom prst="rect">
            <a:avLst/>
          </a:prstGeom>
        </p:spPr>
      </p:pic>
      <p:sp>
        <p:nvSpPr>
          <p:cNvPr id="22" name="Text 15"/>
          <p:cNvSpPr txBox="1"/>
          <p:nvPr/>
        </p:nvSpPr>
        <p:spPr>
          <a:xfrm>
            <a:off x="1554480" y="3749040"/>
            <a:ext cx="2377440" cy="685800"/>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Database integrated</a:t>
            </a:r>
            <a:endParaRPr lang="en-US" sz="1900" dirty="0"/>
          </a:p>
        </p:txBody>
      </p:sp>
      <p:sp>
        <p:nvSpPr>
          <p:cNvPr id="23" name="Text 16"/>
          <p:cNvSpPr txBox="1"/>
          <p:nvPr/>
        </p:nvSpPr>
        <p:spPr>
          <a:xfrm>
            <a:off x="685800" y="4617720"/>
            <a:ext cx="3200400" cy="86868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JPA and plain JDBC on H2 or MySQL, with a permanent ledger.</a:t>
            </a:r>
            <a:endParaRPr lang="en-US" sz="1600" dirty="0"/>
          </a:p>
        </p:txBody>
      </p:sp>
      <p:sp>
        <p:nvSpPr>
          <p:cNvPr id="24" name="tile Concurrent"/>
          <p:cNvSpPr/>
          <p:nvPr/>
        </p:nvSpPr>
        <p:spPr>
          <a:xfrm>
            <a:off x="4279392" y="3520440"/>
            <a:ext cx="3630168" cy="2011680"/>
          </a:xfrm>
          <a:prstGeom prst="roundRect">
            <a:avLst>
              <a:gd name="adj" fmla="val 5455"/>
            </a:avLst>
          </a:prstGeom>
          <a:solidFill>
            <a:schemeClr val="bg2"/>
          </a:solidFill>
          <a:ln/>
        </p:spPr>
      </p:sp>
      <p:sp>
        <p:nvSpPr>
          <p:cNvPr id="25" name="Concurrent circle"/>
          <p:cNvSpPr/>
          <p:nvPr/>
        </p:nvSpPr>
        <p:spPr>
          <a:xfrm>
            <a:off x="4507992" y="3749040"/>
            <a:ext cx="685800" cy="685800"/>
          </a:xfrm>
          <a:prstGeom prst="ellipse">
            <a:avLst/>
          </a:prstGeom>
          <a:solidFill>
            <a:schemeClr val="accent1"/>
          </a:solidFill>
          <a:ln/>
        </p:spPr>
      </p:sp>
      <p:pic>
        <p:nvPicPr>
          <p:cNvPr id="26" name="Image 4" descr="Concurrent">    </p:cNvPr>
          <p:cNvPicPr>
            <a:picLocks noChangeAspect="1"/>
          </p:cNvPicPr>
          <p:nvPr/>
        </p:nvPicPr>
        <p:blipFill>
          <a:blip r:embed="rId5"/>
          <a:stretch>
            <a:fillRect/>
          </a:stretch>
        </p:blipFill>
        <p:spPr>
          <a:xfrm>
            <a:off x="4658868" y="3899916"/>
            <a:ext cx="384048" cy="384048"/>
          </a:xfrm>
          <a:prstGeom prst="rect">
            <a:avLst/>
          </a:prstGeom>
        </p:spPr>
      </p:pic>
      <p:sp>
        <p:nvSpPr>
          <p:cNvPr id="27" name="Text 19"/>
          <p:cNvSpPr txBox="1"/>
          <p:nvPr/>
        </p:nvSpPr>
        <p:spPr>
          <a:xfrm>
            <a:off x="5376672" y="3749040"/>
            <a:ext cx="2377440" cy="685800"/>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Concurrent</a:t>
            </a:r>
            <a:endParaRPr lang="en-US" sz="1900" dirty="0"/>
          </a:p>
        </p:txBody>
      </p:sp>
      <p:sp>
        <p:nvSpPr>
          <p:cNvPr id="28" name="Text 20"/>
          <p:cNvSpPr txBox="1"/>
          <p:nvPr/>
        </p:nvSpPr>
        <p:spPr>
          <a:xfrm>
            <a:off x="4507992" y="4617720"/>
            <a:ext cx="3200400" cy="86868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Parallel uploads, thread-safe collections.</a:t>
            </a:r>
            <a:endParaRPr lang="en-US" sz="1600" dirty="0"/>
          </a:p>
        </p:txBody>
      </p:sp>
      <p:sp>
        <p:nvSpPr>
          <p:cNvPr id="29" name="tile Clean design + errors"/>
          <p:cNvSpPr/>
          <p:nvPr/>
        </p:nvSpPr>
        <p:spPr>
          <a:xfrm>
            <a:off x="8101584" y="3520440"/>
            <a:ext cx="3630168" cy="2011680"/>
          </a:xfrm>
          <a:prstGeom prst="roundRect">
            <a:avLst>
              <a:gd name="adj" fmla="val 5455"/>
            </a:avLst>
          </a:prstGeom>
          <a:solidFill>
            <a:schemeClr val="bg2"/>
          </a:solidFill>
          <a:ln/>
        </p:spPr>
      </p:sp>
      <p:sp>
        <p:nvSpPr>
          <p:cNvPr id="30" name="Clean design + errors circle"/>
          <p:cNvSpPr/>
          <p:nvPr/>
        </p:nvSpPr>
        <p:spPr>
          <a:xfrm>
            <a:off x="8330184" y="3749040"/>
            <a:ext cx="685800" cy="685800"/>
          </a:xfrm>
          <a:prstGeom prst="ellipse">
            <a:avLst/>
          </a:prstGeom>
          <a:solidFill>
            <a:schemeClr val="accent1"/>
          </a:solidFill>
          <a:ln/>
        </p:spPr>
      </p:sp>
      <p:pic>
        <p:nvPicPr>
          <p:cNvPr id="31" name="Image 5" descr="Clean design + errors">    </p:cNvPr>
          <p:cNvPicPr>
            <a:picLocks noChangeAspect="1"/>
          </p:cNvPicPr>
          <p:nvPr/>
        </p:nvPicPr>
        <p:blipFill>
          <a:blip r:embed="rId6"/>
          <a:stretch>
            <a:fillRect/>
          </a:stretch>
        </p:blipFill>
        <p:spPr>
          <a:xfrm>
            <a:off x="8481060" y="3899916"/>
            <a:ext cx="384048" cy="384048"/>
          </a:xfrm>
          <a:prstGeom prst="rect">
            <a:avLst/>
          </a:prstGeom>
        </p:spPr>
      </p:pic>
      <p:sp>
        <p:nvSpPr>
          <p:cNvPr id="32" name="Text 23"/>
          <p:cNvSpPr txBox="1"/>
          <p:nvPr/>
        </p:nvSpPr>
        <p:spPr>
          <a:xfrm>
            <a:off x="9198864" y="3749040"/>
            <a:ext cx="2377440" cy="685800"/>
          </a:xfrm>
          <a:prstGeom prst="rect">
            <a:avLst/>
          </a:prstGeom>
          <a:noFill/>
          <a:ln/>
        </p:spPr>
        <p:txBody>
          <a:bodyPr wrap="square" lIns="0" tIns="0" rIns="0" bIns="0" rtlCol="0" anchor="ctr"/>
          <a:lstStyle/>
          <a:p>
            <a:pPr algn="l" indent="0" marL="0">
              <a:buNone/>
            </a:pPr>
            <a:r>
              <a:rPr lang="en-US" sz="1900" b="1" dirty="0">
                <a:solidFill>
                  <a:schemeClr val="tx2"/>
                </a:solidFill>
                <a:latin typeface="Calibri" pitchFamily="34" charset="0"/>
                <a:ea typeface="Calibri" pitchFamily="34" charset="-122"/>
                <a:cs typeface="Calibri" pitchFamily="34" charset="-120"/>
              </a:rPr>
              <a:t>Clean design + errors</a:t>
            </a:r>
            <a:endParaRPr lang="en-US" sz="1900" dirty="0"/>
          </a:p>
        </p:txBody>
      </p:sp>
      <p:sp>
        <p:nvSpPr>
          <p:cNvPr id="33" name="Text 24"/>
          <p:cNvSpPr txBox="1"/>
          <p:nvPr/>
        </p:nvSpPr>
        <p:spPr>
          <a:xfrm>
            <a:off x="8330184" y="4617720"/>
            <a:ext cx="3200400" cy="868680"/>
          </a:xfrm>
          <a:prstGeom prst="rect">
            <a:avLst/>
          </a:prstGeom>
          <a:noFill/>
          <a:ln/>
        </p:spPr>
        <p:txBody>
          <a:bodyPr wrap="square" lIns="0" tIns="0" rIns="0" bIns="0"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Layered classes; clear reasons; a global safety net.</a:t>
            </a:r>
            <a:endParaRPr lang="en-US" sz="1600" dirty="0"/>
          </a:p>
        </p:txBody>
      </p:sp>
      <p:sp>
        <p:nvSpPr>
          <p:cNvPr id="34" name="Text 25"/>
          <p:cNvSpPr txBox="1"/>
          <p:nvPr/>
        </p:nvSpPr>
        <p:spPr>
          <a:xfrm>
            <a:off x="457200" y="5806440"/>
            <a:ext cx="11247120" cy="365760"/>
          </a:xfrm>
          <a:prstGeom prst="rect">
            <a:avLst/>
          </a:prstGeom>
          <a:noFill/>
          <a:ln/>
        </p:spPr>
        <p:txBody>
          <a:bodyPr wrap="square" lIns="0" tIns="0" rIns="0" bIns="0" rtlCol="0" anchor="t"/>
          <a:lstStyle/>
          <a:p>
            <a:pPr algn="l" indent="0" marL="0">
              <a:buNone/>
            </a:pPr>
            <a:r>
              <a:rPr lang="en-US" sz="1500" i="1" dirty="0">
                <a:solidFill>
                  <a:schemeClr val="accent5"/>
                </a:solidFill>
                <a:latin typeface="Calibri" pitchFamily="34" charset="0"/>
                <a:ea typeface="Calibri" pitchFamily="34" charset="-122"/>
                <a:cs typeface="Calibri" pitchFamily="34" charset="-120"/>
              </a:rPr>
              <a:t>Plus: 18 automated tests (race test, JDBC, servlets, files), CSV export, an audit log, and GitHub Actions builds.</a:t>
            </a:r>
            <a:endParaRPr lang="en-US" sz="15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47120" cy="777240"/>
          </a:xfrm>
          <a:prstGeom prst="rect">
            <a:avLst/>
          </a:prstGeom>
          <a:noFill/>
          <a:ln/>
        </p:spPr>
        <p:txBody>
          <a:bodyPr wrap="square" lIns="0" tIns="0" rIns="0" bIns="0" rtlCol="0" anchor="ctr"/>
          <a:lstStyle/>
          <a:p>
            <a:pPr algn="l" indent="0" marL="0">
              <a:buNone/>
            </a:pPr>
            <a:r>
              <a:rPr lang="en-US" sz="3400" b="1" dirty="0">
                <a:solidFill>
                  <a:schemeClr val="tx2"/>
                </a:solidFill>
              </a:rPr>
              <a:t>Honest limits and next steps</a:t>
            </a:r>
            <a:endParaRPr lang="en-US" sz="3400" dirty="0"/>
          </a:p>
        </p:txBody>
      </p:sp>
      <p:sp>
        <p:nvSpPr>
          <p:cNvPr id="4" name="limits"/>
          <p:cNvSpPr/>
          <p:nvPr/>
        </p:nvSpPr>
        <p:spPr>
          <a:xfrm>
            <a:off x="457200" y="1280160"/>
            <a:ext cx="5541264" cy="4572000"/>
          </a:xfrm>
          <a:prstGeom prst="roundRect">
            <a:avLst>
              <a:gd name="adj" fmla="val 2400"/>
            </a:avLst>
          </a:prstGeom>
          <a:solidFill>
            <a:srgbClr val="FBEBE3"/>
          </a:solidFill>
          <a:ln/>
        </p:spPr>
      </p:sp>
      <p:sp>
        <p:nvSpPr>
          <p:cNvPr id="5" name="Text 2"/>
          <p:cNvSpPr txBox="1"/>
          <p:nvPr/>
        </p:nvSpPr>
        <p:spPr>
          <a:xfrm>
            <a:off x="640080" y="1371600"/>
            <a:ext cx="5120640" cy="411480"/>
          </a:xfrm>
          <a:prstGeom prst="rect">
            <a:avLst/>
          </a:prstGeom>
          <a:noFill/>
          <a:ln/>
        </p:spPr>
        <p:txBody>
          <a:bodyPr wrap="square" lIns="0" tIns="0" rIns="0" bIns="0" rtlCol="0" anchor="t"/>
          <a:lstStyle/>
          <a:p>
            <a:pPr algn="l" indent="0" marL="0">
              <a:buNone/>
            </a:pPr>
            <a:r>
              <a:rPr lang="en-US" sz="2000" b="1" dirty="0">
                <a:solidFill>
                  <a:schemeClr val="accent3"/>
                </a:solidFill>
                <a:latin typeface="Calibri" pitchFamily="34" charset="0"/>
                <a:ea typeface="Calibri" pitchFamily="34" charset="-122"/>
                <a:cs typeface="Calibri" pitchFamily="34" charset="-120"/>
              </a:rPr>
              <a:t>Limits today</a:t>
            </a:r>
            <a:endParaRPr lang="en-US" sz="2000" dirty="0"/>
          </a:p>
        </p:txBody>
      </p:sp>
      <p:sp>
        <p:nvSpPr>
          <p:cNvPr id="6" name="Text 3"/>
          <p:cNvSpPr txBox="1"/>
          <p:nvPr/>
        </p:nvSpPr>
        <p:spPr>
          <a:xfrm>
            <a:off x="640080" y="1874520"/>
            <a:ext cx="5120640" cy="3840480"/>
          </a:xfrm>
          <a:prstGeom prst="rect">
            <a:avLst/>
          </a:prstGeom>
          <a:noFill/>
          <a:ln/>
        </p:spPr>
        <p:txBody>
          <a:bodyPr wrap="square" lIns="0" tIns="0" rIns="0" bIns="0" rtlCol="0" anchor="t"/>
          <a:lstStyle/>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No sender signature: anyone with the public key can build a packet.</a:t>
            </a:r>
            <a:endParaRPr lang="en-US" sz="1700" dirty="0"/>
          </a:p>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An offline payment is an IOU. It can be rejected later if funds are missing.</a:t>
            </a:r>
            <a:endParaRPr lang="en-US" sz="1700" dirty="0"/>
          </a:p>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The phone mesh is simulated, not real Bluetooth.</a:t>
            </a:r>
            <a:endParaRPr lang="en-US" sz="1700" dirty="0"/>
          </a:p>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Server keys reset on restart. H2 data too, unless MySQL is used.</a:t>
            </a:r>
            <a:endParaRPr lang="en-US" sz="1700" dirty="0"/>
          </a:p>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The fingerprint list lives in one server's memory.</a:t>
            </a:r>
            <a:endParaRPr lang="en-US" sz="1700" dirty="0"/>
          </a:p>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Ingest and servlet endpoints have no login or rate limit.</a:t>
            </a:r>
            <a:endParaRPr lang="en-US" sz="1700" dirty="0"/>
          </a:p>
        </p:txBody>
      </p:sp>
      <p:sp>
        <p:nvSpPr>
          <p:cNvPr id="7" name="next steps"/>
          <p:cNvSpPr/>
          <p:nvPr/>
        </p:nvSpPr>
        <p:spPr>
          <a:xfrm>
            <a:off x="6190488" y="1280160"/>
            <a:ext cx="5541264" cy="4572000"/>
          </a:xfrm>
          <a:prstGeom prst="roundRect">
            <a:avLst>
              <a:gd name="adj" fmla="val 2400"/>
            </a:avLst>
          </a:prstGeom>
          <a:solidFill>
            <a:srgbClr val="E1F1E7"/>
          </a:solidFill>
          <a:ln/>
        </p:spPr>
      </p:sp>
      <p:sp>
        <p:nvSpPr>
          <p:cNvPr id="8" name="Text 5"/>
          <p:cNvSpPr txBox="1"/>
          <p:nvPr/>
        </p:nvSpPr>
        <p:spPr>
          <a:xfrm>
            <a:off x="6373368" y="1371600"/>
            <a:ext cx="5120640" cy="411480"/>
          </a:xfrm>
          <a:prstGeom prst="rect">
            <a:avLst/>
          </a:prstGeom>
          <a:noFill/>
          <a:ln/>
        </p:spPr>
        <p:txBody>
          <a:bodyPr wrap="square" lIns="0" tIns="0" rIns="0" bIns="0" rtlCol="0" anchor="t"/>
          <a:lstStyle/>
          <a:p>
            <a:pPr algn="l" indent="0" marL="0">
              <a:buNone/>
            </a:pPr>
            <a:r>
              <a:rPr lang="en-US" sz="2000" b="1" dirty="0">
                <a:solidFill>
                  <a:schemeClr val="accent6"/>
                </a:solidFill>
                <a:latin typeface="Calibri" pitchFamily="34" charset="0"/>
                <a:ea typeface="Calibri" pitchFamily="34" charset="-122"/>
                <a:cs typeface="Calibri" pitchFamily="34" charset="-120"/>
              </a:rPr>
              <a:t>Next steps</a:t>
            </a:r>
            <a:endParaRPr lang="en-US" sz="2000" dirty="0"/>
          </a:p>
        </p:txBody>
      </p:sp>
      <p:sp>
        <p:nvSpPr>
          <p:cNvPr id="9" name="Text 6"/>
          <p:cNvSpPr txBox="1"/>
          <p:nvPr/>
        </p:nvSpPr>
        <p:spPr>
          <a:xfrm>
            <a:off x="6373368" y="1874520"/>
            <a:ext cx="5120640" cy="3840480"/>
          </a:xfrm>
          <a:prstGeom prst="rect">
            <a:avLst/>
          </a:prstGeom>
          <a:noFill/>
          <a:ln/>
        </p:spPr>
        <p:txBody>
          <a:bodyPr wrap="square" lIns="0" tIns="0" rIns="0" bIns="0" rtlCol="0" anchor="t"/>
          <a:lstStyle/>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Sender signatures to prove who sent it.</a:t>
            </a:r>
            <a:endParaRPr lang="en-US" sz="1700" dirty="0"/>
          </a:p>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Redis for the shared fingerprint check.</a:t>
            </a:r>
            <a:endParaRPr lang="en-US" sz="1700" dirty="0"/>
          </a:p>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Production database setup: backups, replicas, migrations.</a:t>
            </a:r>
            <a:endParaRPr lang="en-US" sz="1700" dirty="0"/>
          </a:p>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Keys held in a secure vault, not in memory.</a:t>
            </a:r>
            <a:endParaRPr lang="en-US" sz="1700" dirty="0"/>
          </a:p>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A real phone app using Bluetooth.</a:t>
            </a:r>
            <a:endParaRPr lang="en-US" sz="1700" dirty="0"/>
          </a:p>
          <a:p>
            <a:pPr algn="l" marL="342900" indent="-342900">
              <a:spcAft>
                <a:spcPts val="900"/>
              </a:spcAft>
              <a:buSzPct val="100000"/>
              <a:buChar char="•"/>
            </a:pPr>
            <a:r>
              <a:rPr lang="en-US" sz="1700" dirty="0">
                <a:solidFill>
                  <a:schemeClr val="tx1"/>
                </a:solidFill>
                <a:latin typeface="Calibri" pitchFamily="34" charset="0"/>
                <a:ea typeface="Calibri" pitchFamily="34" charset="-122"/>
                <a:cs typeface="Calibri" pitchFamily="34" charset="-120"/>
              </a:rPr>
              <a:t>Do not lose a payment if settlement fails after the claim.</a:t>
            </a:r>
            <a:endParaRPr lang="en-US" sz="1700" dirty="0"/>
          </a:p>
        </p:txBody>
      </p:sp>
      <p:sp>
        <p:nvSpPr>
          <p:cNvPr id="25" name="Slide Number Placeholder 0"/>
          <p:cNvSpPr>
            <a:spLocks noGrp="1"/>
          </p:cNvSpPr>
          <p:nvPr>
            <p:ph type="sldNum" sz="quarter" idx="4294967295"/>
          </p:nvPr>
        </p:nvSpPr>
        <p:spPr>
          <a:xfrm>
            <a:off x="11247120" y="6428232"/>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0"/>
          <p:cNvSpPr/>
          <p:nvPr>
            <p:ph idx="100" type="title" hasCustomPrompt="1"/>
          </p:nvPr>
        </p:nvSpPr>
        <p:spPr>
          <a:xfrm>
            <a:off x="731520" y="457200"/>
            <a:ext cx="10698480" cy="868680"/>
          </a:xfrm>
          <a:prstGeom prst="rect">
            <a:avLst/>
          </a:prstGeom>
          <a:noFill/>
          <a:ln/>
        </p:spPr>
        <p:txBody>
          <a:bodyPr wrap="square" lIns="0" tIns="0" rIns="0" bIns="0" rtlCol="0" anchor="ctr"/>
          <a:lstStyle/>
          <a:p>
            <a:pPr algn="l" indent="0" marL="0">
              <a:buNone/>
            </a:pPr>
            <a:r>
              <a:rPr lang="en-US" sz="3600" b="1" dirty="0">
                <a:solidFill>
                  <a:schemeClr val="bg1"/>
                </a:solidFill>
              </a:rPr>
              <a:t>Conclusion</a:t>
            </a:r>
            <a:endParaRPr lang="en-US" sz="3600" dirty="0"/>
          </a:p>
        </p:txBody>
      </p:sp>
      <p:sp>
        <p:nvSpPr>
          <p:cNvPr id="4" name="Text 1"/>
          <p:cNvSpPr txBox="1"/>
          <p:nvPr/>
        </p:nvSpPr>
        <p:spPr>
          <a:xfrm>
            <a:off x="731520" y="1600200"/>
            <a:ext cx="2377440" cy="731520"/>
          </a:xfrm>
          <a:prstGeom prst="rect">
            <a:avLst/>
          </a:prstGeom>
          <a:noFill/>
          <a:ln/>
        </p:spPr>
        <p:txBody>
          <a:bodyPr wrap="square" lIns="0" tIns="0" rIns="0" bIns="0" rtlCol="0" anchor="ctr"/>
          <a:lstStyle/>
          <a:p>
            <a:pPr algn="l" indent="0" marL="0">
              <a:buNone/>
            </a:pPr>
            <a:r>
              <a:rPr lang="en-US" sz="1800" b="1" dirty="0">
                <a:solidFill>
                  <a:schemeClr val="accent2"/>
                </a:solidFill>
                <a:latin typeface="Calibri" pitchFamily="34" charset="0"/>
                <a:ea typeface="Calibri" pitchFamily="34" charset="-122"/>
                <a:cs typeface="Calibri" pitchFamily="34" charset="-120"/>
              </a:rPr>
              <a:t>What it does</a:t>
            </a:r>
            <a:endParaRPr lang="en-US" sz="1800" dirty="0"/>
          </a:p>
        </p:txBody>
      </p:sp>
      <p:sp>
        <p:nvSpPr>
          <p:cNvPr id="5" name="Text 2"/>
          <p:cNvSpPr txBox="1"/>
          <p:nvPr/>
        </p:nvSpPr>
        <p:spPr>
          <a:xfrm>
            <a:off x="3200400" y="1600200"/>
            <a:ext cx="8229600" cy="731520"/>
          </a:xfrm>
          <a:prstGeom prst="rect">
            <a:avLst/>
          </a:prstGeom>
          <a:noFill/>
          <a:ln/>
        </p:spPr>
        <p:txBody>
          <a:bodyPr wrap="square" lIns="0" tIns="0" rIns="0" bIns="0" rtlCol="0" anchor="ctr"/>
          <a:lstStyle/>
          <a:p>
            <a:pPr algn="l" indent="0" marL="0">
              <a:buNone/>
            </a:pPr>
            <a:r>
              <a:rPr lang="en-US" sz="1900" dirty="0">
                <a:solidFill>
                  <a:schemeClr val="bg1"/>
                </a:solidFill>
                <a:latin typeface="Calibri" pitchFamily="34" charset="0"/>
                <a:ea typeface="Calibri" pitchFamily="34" charset="-122"/>
                <a:cs typeface="Calibri" pitchFamily="34" charset="-120"/>
              </a:rPr>
              <a:t>Delivers an offline payment through strangers' phones and settles it once.</a:t>
            </a:r>
            <a:endParaRPr lang="en-US" sz="1900" dirty="0"/>
          </a:p>
        </p:txBody>
      </p:sp>
      <p:sp>
        <p:nvSpPr>
          <p:cNvPr id="6" name="Text 3"/>
          <p:cNvSpPr txBox="1"/>
          <p:nvPr/>
        </p:nvSpPr>
        <p:spPr>
          <a:xfrm>
            <a:off x="731520" y="2496312"/>
            <a:ext cx="2377440" cy="731520"/>
          </a:xfrm>
          <a:prstGeom prst="rect">
            <a:avLst/>
          </a:prstGeom>
          <a:noFill/>
          <a:ln/>
        </p:spPr>
        <p:txBody>
          <a:bodyPr wrap="square" lIns="0" tIns="0" rIns="0" bIns="0" rtlCol="0" anchor="ctr"/>
          <a:lstStyle/>
          <a:p>
            <a:pPr algn="l" indent="0" marL="0">
              <a:buNone/>
            </a:pPr>
            <a:r>
              <a:rPr lang="en-US" sz="1800" b="1" dirty="0">
                <a:solidFill>
                  <a:schemeClr val="accent2"/>
                </a:solidFill>
                <a:latin typeface="Calibri" pitchFamily="34" charset="0"/>
                <a:ea typeface="Calibri" pitchFamily="34" charset="-122"/>
                <a:cs typeface="Calibri" pitchFamily="34" charset="-120"/>
              </a:rPr>
              <a:t>Problems solved</a:t>
            </a:r>
            <a:endParaRPr lang="en-US" sz="1800" dirty="0"/>
          </a:p>
        </p:txBody>
      </p:sp>
      <p:sp>
        <p:nvSpPr>
          <p:cNvPr id="7" name="Text 4"/>
          <p:cNvSpPr txBox="1"/>
          <p:nvPr/>
        </p:nvSpPr>
        <p:spPr>
          <a:xfrm>
            <a:off x="3200400" y="2496312"/>
            <a:ext cx="8229600" cy="731520"/>
          </a:xfrm>
          <a:prstGeom prst="rect">
            <a:avLst/>
          </a:prstGeom>
          <a:noFill/>
          <a:ln/>
        </p:spPr>
        <p:txBody>
          <a:bodyPr wrap="square" lIns="0" tIns="0" rIns="0" bIns="0" rtlCol="0" anchor="ctr"/>
          <a:lstStyle/>
          <a:p>
            <a:pPr algn="l" indent="0" marL="0">
              <a:buNone/>
            </a:pPr>
            <a:r>
              <a:rPr lang="en-US" sz="1900" dirty="0">
                <a:solidFill>
                  <a:schemeClr val="bg1"/>
                </a:solidFill>
                <a:latin typeface="Calibri" pitchFamily="34" charset="0"/>
                <a:ea typeface="Calibri" pitchFamily="34" charset="-122"/>
                <a:cs typeface="Calibri" pitchFamily="34" charset="-120"/>
              </a:rPr>
              <a:t>No internet, untrusted carriers, duplicates, and money correctness.</a:t>
            </a:r>
            <a:endParaRPr lang="en-US" sz="1900" dirty="0"/>
          </a:p>
        </p:txBody>
      </p:sp>
      <p:sp>
        <p:nvSpPr>
          <p:cNvPr id="8" name="Text 5"/>
          <p:cNvSpPr txBox="1"/>
          <p:nvPr/>
        </p:nvSpPr>
        <p:spPr>
          <a:xfrm>
            <a:off x="731520" y="3392424"/>
            <a:ext cx="2377440" cy="731520"/>
          </a:xfrm>
          <a:prstGeom prst="rect">
            <a:avLst/>
          </a:prstGeom>
          <a:noFill/>
          <a:ln/>
        </p:spPr>
        <p:txBody>
          <a:bodyPr wrap="square" lIns="0" tIns="0" rIns="0" bIns="0" rtlCol="0" anchor="ctr"/>
          <a:lstStyle/>
          <a:p>
            <a:pPr algn="l" indent="0" marL="0">
              <a:buNone/>
            </a:pPr>
            <a:r>
              <a:rPr lang="en-US" sz="1800" b="1" dirty="0">
                <a:solidFill>
                  <a:schemeClr val="accent2"/>
                </a:solidFill>
                <a:latin typeface="Calibri" pitchFamily="34" charset="0"/>
                <a:ea typeface="Calibri" pitchFamily="34" charset="-122"/>
                <a:cs typeface="Calibri" pitchFamily="34" charset="-120"/>
              </a:rPr>
              <a:t>How</a:t>
            </a:r>
            <a:endParaRPr lang="en-US" sz="1800" dirty="0"/>
          </a:p>
        </p:txBody>
      </p:sp>
      <p:sp>
        <p:nvSpPr>
          <p:cNvPr id="9" name="Text 6"/>
          <p:cNvSpPr txBox="1"/>
          <p:nvPr/>
        </p:nvSpPr>
        <p:spPr>
          <a:xfrm>
            <a:off x="3200400" y="3392424"/>
            <a:ext cx="8229600" cy="731520"/>
          </a:xfrm>
          <a:prstGeom prst="rect">
            <a:avLst/>
          </a:prstGeom>
          <a:noFill/>
          <a:ln/>
        </p:spPr>
        <p:txBody>
          <a:bodyPr wrap="square" lIns="0" tIns="0" rIns="0" bIns="0" rtlCol="0" anchor="ctr"/>
          <a:lstStyle/>
          <a:p>
            <a:pPr algn="l" indent="0" marL="0">
              <a:buNone/>
            </a:pPr>
            <a:r>
              <a:rPr lang="en-US" sz="1900" dirty="0">
                <a:solidFill>
                  <a:schemeClr val="bg1"/>
                </a:solidFill>
                <a:latin typeface="Calibri" pitchFamily="34" charset="0"/>
                <a:ea typeface="Calibri" pitchFamily="34" charset="-122"/>
                <a:cs typeface="Calibri" pitchFamily="34" charset="-120"/>
              </a:rPr>
              <a:t>Gossip carries it, encryption protects it, idempotency de-duplicates it, a transaction settles it.</a:t>
            </a:r>
            <a:endParaRPr lang="en-US" sz="1900" dirty="0"/>
          </a:p>
        </p:txBody>
      </p:sp>
      <p:sp>
        <p:nvSpPr>
          <p:cNvPr id="10" name="Text 7"/>
          <p:cNvSpPr txBox="1"/>
          <p:nvPr/>
        </p:nvSpPr>
        <p:spPr>
          <a:xfrm>
            <a:off x="731520" y="4288536"/>
            <a:ext cx="2377440" cy="731520"/>
          </a:xfrm>
          <a:prstGeom prst="rect">
            <a:avLst/>
          </a:prstGeom>
          <a:noFill/>
          <a:ln/>
        </p:spPr>
        <p:txBody>
          <a:bodyPr wrap="square" lIns="0" tIns="0" rIns="0" bIns="0" rtlCol="0" anchor="ctr"/>
          <a:lstStyle/>
          <a:p>
            <a:pPr algn="l" indent="0" marL="0">
              <a:buNone/>
            </a:pPr>
            <a:r>
              <a:rPr lang="en-US" sz="1800" b="1" dirty="0">
                <a:solidFill>
                  <a:schemeClr val="accent2"/>
                </a:solidFill>
                <a:latin typeface="Calibri" pitchFamily="34" charset="0"/>
                <a:ea typeface="Calibri" pitchFamily="34" charset="-122"/>
                <a:cs typeface="Calibri" pitchFamily="34" charset="-120"/>
              </a:rPr>
              <a:t>Together</a:t>
            </a:r>
            <a:endParaRPr lang="en-US" sz="1800" dirty="0"/>
          </a:p>
        </p:txBody>
      </p:sp>
      <p:sp>
        <p:nvSpPr>
          <p:cNvPr id="11" name="Text 8"/>
          <p:cNvSpPr txBox="1"/>
          <p:nvPr/>
        </p:nvSpPr>
        <p:spPr>
          <a:xfrm>
            <a:off x="3200400" y="4288536"/>
            <a:ext cx="8229600" cy="731520"/>
          </a:xfrm>
          <a:prstGeom prst="rect">
            <a:avLst/>
          </a:prstGeom>
          <a:noFill/>
          <a:ln/>
        </p:spPr>
        <p:txBody>
          <a:bodyPr wrap="square" lIns="0" tIns="0" rIns="0" bIns="0" rtlCol="0" anchor="ctr"/>
          <a:lstStyle/>
          <a:p>
            <a:pPr algn="l" indent="0" marL="0">
              <a:buNone/>
            </a:pPr>
            <a:r>
              <a:rPr lang="en-US" sz="1900" dirty="0">
                <a:solidFill>
                  <a:schemeClr val="bg1"/>
                </a:solidFill>
                <a:latin typeface="Calibri" pitchFamily="34" charset="0"/>
                <a:ea typeface="Calibri" pitchFamily="34" charset="-122"/>
                <a:cs typeface="Calibri" pitchFamily="34" charset="-120"/>
              </a:rPr>
              <a:t>Spring controllers and servlets, services, JPA and JDBC with H2 or MySQL, and thread-safe collections.</a:t>
            </a:r>
            <a:endParaRPr lang="en-US" sz="1900" dirty="0"/>
          </a:p>
        </p:txBody>
      </p:sp>
      <p:sp>
        <p:nvSpPr>
          <p:cNvPr id="12" name="Text 9"/>
          <p:cNvSpPr txBox="1"/>
          <p:nvPr/>
        </p:nvSpPr>
        <p:spPr>
          <a:xfrm>
            <a:off x="731520" y="5184648"/>
            <a:ext cx="2377440" cy="731520"/>
          </a:xfrm>
          <a:prstGeom prst="rect">
            <a:avLst/>
          </a:prstGeom>
          <a:noFill/>
          <a:ln/>
        </p:spPr>
        <p:txBody>
          <a:bodyPr wrap="square" lIns="0" tIns="0" rIns="0" bIns="0" rtlCol="0" anchor="ctr"/>
          <a:lstStyle/>
          <a:p>
            <a:pPr algn="l" indent="0" marL="0">
              <a:buNone/>
            </a:pPr>
            <a:r>
              <a:rPr lang="en-US" sz="1800" b="1" dirty="0">
                <a:solidFill>
                  <a:schemeClr val="accent2"/>
                </a:solidFill>
                <a:latin typeface="Calibri" pitchFamily="34" charset="0"/>
                <a:ea typeface="Calibri" pitchFamily="34" charset="-122"/>
                <a:cs typeface="Calibri" pitchFamily="34" charset="-120"/>
              </a:rPr>
              <a:t>Why it is useful</a:t>
            </a:r>
            <a:endParaRPr lang="en-US" sz="1800" dirty="0"/>
          </a:p>
        </p:txBody>
      </p:sp>
      <p:sp>
        <p:nvSpPr>
          <p:cNvPr id="13" name="Text 10"/>
          <p:cNvSpPr txBox="1"/>
          <p:nvPr/>
        </p:nvSpPr>
        <p:spPr>
          <a:xfrm>
            <a:off x="3200400" y="5184648"/>
            <a:ext cx="8229600" cy="731520"/>
          </a:xfrm>
          <a:prstGeom prst="rect">
            <a:avLst/>
          </a:prstGeom>
          <a:noFill/>
          <a:ln/>
        </p:spPr>
        <p:txBody>
          <a:bodyPr wrap="square" lIns="0" tIns="0" rIns="0" bIns="0" rtlCol="0" anchor="ctr"/>
          <a:lstStyle/>
          <a:p>
            <a:pPr algn="l" indent="0" marL="0">
              <a:buNone/>
            </a:pPr>
            <a:r>
              <a:rPr lang="en-US" sz="1900" dirty="0">
                <a:solidFill>
                  <a:schemeClr val="bg1"/>
                </a:solidFill>
                <a:latin typeface="Calibri" pitchFamily="34" charset="0"/>
                <a:ea typeface="Calibri" pitchFamily="34" charset="-122"/>
                <a:cs typeface="Calibri" pitchFamily="34" charset="-120"/>
              </a:rPr>
              <a:t>It shows how to build safe payments on unreliable networks.</a:t>
            </a:r>
            <a:endParaRPr lang="en-US" sz="1900" dirty="0"/>
          </a:p>
        </p:txBody>
      </p:sp>
    </p:spTree>
  </p:cSld>
  <p:clrMapOvr>
    <a:masterClrMapping/>
  </p:clrMapOvr>
</p:sld>
</file>

<file path=ppt/theme/theme1.xml><?xml version="1.0" encoding="utf-8"?>
<a:theme xmlns:a="http://schemas.openxmlformats.org/drawingml/2006/main" name="MeshPay">
  <a:themeElements>
    <a:clrScheme name="MeshPay">
      <a:dk1>
        <a:srgbClr val="1B2B2E"/>
      </a:dk1>
      <a:lt1>
        <a:srgbClr val="FFFFFF"/>
      </a:lt1>
      <a:dk2>
        <a:srgbClr val="0B3C3B"/>
      </a:dk2>
      <a:lt2>
        <a:srgbClr val="E8F2F0"/>
      </a:lt2>
      <a:accent1>
        <a:srgbClr val="0F766E"/>
      </a:accent1>
      <a:accent2>
        <a:srgbClr val="D98B1C"/>
      </a:accent2>
      <a:accent3>
        <a:srgbClr val="B4410F"/>
      </a:accent3>
      <a:accent4>
        <a:srgbClr val="2F5597"/>
      </a:accent4>
      <a:accent5>
        <a:srgbClr val="556A70"/>
      </a:accent5>
      <a:accent6>
        <a:srgbClr val="2E7D4F"/>
      </a:accent6>
      <a:hlink>
        <a:srgbClr val="0F766E"/>
      </a:hlink>
      <a:folHlink>
        <a:srgbClr val="556A70"/>
      </a:folHlink>
    </a:clrScheme>
    <a:fontScheme name="MeshPa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MeshPay: offline UPI payments, explained simply</dc:title>
  <dc:subject>PptxGenJS Presentation</dc:subject>
  <dc:creator>MeshPay project team</dc:creator>
  <cp:lastModifiedBy>MeshPay project team</cp:lastModifiedBy>
  <cp:revision>1</cp:revision>
  <dcterms:created xsi:type="dcterms:W3CDTF">2026-10-27T06:58:01Z</dcterms:created>
  <dcterms:modified xsi:type="dcterms:W3CDTF">2026-10-27T06:58:01Z</dcterms:modified>
</cp:coreProperties>
</file>